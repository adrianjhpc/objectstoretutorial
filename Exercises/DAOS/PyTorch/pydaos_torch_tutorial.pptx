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4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89" r:id="rId19"/>
    <p:sldId id="290" r:id="rId20"/>
    <p:sldId id="291" r:id="rId21"/>
    <p:sldId id="292" r:id="rId22"/>
    <p:sldId id="278" r:id="rId23"/>
    <p:sldId id="293" r:id="rId24"/>
    <p:sldId id="294" r:id="rId25"/>
    <p:sldId id="295" r:id="rId26"/>
    <p:sldId id="283" r:id="rId27"/>
    <p:sldId id="296" r:id="rId28"/>
    <p:sldId id="285" r:id="rId29"/>
    <p:sldId id="286" r:id="rId30"/>
    <p:sldId id="287" r:id="rId31"/>
    <p:sldId id="288" r:id="rId32"/>
  </p:sldIdLst>
  <p:sldSz cx="12192000" cy="6858000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HPE Graphik" pitchFamily="2" charset="77"/>
      <p:regular r:id="rId39"/>
      <p:bold r:id="rId40"/>
      <p:italic r:id="rId41"/>
      <p:boldItalic r:id="rId42"/>
    </p:embeddedFont>
    <p:embeddedFont>
      <p:font typeface="HPE Graphik Light" pitchFamily="2" charset="77"/>
      <p:regular r:id="rId43"/>
      <p:bold r:id="rId44"/>
      <p:italic r:id="rId45"/>
      <p:boldItalic r:id="rId46"/>
    </p:embeddedFont>
    <p:embeddedFont>
      <p:font typeface="HPE Graphik Semibold" pitchFamily="2" charset="77"/>
      <p:regular r:id="rId47"/>
      <p:bold r:id="rId48"/>
      <p:italic r:id="rId49"/>
      <p:boldItalic r:id="rId50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AD7F66-6ECB-4463-E65D-F605BEE19B7B}" name="Colleen Greshock" initials="CG" userId="c74b40e00d377d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06B"/>
    <a:srgbClr val="282D3A"/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CADCD-D721-4D58-B7C9-CB97C2FAF0E9}" v="52" dt="2026-08-05T22:17:04.4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5033" autoAdjust="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4228" y="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8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Relationship Id="rId41" Type="http://schemas.openxmlformats.org/officeDocument/2006/relationships/font" Target="fonts/font7.fntdata"/><Relationship Id="rId42" Type="http://schemas.openxmlformats.org/officeDocument/2006/relationships/font" Target="fonts/font8.fntdata"/><Relationship Id="rId43" Type="http://schemas.openxmlformats.org/officeDocument/2006/relationships/font" Target="fonts/font9.fntdata"/><Relationship Id="rId44" Type="http://schemas.openxmlformats.org/officeDocument/2006/relationships/font" Target="fonts/font10.fntdata"/><Relationship Id="rId45" Type="http://schemas.openxmlformats.org/officeDocument/2006/relationships/font" Target="fonts/font11.fntdata"/><Relationship Id="rId46" Type="http://schemas.openxmlformats.org/officeDocument/2006/relationships/font" Target="fonts/font12.fntdata"/><Relationship Id="rId47" Type="http://schemas.openxmlformats.org/officeDocument/2006/relationships/font" Target="fonts/font13.fntdata"/><Relationship Id="rId48" Type="http://schemas.openxmlformats.org/officeDocument/2006/relationships/font" Target="fonts/font14.fntdata"/><Relationship Id="rId49" Type="http://schemas.openxmlformats.org/officeDocument/2006/relationships/font" Target="fonts/font15.fntdata"/><Relationship Id="rId50" Type="http://schemas.openxmlformats.org/officeDocument/2006/relationships/font" Target="fonts/font16.fntdata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5/10/relationships/revisionInfo" Target="revisionInfo.xml"/><Relationship Id="rId5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6101078" cy="343185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</a:t>
            </a:r>
            <a:r>
              <a:rPr lang="pl-PL" dirty="0"/>
              <a:t>add text</a:t>
            </a:r>
            <a:endParaRPr lang="en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6702D808-AF03-DEF9-0314-E4335A543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1</a:t>
            </a:r>
            <a:endParaRPr lang="en-US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DEE9B376-05EC-3588-37E2-05C039D1F6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61C036-93AE-3BAB-6526-8E33EA4444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7DC32F3-F425-C278-35CD-AE6B1CEEB3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F0729B-8A7F-B7E1-7725-96E9EFFE1C37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3BC142E-1CB9-374A-D824-12756272F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81975-869D-03FA-A462-DA7C8D725D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A8CED90-83F5-DFF6-245A-6CD299701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2</a:t>
            </a:r>
            <a:endParaRPr lang="en-US" dirty="0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C9B879B3-45C8-291E-B795-79029A3CF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99A56CF-9478-6AE1-8265-95E8C72FD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D4869DF-7C8C-6D6D-CBDF-4F57DD5D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B8E34CB-34CD-2845-4098-06EEC6B05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6EC5AC-CD5C-9BDA-02E9-E48BF07874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5BC853-233F-BBAF-B141-AC53CC336455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AA75621-CC86-8FB0-01FE-430EA5A07B3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C22247A9-BAB1-E44F-778D-D7B252E6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3</a:t>
            </a:r>
            <a:endParaRPr lang="en-US" dirty="0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9CAA1BA3-D079-6DA7-65CB-51062A7D93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FEB8AD-256D-84E9-5A93-EB95B92E4B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86E6D92-7C0F-2881-3B5C-2BB90CF3E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E0EEC3-44B1-EE87-6FF3-4286CA22E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278BD8-5520-5957-A0C3-6D38BA2AF5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609396-4CE0-E100-A758-FDE1C105D0C1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D30CF5C-17B7-3C91-F691-55E0A08824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4 (with </a:t>
            </a:r>
            <a:r>
              <a:rPr lang="pl-PL" dirty="0"/>
              <a:t>light </a:t>
            </a:r>
            <a:r>
              <a:rPr lang="en-US" dirty="0"/>
              <a:t>picture)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058483-C5C0-1CD4-32BC-D764F1B5F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E3EB743-466D-A44A-ADC0-A260BE4EA9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BE7A42-D66D-779F-2544-A329E86AC968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6A67F2D-4420-C910-83D3-DE74B0192B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5 (with picture)</a:t>
            </a: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A1730018-7DE4-8985-2868-18B01444A6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 maximum three lines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0BD8F41-4872-8861-CBF3-EDAA068B0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3A8DF9B4-8078-C49B-C422-13DD4F86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08F0805-2864-788A-BB9F-E6C3E896A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AE3457B-2BB0-9638-C094-1DFDF440F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414D69-5DE2-AA56-223D-DCFD4624413F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7D8851D-E248-1686-8ABA-A3713B7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 1" descr="A black and white rectangle with a green and black rectangle&#10;&#10;AI-generated content may be incorrect.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6 </a:t>
            </a:r>
            <a:br>
              <a:rPr lang="en-US" dirty="0"/>
            </a:br>
            <a:r>
              <a:rPr lang="en-US" dirty="0"/>
              <a:t>(with picture)</a:t>
            </a:r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B4B6A315-F84A-43CB-2612-0093AD26A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br>
              <a:rPr lang="en-US" dirty="0"/>
            </a:br>
            <a:r>
              <a:rPr lang="en-US" dirty="0"/>
              <a:t>over 2 lines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E6999B2-BD34-3D8A-995A-23314865E5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A6F5877F-D5C2-0CC0-F815-A40F949BF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1AEC25A-1381-4337-8173-41CB58F5B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045DFF-0511-5230-6A0F-2F60FEAAC2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903" y="409339"/>
            <a:ext cx="1007905" cy="2879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AA38FE-23DE-9503-F0E0-6171C72B203C}"/>
              </a:ext>
            </a:extLst>
          </p:cNvPr>
          <p:cNvCxnSpPr>
            <a:cxnSpLocks/>
          </p:cNvCxnSpPr>
          <p:nvPr userDrawn="1"/>
        </p:nvCxnSpPr>
        <p:spPr>
          <a:xfrm>
            <a:off x="1801091" y="249382"/>
            <a:ext cx="0" cy="5541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1A6B42-0999-4D2A-4C6A-32236BC7C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91671" y="245695"/>
            <a:ext cx="1225787" cy="57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1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EBC0E10-A3AB-7E57-C825-FEEBFCF8B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2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22529F5-3037-7281-7184-2E0975229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3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 Image 1">
            <a:extLst>
              <a:ext uri="{FF2B5EF4-FFF2-40B4-BE49-F238E27FC236}">
                <a16:creationId xmlns:a16="http://schemas.microsoft.com/office/drawing/2014/main" id="{1A711596-B981-E895-2147-80AF02FC6F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96" t="654" r="1416" b="12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tx1"/>
                </a:solidFill>
                <a:latin typeface="HPE Graphik Light" pitchFamily="50" charset="0"/>
              </a:defRPr>
            </a:lvl1pPr>
          </a:lstStyle>
          <a:p>
            <a:r>
              <a:rPr lang="en-US" dirty="0"/>
              <a:t>Divider 4 (with picture)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CE16F8-91F8-6EE6-85D5-B7618DF55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4268E2A-81AF-75F2-036F-19A286FA8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47321D-979B-DC89-1F5D-01044E0A9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5024486-CC95-F10F-C51C-F758EB136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B93E-9AAB-D047-1D10-C52AC4536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95F41DF-93F3-CDC9-2F09-5645DCF4B1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B383B-1E87-87BA-8652-6B7B1E2F64D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A4E9F6-3410-0A4E-80C1-A550B6D95A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F74D03-304B-9ACA-2047-EE701B27D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19" name="Heading 3"/>
          <p:cNvSpPr>
            <a:spLocks noGrp="1"/>
          </p:cNvSpPr>
          <p:nvPr>
            <p:ph type="body" sz="quarter" idx="18" hasCustomPrompt="1"/>
          </p:nvPr>
        </p:nvSpPr>
        <p:spPr>
          <a:xfrm>
            <a:off x="374902" y="1526183"/>
            <a:ext cx="11433977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D2813A5-272A-D37B-2933-180944DCD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43D16-78B0-BF7E-7EE9-B51138B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444F98-C525-C008-1B46-B4DCF8808D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D71524F-F8F4-E39B-A671-0442E1526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3BC09D5-A6AB-2813-0232-7B43E07F6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FD2E122-6A80-8F4F-A062-5553730DB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CF602FC-385E-9E11-6D78-A4A4712F8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Heading 4"/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rgbClr val="292D3A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E2491C2-F541-BC5F-020E-D492174A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Heading 5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8DD5D5E-5ECA-A659-E4D1-059428798A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6E43B31-5871-E16A-1113-EB944FF8C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4"/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D781A8C7-DBC3-6CA7-393A-B76EB01BD15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4F1295E-33A1-74C7-40F4-BFEBCE45B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5786B1-1D78-07AE-99E2-9ACA6A302D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5CFBF7C-9A9D-283B-3040-62F4E8BBA2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CE933D73-FF2E-5038-2928-57B052E6DE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199F5B5-25C5-2F5D-8947-057651169F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59F0A88-3938-1BBE-9195-0869EB1C3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B08A4F95-E980-ECB5-112F-5B4A2D0D770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2870AD6-BB5E-FA22-468E-D64643ACB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-line, Subtitl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60BF6E-DA8E-1A7C-AB98-3EE8B0248F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5D01BB8-727D-8CA2-AA4D-A23CC782B5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B155FBF-4BEC-C1E1-CB2C-2ED0CF71CC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E1F0C114-EFF4-4AC2-300D-DD8958809D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73BBC2BF-0D27-EE97-15E2-3172489A9E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82B640-529A-9811-19CA-57585E789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Heading 4"/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Heading 6"/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0DBD838-E55E-389E-324E-987E3489B3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F80E485-E0B0-8D60-FB9A-569C5AA7E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Heading 5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Heading 7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3E2F088-5C0B-D552-5583-1D142B559A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CF64A5-3DA0-AFCB-DCF9-9BB651464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two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75F6F1F-DB9C-06A9-C184-CF5F49CEF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C7421E-F714-51CA-09BC-6632C6677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3A4466B-6230-7EB6-5A32-83ABCAD0DC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45001CA-7E97-B77F-B4DD-FC99BC3F3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two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AFB48-7218-4A49-8C9C-891144C153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89AC790-4925-6164-96B7-306C81A496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186F-3885-5DE5-8FA5-6CD9D9747D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5494C27-757D-C0F4-D8B1-8E72C3F7C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7F4CAAFC-7C73-8B7A-5AEF-933F0A6EB31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2B2D724-2981-C220-4155-2CAFD6422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C087F768-80AD-E284-7CB0-AA45A8DB30A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FA1B6A-5922-A871-D289-89399F08C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rgbClr val="292D3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045ACD-D682-9F85-8976-3DE690571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rgbClr val="292D3A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66BA11A-FF4F-0B31-22B7-B062F5B3F9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3420CC5-C5CA-8888-B75A-64CC1468D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5CDF8B-3973-89BC-B0C3-009916811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Title and</a:t>
            </a:r>
            <a:br>
              <a:rPr lang="pl-PL" dirty="0"/>
            </a:br>
            <a:r>
              <a:rPr lang="pl-PL" dirty="0"/>
              <a:t>content only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92AB6B-CCDC-C9ED-9B4D-B9B1DAE2FC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Number Text Placeholder 4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tx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ysClr val="windowText" lastClr="000000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 dirty="0"/>
              <a:t>XX%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5D24DA-8A81-CB0A-0EE3-30119C813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32D4E478-B9A3-DF0A-2BC5-A31D39827A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76A96F-BB2A-A9EB-86B5-C35B6CB17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20F7ADC-77F1-4B25-80A7-F1C39BC1A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6D0715-02DB-7345-5C8C-8829A6BF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Quote or Statem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C0B22-3DC2-E652-E265-9A67A96AF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303F11-128A-0352-F6B9-03E0CB827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3E27C0-EEF0-F8B4-2694-38A0A74B5E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650" y="3428999"/>
            <a:ext cx="10098781" cy="140425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Body copy. Do not use this layout with diagrams or photography.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6005381-460F-C5B4-88A5-7E57F5FEE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DD1A08-5BF8-6531-F4D0-CDD96BEB99EF}"/>
              </a:ext>
            </a:extLst>
          </p:cNvPr>
          <p:cNvSpPr/>
          <p:nvPr userDrawn="1"/>
        </p:nvSpPr>
        <p:spPr>
          <a:xfrm>
            <a:off x="346367" y="6316813"/>
            <a:ext cx="1294863" cy="315835"/>
          </a:xfrm>
          <a:prstGeom prst="rect">
            <a:avLst/>
          </a:prstGeom>
          <a:solidFill>
            <a:srgbClr val="2B47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C4202AC8-26E0-1461-236F-A057193D35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D8B1FC-21B7-9540-E996-D71AA3A67D84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72F930-546B-63E2-243D-B3F47635A2AD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F9757-8DD6-CF44-3DFE-B3B36690F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FFB928-6870-9A88-33FC-BF1E606ACFDA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22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Quote or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D654A9-32C9-5C22-8AA5-A6ADBEED2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E2A87-38CC-A894-18EA-25AF57A67142}"/>
              </a:ext>
            </a:extLst>
          </p:cNvPr>
          <p:cNvSpPr/>
          <p:nvPr userDrawn="1"/>
        </p:nvSpPr>
        <p:spPr>
          <a:xfrm>
            <a:off x="346367" y="6316813"/>
            <a:ext cx="1667927" cy="315835"/>
          </a:xfrm>
          <a:prstGeom prst="rect">
            <a:avLst/>
          </a:prstGeom>
          <a:solidFill>
            <a:srgbClr val="282D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4A0DD8CD-1D21-6982-CAFE-8C09FCAB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72CF6D-39EE-A223-8B56-E544B62CE18F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9EBC9-E7D5-A6D7-1A40-AC850A6AD299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B2EE66-5C8F-3900-DDE9-BBE5FBBF1F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AF896F-AAAE-115A-70C7-7207079E0B2C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485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, Quote or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bg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FD49EC-43F1-8865-80E3-D9ED5C400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F06987-BE46-F8DE-D0A5-B89D3C6F5211}"/>
              </a:ext>
            </a:extLst>
          </p:cNvPr>
          <p:cNvSpPr/>
          <p:nvPr userDrawn="1"/>
        </p:nvSpPr>
        <p:spPr>
          <a:xfrm>
            <a:off x="346367" y="6316813"/>
            <a:ext cx="1667927" cy="315835"/>
          </a:xfrm>
          <a:prstGeom prst="rect">
            <a:avLst/>
          </a:prstGeom>
          <a:solidFill>
            <a:srgbClr val="1150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1A51FF8-138F-C178-1A2E-D09025C31D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212" y="6409719"/>
            <a:ext cx="455083" cy="13002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8441F4-883A-1DA4-66DE-92C4C2DDBE45}"/>
              </a:ext>
            </a:extLst>
          </p:cNvPr>
          <p:cNvCxnSpPr>
            <a:cxnSpLocks/>
          </p:cNvCxnSpPr>
          <p:nvPr userDrawn="1"/>
        </p:nvCxnSpPr>
        <p:spPr>
          <a:xfrm>
            <a:off x="1063718" y="6383260"/>
            <a:ext cx="0" cy="19790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244250-65A1-F282-DA86-D049919A7527}"/>
              </a:ext>
            </a:extLst>
          </p:cNvPr>
          <p:cNvSpPr txBox="1"/>
          <p:nvPr userDrawn="1"/>
        </p:nvSpPr>
        <p:spPr>
          <a:xfrm>
            <a:off x="930562" y="6515100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C626E-D14A-526B-8FDD-3EE1D859F901}"/>
              </a:ext>
            </a:extLst>
          </p:cNvPr>
          <p:cNvSpPr txBox="1"/>
          <p:nvPr userDrawn="1"/>
        </p:nvSpPr>
        <p:spPr>
          <a:xfrm>
            <a:off x="498762" y="6480175"/>
            <a:ext cx="0" cy="0"/>
          </a:xfrm>
          <a:prstGeom prst="rect">
            <a:avLst/>
          </a:prstGeom>
          <a:noFill/>
        </p:spPr>
        <p:txBody>
          <a:bodyPr wrap="none" lIns="90170" tIns="90170" rIns="90170" bIns="90170" rtlCol="0">
            <a:noAutofit/>
          </a:bodyPr>
          <a:lstStyle/>
          <a:p>
            <a:pPr algn="l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BD137-E8F4-85A2-A1EE-F15438EACF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2843" t="62"/>
          <a:stretch>
            <a:fillRect/>
          </a:stretch>
        </p:blipFill>
        <p:spPr>
          <a:xfrm>
            <a:off x="1216272" y="6344307"/>
            <a:ext cx="458914" cy="29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0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CDC00-5B37-BE1C-550C-F0774AF95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D784A7-2DD7-80EE-047F-D63021A32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168886D-58BF-8F1A-8875-88092F3DA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CAEB46-BF54-E6AC-203B-DC671344E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59722E2-E567-EB2E-35EA-7EDAE60E9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</a:t>
            </a:r>
            <a:br>
              <a:rPr lang="en-US" dirty="0"/>
            </a:br>
            <a:r>
              <a:rPr lang="en-US" dirty="0"/>
              <a:t>statement with</a:t>
            </a:r>
            <a:br>
              <a:rPr lang="en-US" dirty="0"/>
            </a:br>
            <a:r>
              <a:rPr lang="en-US" dirty="0"/>
              <a:t>multiple lines</a:t>
            </a:r>
            <a:br>
              <a:rPr lang="en-US" dirty="0"/>
            </a:br>
            <a:r>
              <a:rPr lang="en-US" dirty="0"/>
              <a:t>placed here</a:t>
            </a:r>
            <a:br>
              <a:rPr lang="en-US" dirty="0"/>
            </a:br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3DAEC1C-FBEC-C5AF-4FAC-F67E7EBEF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509795-244B-9AC7-ACD4-0F68A26FD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 dirty="0"/>
              <a:t>Big idea statement with multiple lines placed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A51A1E7-04E9-D26E-A5C3-735AE6D39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761F57-B508-8E8A-74A2-5F0AAD4F7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</a:t>
            </a:r>
            <a:r>
              <a:rPr lang="pl-PL" dirty="0"/>
              <a:t>ou</a:t>
            </a:r>
            <a:endParaRPr lang="en-US" dirty="0"/>
          </a:p>
        </p:txBody>
      </p:sp>
      <p:sp>
        <p:nvSpPr>
          <p:cNvPr id="17" name="Speaker Information 2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 1" descr="A green and grey gradient&#10;&#10;AI-generated content may be incorrect.">
            <a:extLst>
              <a:ext uri="{FF2B5EF4-FFF2-40B4-BE49-F238E27FC236}">
                <a16:creationId xmlns:a16="http://schemas.microsoft.com/office/drawing/2014/main" id="{DE9F31A4-7BA9-4409-0FF0-FF9FD06F3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8339"/>
            <a:ext cx="10819505" cy="41148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</a:t>
            </a:r>
            <a:r>
              <a:rPr lang="pl-PL" dirty="0"/>
              <a:t>ou</a:t>
            </a:r>
            <a:r>
              <a:rPr lang="en-US" dirty="0"/>
              <a:t> (</a:t>
            </a:r>
            <a:r>
              <a:rPr lang="pl-PL" dirty="0"/>
              <a:t>light</a:t>
            </a:r>
            <a:r>
              <a:rPr lang="en-US" dirty="0"/>
              <a:t> picture)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66ECF0A-4D7E-CA75-6327-AA0FF80CF9A4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862AF-69AB-2465-8EE4-A54D49DDC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Relationship Id="rId50" Type="http://schemas.openxmlformats.org/officeDocument/2006/relationships/image" Target="../media/image1.svg"/><Relationship Id="rId5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7A8F-2EB3-5C4C-116B-F51B07B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Master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64CBEA-C99F-E716-C2DF-19C5C70E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3010-F41B-ECDA-CB62-6D856FEC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D10577-C65C-3887-7B41-7E296D328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1BDEFCB-719F-A7AA-5250-346F35183E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74903" y="6462651"/>
            <a:ext cx="527558" cy="15073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623890-6C5C-8C1F-8210-5361EC5D9B95}"/>
              </a:ext>
            </a:extLst>
          </p:cNvPr>
          <p:cNvCxnSpPr>
            <a:cxnSpLocks/>
          </p:cNvCxnSpPr>
          <p:nvPr userDrawn="1"/>
        </p:nvCxnSpPr>
        <p:spPr>
          <a:xfrm>
            <a:off x="1031333" y="6443868"/>
            <a:ext cx="0" cy="18829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7E6F15C-C8E7-C037-7BCA-400F9D9E0EEE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rcRect l="31243" t="4642"/>
          <a:stretch>
            <a:fillRect/>
          </a:stretch>
        </p:blipFill>
        <p:spPr>
          <a:xfrm>
            <a:off x="1110333" y="6383032"/>
            <a:ext cx="478144" cy="30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654" r:id="rId5"/>
    <p:sldLayoutId id="2147483822" r:id="rId6"/>
    <p:sldLayoutId id="2147483656" r:id="rId7"/>
    <p:sldLayoutId id="2147483657" r:id="rId8"/>
    <p:sldLayoutId id="2147483658" r:id="rId9"/>
    <p:sldLayoutId id="2147483659" r:id="rId10"/>
    <p:sldLayoutId id="2147483845" r:id="rId11"/>
    <p:sldLayoutId id="2147483846" r:id="rId12"/>
    <p:sldLayoutId id="2147483797" r:id="rId13"/>
    <p:sldLayoutId id="2147483661" r:id="rId14"/>
    <p:sldLayoutId id="2147483796" r:id="rId15"/>
    <p:sldLayoutId id="2147483799" r:id="rId16"/>
    <p:sldLayoutId id="2147483802" r:id="rId17"/>
    <p:sldLayoutId id="2147483800" r:id="rId18"/>
    <p:sldLayoutId id="2147483801" r:id="rId19"/>
    <p:sldLayoutId id="2147483806" r:id="rId20"/>
    <p:sldLayoutId id="2147483807" r:id="rId21"/>
    <p:sldLayoutId id="2147483812" r:id="rId22"/>
    <p:sldLayoutId id="2147483665" r:id="rId23"/>
    <p:sldLayoutId id="2147483816" r:id="rId24"/>
    <p:sldLayoutId id="2147483662" r:id="rId25"/>
    <p:sldLayoutId id="2147483813" r:id="rId26"/>
    <p:sldLayoutId id="2147483817" r:id="rId27"/>
    <p:sldLayoutId id="2147483808" r:id="rId28"/>
    <p:sldLayoutId id="2147483810" r:id="rId29"/>
    <p:sldLayoutId id="2147483809" r:id="rId30"/>
    <p:sldLayoutId id="2147483811" r:id="rId31"/>
    <p:sldLayoutId id="2147483839" r:id="rId32"/>
    <p:sldLayoutId id="2147483829" r:id="rId33"/>
    <p:sldLayoutId id="2147483832" r:id="rId34"/>
    <p:sldLayoutId id="2147483837" r:id="rId35"/>
    <p:sldLayoutId id="2147483747" r:id="rId36"/>
    <p:sldLayoutId id="2147483673" r:id="rId37"/>
    <p:sldLayoutId id="2147483674" r:id="rId38"/>
    <p:sldLayoutId id="2147483842" r:id="rId39"/>
    <p:sldLayoutId id="2147483847" r:id="rId40"/>
    <p:sldLayoutId id="2147483849" r:id="rId41"/>
    <p:sldLayoutId id="2147483850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95750" indent="-285750" algn="l" defTabSz="914400" rtl="0" eaLnBrk="1" latinLnBrk="0" hangingPunct="1">
        <a:lnSpc>
          <a:spcPct val="90000"/>
        </a:lnSpc>
        <a:spcBef>
          <a:spcPts val="600"/>
        </a:spcBef>
        <a:buClrTx/>
        <a:buFontTx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Feeding PyTorch from DAOS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pydaos.torch data loader and checkpoint API — a 30 minute tutorial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Supercomputing 2026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3BC142E-1CB9-374A-D824-12756272F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dirty="0" err="1"/>
              <a:t>PyTorch</a:t>
            </a:r>
            <a:r>
              <a:rPr dirty="0"/>
              <a:t> data pipeline</a:t>
            </a:r>
            <a:endParaRPr lang="en-US" dirty="0"/>
          </a:p>
          <a:p>
            <a:r>
              <a:rPr dirty="0"/>
              <a:t>Why a native DAOS loader</a:t>
            </a:r>
          </a:p>
          <a:p>
            <a:r>
              <a:rPr dirty="0"/>
              <a:t>Setup: container, environment, demo dataset</a:t>
            </a:r>
          </a:p>
          <a:p>
            <a:r>
              <a:rPr dirty="0"/>
              <a:t>Map-style </a:t>
            </a:r>
            <a:r>
              <a:rPr dirty="0">
                <a:solidFill>
                  <a:srgbClr val="535C66"/>
                </a:solidFill>
                <a:latin typeface="Consolas"/>
              </a:rPr>
              <a:t>Dataset</a:t>
            </a:r>
          </a:p>
          <a:p>
            <a:r>
              <a:rPr dirty="0" err="1">
                <a:solidFill>
                  <a:srgbClr val="535C66"/>
                </a:solidFill>
                <a:latin typeface="Consolas"/>
              </a:rPr>
              <a:t>IterableDataset</a:t>
            </a:r>
            <a:endParaRPr dirty="0">
              <a:solidFill>
                <a:srgbClr val="535C66"/>
              </a:solidFill>
              <a:latin typeface="Consolas"/>
            </a:endParaRPr>
          </a:p>
          <a:p>
            <a:r>
              <a:rPr dirty="0"/>
              <a:t>Checkpoints</a:t>
            </a:r>
          </a:p>
          <a:p>
            <a:r>
              <a:rPr dirty="0"/>
              <a:t>End to end, tuning knobs, pitfalls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004" y="1838849"/>
            <a:ext cx="9733738" cy="1367404"/>
          </a:xfrm>
        </p:spPr>
        <p:txBody>
          <a:bodyPr/>
          <a:lstStyle/>
          <a:p>
            <a:r>
              <a:rPr dirty="0"/>
              <a:t>The </a:t>
            </a:r>
            <a:r>
              <a:rPr dirty="0" err="1"/>
              <a:t>PyTorch</a:t>
            </a:r>
            <a:r>
              <a:rPr dirty="0"/>
              <a:t> </a:t>
            </a:r>
            <a:r>
              <a:rPr lang="en-US" dirty="0"/>
              <a:t>D</a:t>
            </a:r>
            <a:r>
              <a:rPr dirty="0"/>
              <a:t>ata </a:t>
            </a:r>
            <a:r>
              <a:rPr lang="en-US" dirty="0"/>
              <a:t>P</a:t>
            </a:r>
            <a:r>
              <a:rPr dirty="0"/>
              <a:t>ipeline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— one training example (usually one file) → tensor(s) + label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Dataset</a:t>
            </a:r>
            <a:r>
              <a:t> — Python object that knows how many samples exist and how to fetch one</a:t>
            </a:r>
          </a:p>
          <a:p>
            <a:pPr lvl="1"/>
            <a:r>
              <a:t>Map-style: </a:t>
            </a:r>
            <a:r>
              <a:rPr>
                <a:solidFill>
                  <a:srgbClr val="535C66"/>
                </a:solidFill>
                <a:latin typeface="Consolas"/>
              </a:rPr>
              <a:t>__len__</a:t>
            </a:r>
            <a:r>
              <a:t> + </a:t>
            </a:r>
            <a:r>
              <a:rPr>
                <a:solidFill>
                  <a:srgbClr val="535C66"/>
                </a:solidFill>
                <a:latin typeface="Consolas"/>
              </a:rPr>
              <a:t>__getitem__(i)</a:t>
            </a:r>
            <a:r>
              <a:t> → random access, shuffling</a:t>
            </a:r>
          </a:p>
          <a:p>
            <a:pPr lvl="1"/>
            <a:r>
              <a:t>Iterable-style: </a:t>
            </a:r>
            <a:r>
              <a:rPr>
                <a:solidFill>
                  <a:srgbClr val="535C66"/>
                </a:solidFill>
                <a:latin typeface="Consolas"/>
              </a:rPr>
              <a:t>__iter__</a:t>
            </a:r>
            <a:r>
              <a:t> → a stream, no random access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transform_fn</a:t>
            </a:r>
            <a:r>
              <a:t> — bytes on storage → in-memory tensor (decode, augment, normalise)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DataLoader</a:t>
            </a:r>
            <a:r>
              <a:t> — wraps a </a:t>
            </a:r>
            <a:r>
              <a:rPr>
                <a:solidFill>
                  <a:srgbClr val="535C66"/>
                </a:solidFill>
                <a:latin typeface="Consolas"/>
              </a:rPr>
              <a:t>Dataset</a:t>
            </a:r>
            <a:r>
              <a:t>: batching, shuffling, prefetch with </a:t>
            </a:r>
            <a:r>
              <a:rPr>
                <a:solidFill>
                  <a:srgbClr val="535C66"/>
                </a:solidFill>
                <a:latin typeface="Consolas"/>
              </a:rPr>
              <a:t>num_workers</a:t>
            </a:r>
            <a:r>
              <a:t> forked processes</a:t>
            </a:r>
          </a:p>
          <a:p>
            <a:r>
              <a:t>Epoch — one full pass over the dataset; training is many epochs</a:t>
            </a:r>
          </a:p>
          <a:p>
            <a:r>
              <a:t>Checkpoint — </a:t>
            </a:r>
            <a:r>
              <a:rPr>
                <a:solidFill>
                  <a:srgbClr val="535C66"/>
                </a:solidFill>
                <a:latin typeface="Consolas"/>
              </a:rPr>
              <a:t>torch.save(state_dict, f)</a:t>
            </a:r>
            <a:r>
              <a:t> / </a:t>
            </a:r>
            <a:r>
              <a:rPr>
                <a:solidFill>
                  <a:srgbClr val="535C66"/>
                </a:solidFill>
                <a:latin typeface="Consolas"/>
              </a:rPr>
              <a:t>torch.load(f)</a:t>
            </a:r>
            <a:r>
              <a:t>: model + optimiser state, written periodically so a job can resume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canonical training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3026664"/>
            <a:ext cx="11430000" cy="3282696"/>
          </a:xfrm>
        </p:spPr>
        <p:txBody>
          <a:bodyPr/>
          <a:lstStyle/>
          <a:p>
            <a:r>
              <a:rPr sz="1600" dirty="0"/>
              <a:t>Storage is touched in exactly two places: the </a:t>
            </a:r>
            <a:r>
              <a:rPr sz="1600" dirty="0">
                <a:solidFill>
                  <a:srgbClr val="535C66"/>
                </a:solidFill>
                <a:latin typeface="Consolas"/>
              </a:rPr>
              <a:t>Dataset</a:t>
            </a:r>
            <a:r>
              <a:rPr sz="1600" dirty="0"/>
              <a:t> (reads) and </a:t>
            </a:r>
            <a:r>
              <a:rPr sz="1600" dirty="0" err="1">
                <a:solidFill>
                  <a:srgbClr val="535C66"/>
                </a:solidFill>
                <a:latin typeface="Consolas"/>
              </a:rPr>
              <a:t>torch.save</a:t>
            </a:r>
            <a:r>
              <a:rPr sz="1600" dirty="0"/>
              <a:t>/</a:t>
            </a:r>
            <a:r>
              <a:rPr sz="1600" dirty="0" err="1">
                <a:solidFill>
                  <a:srgbClr val="535C66"/>
                </a:solidFill>
                <a:latin typeface="Consolas"/>
              </a:rPr>
              <a:t>torch.load</a:t>
            </a:r>
            <a:r>
              <a:rPr sz="1600" dirty="0"/>
              <a:t> (checkpoints)</a:t>
            </a:r>
          </a:p>
          <a:p>
            <a:r>
              <a:rPr sz="1600" dirty="0" err="1">
                <a:solidFill>
                  <a:srgbClr val="535C66"/>
                </a:solidFill>
                <a:latin typeface="Consolas"/>
              </a:rPr>
              <a:t>pydaos.torch</a:t>
            </a:r>
            <a:r>
              <a:rPr sz="1600" dirty="0"/>
              <a:t> replaces those two pieces; the rest of the loop is untouched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609344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ds     = SomeDataset(...)                                  # knows where samples live</a:t>
            </a: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loader = DataLoader(ds, batch_size=64, shuffle=True, num_workers=8)</a:t>
            </a:r>
          </a:p>
          <a:p>
            <a:pPr algn="l"/>
            <a:endParaRPr sz="12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for epoch in range(E):</a:t>
            </a: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    for x, y in loader:                                    # workers fetch + decode in background</a:t>
            </a: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        loss = criterion(model(x), y)</a:t>
            </a: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        loss.backward(); opt.step(); opt.zero_grad()</a:t>
            </a:r>
          </a:p>
          <a:p>
            <a:pPr algn="l"/>
            <a:r>
              <a:rPr sz="1200">
                <a:solidFill>
                  <a:srgbClr val="292D3A"/>
                </a:solidFill>
                <a:latin typeface="Consolas"/>
              </a:rPr>
              <a:t>    torch.save({"model": model.state_dict(), ...}, f"epoch_{epoch}.pt")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training asks of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Start-up: enumerate the namespace — millions of files, metadata heavy</a:t>
            </a:r>
          </a:p>
          <a:p>
            <a:r>
              <a:t>Every epoch: every sample read once, in random order</a:t>
            </a:r>
          </a:p>
          <a:p>
            <a:pPr lvl="1"/>
            <a:r>
              <a:t>typically 10 KB – 1 MB files → many small random reads, many concurrent clients (workers × ranks)</a:t>
            </a:r>
          </a:p>
          <a:p>
            <a:r>
              <a:t>Periodically: one large sequential write per rank (checkpoint, GBs); read back on resume</a:t>
            </a:r>
          </a:p>
          <a:p>
            <a:pPr lvl="1"/>
            <a:r>
              <a:t>checkpoint time is time the accelerators sit idle</a:t>
            </a:r>
          </a:p>
          <a:p>
            <a:r>
              <a:t>Datasets are read-only and shared by many jobs; a full pass of a dataset larger than RAM defeats page caches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57" y="1778559"/>
            <a:ext cx="9462432" cy="1408464"/>
          </a:xfrm>
        </p:spPr>
        <p:txBody>
          <a:bodyPr/>
          <a:lstStyle/>
          <a:p>
            <a:r>
              <a:rPr dirty="0"/>
              <a:t>Why a </a:t>
            </a:r>
            <a:r>
              <a:rPr lang="en-US" dirty="0"/>
              <a:t>N</a:t>
            </a:r>
            <a:r>
              <a:rPr dirty="0"/>
              <a:t>ative DAOS </a:t>
            </a:r>
            <a:r>
              <a:rPr lang="en-US" dirty="0"/>
              <a:t>L</a:t>
            </a:r>
            <a:r>
              <a:rPr dirty="0"/>
              <a:t>oader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feed PyTorch from a DAOS POSIX container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dfuse + stock torchvision datasets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sz="1600"/>
              <a:t>Zero code change: </a:t>
            </a:r>
            <a:r>
              <a:rPr sz="1600">
                <a:solidFill>
                  <a:srgbClr val="535C66"/>
                </a:solidFill>
                <a:latin typeface="Consolas"/>
              </a:rPr>
              <a:t>ImageFolder('/mnt/dfuse/...')</a:t>
            </a:r>
          </a:p>
          <a:p>
            <a:r>
              <a:rPr sz="1600"/>
              <a:t>Every sample is open / read / close through FUSE or an interception library (libioil, libpil4dfs)</a:t>
            </a:r>
          </a:p>
          <a:p>
            <a:r>
              <a:rPr sz="1600"/>
              <a:t>Metadata caching, interception set-up and per-process cost to tune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pydaos.torch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sz="1600"/>
              <a:t>Two-line change: the </a:t>
            </a:r>
            <a:r>
              <a:rPr sz="1600">
                <a:solidFill>
                  <a:srgbClr val="535C66"/>
                </a:solidFill>
                <a:latin typeface="Consolas"/>
              </a:rPr>
              <a:t>Dataset</a:t>
            </a:r>
            <a:r>
              <a:rPr sz="1600"/>
              <a:t> class and </a:t>
            </a:r>
            <a:r>
              <a:rPr sz="1600">
                <a:solidFill>
                  <a:srgbClr val="535C66"/>
                </a:solidFill>
                <a:latin typeface="Consolas"/>
              </a:rPr>
              <a:t>worker_init_fn</a:t>
            </a:r>
          </a:p>
          <a:p>
            <a:r>
              <a:rPr sz="1600"/>
              <a:t>Workers call libdfs directly; a batch of files is one asynchronous read burst</a:t>
            </a:r>
          </a:p>
          <a:p>
            <a:r>
              <a:rPr sz="1600"/>
              <a:t>Parallel namespace scan at start-up; checkpoints streamed by helper processes</a:t>
            </a:r>
          </a:p>
          <a:p>
            <a:r>
              <a:rPr sz="1600"/>
              <a:t>No mount point to manage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2491C2-F541-BC5F-020E-D492174A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1956816" cy="118872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torch.utils.data
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forks num_workers
processes; batching,
shuffling, prefetch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2103120"/>
            <a:ext cx="1956816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pydaos.torch
(torch_api.py)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4056" y="342900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Dataset, IterableDataset,
Checkpoint, WriteBuffer
pure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103120"/>
            <a:ext cx="1956816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torch_shim.so
(C extension)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342900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connect / batch_read /
write / anchored readdir
/ worker_init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0648" y="2103120"/>
            <a:ext cx="1956816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libdfs + libdaos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342900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POSIX namespace on
DAOS objects; async I/O
on an event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8944" y="2103120"/>
            <a:ext cx="1956816" cy="118872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DAOS engines
(pool / POSIX container)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429000"/>
            <a:ext cx="1956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/>
              <a:t>direct
RPCs over the fabric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22576" y="2697480"/>
            <a:ext cx="41148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90872" y="2697480"/>
            <a:ext cx="41148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59168" y="2697480"/>
            <a:ext cx="41148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27464" y="2697480"/>
            <a:ext cx="411480" cy="0"/>
          </a:xfrm>
          <a:prstGeom prst="line">
            <a:avLst/>
          </a:prstGeom>
          <a:ln w="31750">
            <a:solidFill>
              <a:srgbClr val="535C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No FUSE mount, no kernel path: every DataLoader worker talks to DAOS directly</a:t>
            </a:r>
          </a:p>
          <a:p>
            <a:r>
              <a:rPr sz="1400"/>
              <a:t>Ships with the DAOS client (</a:t>
            </a:r>
            <a:r>
              <a:rPr sz="1400">
                <a:solidFill>
                  <a:srgbClr val="535C66"/>
                </a:solidFill>
                <a:latin typeface="Consolas"/>
              </a:rPr>
              <a:t>pydaos/torch/</a:t>
            </a:r>
            <a:r>
              <a:rPr sz="1400"/>
              <a:t> in site-packages); source in </a:t>
            </a:r>
            <a:r>
              <a:rPr sz="1400">
                <a:solidFill>
                  <a:srgbClr val="535C66"/>
                </a:solidFill>
                <a:latin typeface="Consolas"/>
              </a:rPr>
              <a:t>src/client/pydaos/torch/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module does 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rgbClr val="535C66"/>
                </a:solidFill>
                <a:latin typeface="Consolas"/>
              </a:rPr>
              <a:t>Dataset()</a:t>
            </a:r>
            <a:r>
              <a:rPr dirty="0"/>
              <a:t> → </a:t>
            </a:r>
            <a:r>
              <a:rPr dirty="0" err="1">
                <a:solidFill>
                  <a:srgbClr val="535C66"/>
                </a:solidFill>
                <a:latin typeface="Consolas"/>
              </a:rPr>
              <a:t>dfs_connect</a:t>
            </a:r>
            <a:r>
              <a:rPr dirty="0"/>
              <a:t> + parallel </a:t>
            </a:r>
            <a:r>
              <a:rPr dirty="0" err="1"/>
              <a:t>readdir</a:t>
            </a:r>
            <a:r>
              <a:rPr dirty="0"/>
              <a:t>: </a:t>
            </a:r>
            <a:r>
              <a:rPr dirty="0" err="1">
                <a:solidFill>
                  <a:srgbClr val="535C66"/>
                </a:solidFill>
                <a:latin typeface="Consolas"/>
              </a:rPr>
              <a:t>readdir_workers</a:t>
            </a:r>
            <a:r>
              <a:rPr dirty="0"/>
              <a:t> processes, directories split by anchors (</a:t>
            </a:r>
            <a:r>
              <a:rPr lang="en-US" dirty="0">
                <a:solidFill>
                  <a:srgbClr val="535C66"/>
                </a:solidFill>
                <a:latin typeface="Consolas"/>
              </a:rPr>
              <a:t>widely striped directories</a:t>
            </a:r>
            <a:r>
              <a:rPr dirty="0"/>
              <a:t>)</a:t>
            </a:r>
          </a:p>
          <a:p>
            <a:r>
              <a:rPr dirty="0">
                <a:solidFill>
                  <a:srgbClr val="535C66"/>
                </a:solidFill>
                <a:latin typeface="Consolas"/>
              </a:rPr>
              <a:t>__</a:t>
            </a:r>
            <a:r>
              <a:rPr dirty="0" err="1">
                <a:solidFill>
                  <a:srgbClr val="535C66"/>
                </a:solidFill>
                <a:latin typeface="Consolas"/>
              </a:rPr>
              <a:t>getitems</a:t>
            </a:r>
            <a:r>
              <a:rPr dirty="0">
                <a:solidFill>
                  <a:srgbClr val="535C66"/>
                </a:solidFill>
                <a:latin typeface="Consolas"/>
              </a:rPr>
              <a:t>__(batch)</a:t>
            </a:r>
            <a:r>
              <a:rPr dirty="0"/>
              <a:t> → one </a:t>
            </a:r>
            <a:r>
              <a:rPr dirty="0" err="1">
                <a:solidFill>
                  <a:srgbClr val="535C66"/>
                </a:solidFill>
                <a:latin typeface="Consolas"/>
              </a:rPr>
              <a:t>torch_batch_read</a:t>
            </a:r>
            <a:r>
              <a:rPr dirty="0"/>
              <a:t>: every file in the batch is opened and read asynchronously on one DAOS event queue, then polled to completion</a:t>
            </a:r>
          </a:p>
          <a:p>
            <a:pPr lvl="1"/>
            <a:r>
              <a:rPr dirty="0"/>
              <a:t>throttling is left to the transport; cap with </a:t>
            </a:r>
            <a:r>
              <a:rPr dirty="0">
                <a:solidFill>
                  <a:srgbClr val="535C66"/>
                </a:solidFill>
                <a:latin typeface="Consolas"/>
              </a:rPr>
              <a:t>D_QUOTA_RPC</a:t>
            </a:r>
            <a:r>
              <a:rPr dirty="0"/>
              <a:t> if needed</a:t>
            </a:r>
          </a:p>
          <a:p>
            <a:r>
              <a:rPr dirty="0" err="1">
                <a:solidFill>
                  <a:srgbClr val="535C66"/>
                </a:solidFill>
                <a:latin typeface="Consolas"/>
              </a:rPr>
              <a:t>worker_init</a:t>
            </a:r>
            <a:r>
              <a:rPr dirty="0">
                <a:solidFill>
                  <a:srgbClr val="535C66"/>
                </a:solidFill>
                <a:latin typeface="Consolas"/>
              </a:rPr>
              <a:t>()</a:t>
            </a:r>
            <a:r>
              <a:rPr dirty="0"/>
              <a:t> → re-attaches pool/container/DFS handles in a forked process (</a:t>
            </a:r>
            <a:r>
              <a:rPr dirty="0">
                <a:solidFill>
                  <a:srgbClr val="535C66"/>
                </a:solidFill>
                <a:latin typeface="Consolas"/>
              </a:rPr>
              <a:t>local2global</a:t>
            </a:r>
            <a:r>
              <a:rPr dirty="0"/>
              <a:t> at connect, </a:t>
            </a:r>
            <a:r>
              <a:rPr dirty="0">
                <a:solidFill>
                  <a:srgbClr val="535C66"/>
                </a:solidFill>
                <a:latin typeface="Consolas"/>
              </a:rPr>
              <a:t>global2local</a:t>
            </a:r>
            <a:r>
              <a:rPr dirty="0"/>
              <a:t> in the child)</a:t>
            </a:r>
          </a:p>
          <a:p>
            <a:r>
              <a:rPr dirty="0" err="1">
                <a:solidFill>
                  <a:srgbClr val="535C66"/>
                </a:solidFill>
                <a:latin typeface="Consolas"/>
              </a:rPr>
              <a:t>Checkpoint.writer</a:t>
            </a:r>
            <a:r>
              <a:rPr dirty="0">
                <a:solidFill>
                  <a:srgbClr val="535C66"/>
                </a:solidFill>
                <a:latin typeface="Consolas"/>
              </a:rPr>
              <a:t>()</a:t>
            </a:r>
            <a:r>
              <a:rPr dirty="0"/>
              <a:t> → file-like object; data is cut into chunks and written at offsets by helper processes while </a:t>
            </a:r>
            <a:r>
              <a:rPr dirty="0" err="1">
                <a:solidFill>
                  <a:srgbClr val="535C66"/>
                </a:solidFill>
                <a:latin typeface="Consolas"/>
              </a:rPr>
              <a:t>torch.save</a:t>
            </a:r>
            <a:r>
              <a:rPr dirty="0"/>
              <a:t> keeps </a:t>
            </a:r>
            <a:r>
              <a:rPr dirty="0" err="1"/>
              <a:t>serialising</a:t>
            </a:r>
            <a:endParaRPr dirty="0"/>
          </a:p>
          <a:p>
            <a:r>
              <a:rPr dirty="0" err="1"/>
              <a:t>Licence</a:t>
            </a:r>
            <a:r>
              <a:rPr dirty="0"/>
              <a:t> BSD-2-Clause-Patent; code: </a:t>
            </a:r>
            <a:r>
              <a:rPr dirty="0" err="1">
                <a:solidFill>
                  <a:srgbClr val="535C66"/>
                </a:solidFill>
                <a:latin typeface="Consolas"/>
              </a:rPr>
              <a:t>src</a:t>
            </a:r>
            <a:r>
              <a:rPr dirty="0">
                <a:solidFill>
                  <a:srgbClr val="535C66"/>
                </a:solidFill>
                <a:latin typeface="Consolas"/>
              </a:rPr>
              <a:t>/client/</a:t>
            </a:r>
            <a:r>
              <a:rPr dirty="0" err="1">
                <a:solidFill>
                  <a:srgbClr val="535C66"/>
                </a:solidFill>
                <a:latin typeface="Consolas"/>
              </a:rPr>
              <a:t>pydaos</a:t>
            </a:r>
            <a:r>
              <a:rPr dirty="0">
                <a:solidFill>
                  <a:srgbClr val="535C66"/>
                </a:solidFill>
                <a:latin typeface="Consolas"/>
              </a:rPr>
              <a:t>/torch/{</a:t>
            </a:r>
            <a:r>
              <a:rPr dirty="0" err="1">
                <a:solidFill>
                  <a:srgbClr val="535C66"/>
                </a:solidFill>
                <a:latin typeface="Consolas"/>
              </a:rPr>
              <a:t>torch_api.py</a:t>
            </a:r>
            <a:r>
              <a:rPr dirty="0">
                <a:solidFill>
                  <a:srgbClr val="535C66"/>
                </a:solidFill>
                <a:latin typeface="Consolas"/>
              </a:rPr>
              <a:t>, </a:t>
            </a:r>
            <a:r>
              <a:rPr dirty="0" err="1">
                <a:solidFill>
                  <a:srgbClr val="535C66"/>
                </a:solidFill>
                <a:latin typeface="Consolas"/>
              </a:rPr>
              <a:t>torch_shim.c</a:t>
            </a:r>
            <a:r>
              <a:rPr dirty="0">
                <a:solidFill>
                  <a:srgbClr val="535C66"/>
                </a:solidFill>
                <a:latin typeface="Consolas"/>
              </a:rPr>
              <a:t>}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1939332"/>
            <a:ext cx="8599487" cy="1347307"/>
          </a:xfrm>
        </p:spPr>
        <p:txBody>
          <a:bodyPr/>
          <a:lstStyle/>
          <a:p>
            <a:r>
              <a:rPr dirty="0"/>
              <a:t>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</a:t>
            </a:r>
            <a:r>
              <a:rPr dirty="0"/>
              <a:t>ontainer, Python environment, demo dataset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834640"/>
            <a:ext cx="11430000" cy="3474720"/>
          </a:xfrm>
        </p:spPr>
        <p:txBody>
          <a:bodyPr/>
          <a:lstStyle/>
          <a:p>
            <a:r>
              <a:rPr sz="1600" dirty="0"/>
              <a:t>Object classes are chosen at container creation: </a:t>
            </a:r>
            <a:r>
              <a:rPr sz="1600" dirty="0">
                <a:solidFill>
                  <a:srgbClr val="535C66"/>
                </a:solidFill>
                <a:latin typeface="Consolas"/>
              </a:rPr>
              <a:t>SX</a:t>
            </a:r>
            <a:r>
              <a:rPr lang="en-US" sz="1600" dirty="0">
                <a:solidFill>
                  <a:srgbClr val="535C66"/>
                </a:solidFill>
                <a:latin typeface="Consolas"/>
              </a:rPr>
              <a:t>/GX</a:t>
            </a:r>
            <a:r>
              <a:rPr sz="1600" dirty="0"/>
              <a:t> directories enable parallel </a:t>
            </a:r>
            <a:r>
              <a:rPr sz="1600" dirty="0" err="1"/>
              <a:t>readdir</a:t>
            </a:r>
            <a:r>
              <a:rPr sz="1600" dirty="0"/>
              <a:t>; file class should match sample size (</a:t>
            </a:r>
            <a:r>
              <a:rPr sz="1600" dirty="0">
                <a:solidFill>
                  <a:srgbClr val="535C66"/>
                </a:solidFill>
                <a:latin typeface="Consolas"/>
              </a:rPr>
              <a:t>S1</a:t>
            </a:r>
            <a:r>
              <a:rPr sz="1600" dirty="0"/>
              <a:t> for KB-sized files)</a:t>
            </a:r>
          </a:p>
          <a:p>
            <a:r>
              <a:rPr sz="1600" dirty="0"/>
              <a:t>Large files (checkpoints) can override the class per file — later</a:t>
            </a:r>
          </a:p>
          <a:p>
            <a:r>
              <a:rPr sz="1600" dirty="0"/>
              <a:t>Demo: </a:t>
            </a:r>
            <a:r>
              <a:rPr sz="1600" dirty="0">
                <a:solidFill>
                  <a:srgbClr val="535C66"/>
                </a:solidFill>
                <a:latin typeface="Consolas"/>
              </a:rPr>
              <a:t>source 00_env.sh</a:t>
            </a:r>
            <a:r>
              <a:rPr sz="1600" dirty="0"/>
              <a:t> does all of this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417320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# DAOS side: agent running, pool, POSIX container, ACLs for the user</a:t>
            </a:r>
          </a:p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daos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cont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 create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mypool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pytorch_tut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 --type POSIX</a:t>
            </a:r>
          </a:p>
          <a:p>
            <a:pPr algn="l"/>
            <a:endParaRPr sz="12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# Python side: any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PyTorch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 build +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pydaos.torch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 from the DAOS client install</a:t>
            </a:r>
          </a:p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pip install torch</a:t>
            </a:r>
          </a:p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export PYTHONPATH=&lt;daos-prefix&gt;/lib64/python3.11/site-packages:$PYTHONPATH</a:t>
            </a:r>
          </a:p>
          <a:p>
            <a:pPr algn="l"/>
            <a:r>
              <a:rPr sz="1200" dirty="0">
                <a:solidFill>
                  <a:srgbClr val="292D3A"/>
                </a:solidFill>
                <a:latin typeface="Consolas"/>
              </a:rPr>
              <a:t>python -c "import </a:t>
            </a:r>
            <a:r>
              <a:rPr sz="1200" dirty="0" err="1">
                <a:solidFill>
                  <a:srgbClr val="292D3A"/>
                </a:solidFill>
                <a:latin typeface="Consolas"/>
              </a:rPr>
              <a:t>pydaos.torch</a:t>
            </a:r>
            <a:r>
              <a:rPr sz="1200" dirty="0">
                <a:solidFill>
                  <a:srgbClr val="292D3A"/>
                </a:solidFill>
                <a:latin typeface="Consolas"/>
              </a:rPr>
              <a:t>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demo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88720"/>
            <a:ext cx="5257800" cy="5120640"/>
          </a:xfrm>
        </p:spPr>
        <p:txBody>
          <a:bodyPr/>
          <a:lstStyle/>
          <a:p>
            <a:r>
              <a:rPr sz="1600"/>
              <a:t>10 000 </a:t>
            </a:r>
            <a:r>
              <a:rPr sz="1600">
                <a:solidFill>
                  <a:srgbClr val="535C66"/>
                </a:solidFill>
                <a:latin typeface="Consolas"/>
              </a:rPr>
              <a:t>.npz</a:t>
            </a:r>
            <a:r>
              <a:rPr sz="1600"/>
              <a:t> files, 10 classes, ~12 KB each</a:t>
            </a:r>
          </a:p>
          <a:p>
            <a:r>
              <a:rPr sz="1600">
                <a:solidFill>
                  <a:srgbClr val="535C66"/>
                </a:solidFill>
                <a:latin typeface="Consolas"/>
              </a:rPr>
              <a:t>/data/train/class_&lt;k&gt;/sample_&lt;i&gt;.npz</a:t>
            </a:r>
            <a:r>
              <a:rPr sz="1600"/>
              <a:t> (ImageFolder-like layout)</a:t>
            </a:r>
          </a:p>
          <a:p>
            <a:r>
              <a:rPr sz="1600"/>
              <a:t>Each file: </a:t>
            </a:r>
            <a:r>
              <a:rPr sz="1600">
                <a:solidFill>
                  <a:srgbClr val="535C66"/>
                </a:solidFill>
                <a:latin typeface="Consolas"/>
              </a:rPr>
              <a:t>x</a:t>
            </a:r>
            <a:r>
              <a:rPr sz="1600"/>
              <a:t> float32[3,32,32] (noisy class pattern), </a:t>
            </a:r>
            <a:r>
              <a:rPr sz="1600">
                <a:solidFill>
                  <a:srgbClr val="535C66"/>
                </a:solidFill>
                <a:latin typeface="Consolas"/>
              </a:rPr>
              <a:t>y</a:t>
            </a:r>
            <a:r>
              <a:rPr sz="1600"/>
              <a:t> label</a:t>
            </a:r>
          </a:p>
          <a:p>
            <a:r>
              <a:rPr sz="1600"/>
              <a:t>Written by </a:t>
            </a:r>
            <a:r>
              <a:rPr sz="1600">
                <a:solidFill>
                  <a:srgbClr val="535C66"/>
                </a:solidFill>
                <a:latin typeface="Consolas"/>
              </a:rPr>
              <a:t>01_populate.py</a:t>
            </a:r>
            <a:r>
              <a:rPr sz="1600"/>
              <a:t> with </a:t>
            </a:r>
            <a:r>
              <a:rPr sz="1600">
                <a:solidFill>
                  <a:srgbClr val="535C66"/>
                </a:solidFill>
                <a:latin typeface="Consolas"/>
              </a:rPr>
              <a:t>Checkpoint.writer()</a:t>
            </a:r>
            <a:r>
              <a:rPr sz="1600"/>
              <a:t> from 16 processes — no dfuse needed to seed a dataset</a:t>
            </a:r>
          </a:p>
          <a:p>
            <a:r>
              <a:rPr sz="1600">
                <a:solidFill>
                  <a:srgbClr val="535C66"/>
                </a:solidFill>
                <a:latin typeface="Consolas"/>
              </a:rPr>
              <a:t>daos fs scan mypool pytorch_tut</a:t>
            </a:r>
            <a:r>
              <a:rPr sz="1600"/>
              <a:t> shows the tree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1188720"/>
            <a:ext cx="5897880" cy="231343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def make_sample(rng, idx):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label = idx % NCLASSES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x = pattern(label) + rng.normal(0, 0.5, (3, 32, 32))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buf = io.BytesIO()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np.savez(buf, x=x.astype(np.float32), y=np.int64(label))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return f"class_{label}/sample_{idx:06d}.npz", buf.getvalue()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def writer_proc(worker_id, indices):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with Checkpoint(POOL, CONT, prefix="/data/train",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transfer_chunk_size=0) as chkp: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for idx in indices: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name, data = make_sample(rng, idx)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with chkp.writer(name) as w: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w.write(data)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on DAOS: map-style vs. iterable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t>02_map_dataset.py  ·  03_iterable_dataset.py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Dataset is a contract, not the data — and it comes in two flavours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365760" y="2676906"/>
            <a:ext cx="5486400" cy="365760"/>
          </a:xfrm>
        </p:spPr>
        <p:txBody>
          <a:bodyPr/>
          <a:lstStyle/>
          <a:p>
            <a:r>
              <a:t>Map-style  (Dataset)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>
          <a:xfrm>
            <a:off x="365760" y="3088386"/>
            <a:ext cx="5486400" cy="3220974"/>
          </a:xfrm>
        </p:spPr>
        <p:txBody>
          <a:bodyPr/>
          <a:lstStyle/>
          <a:p>
            <a:r>
              <a:rPr sz="1400">
                <a:solidFill>
                  <a:srgbClr val="535C66"/>
                </a:solidFill>
                <a:latin typeface="Consolas"/>
              </a:rPr>
              <a:t>__len__</a:t>
            </a:r>
            <a:r>
              <a:rPr sz="1400"/>
              <a:t> + </a:t>
            </a:r>
            <a:r>
              <a:rPr sz="1400">
                <a:solidFill>
                  <a:srgbClr val="535C66"/>
                </a:solidFill>
                <a:latin typeface="Consolas"/>
              </a:rPr>
              <a:t>__getitem__(i)</a:t>
            </a:r>
            <a:r>
              <a:rPr sz="1400"/>
              <a:t>: random access by index</a:t>
            </a:r>
          </a:p>
          <a:p>
            <a:r>
              <a:rPr sz="1400"/>
              <a:t>The DataLoader owns the order: index permutation → batches of indices → </a:t>
            </a:r>
            <a:r>
              <a:rPr sz="1400">
                <a:solidFill>
                  <a:srgbClr val="535C66"/>
                </a:solidFill>
                <a:latin typeface="Consolas"/>
              </a:rPr>
              <a:t>ds[i]</a:t>
            </a:r>
            <a:r>
              <a:rPr sz="1400"/>
              <a:t> in forked workers</a:t>
            </a:r>
          </a:p>
          <a:p>
            <a:r>
              <a:rPr sz="1400">
                <a:solidFill>
                  <a:srgbClr val="535C66"/>
                </a:solidFill>
                <a:latin typeface="Consolas"/>
              </a:rPr>
              <a:t>shuffle=True</a:t>
            </a:r>
            <a:r>
              <a:rPr sz="1400"/>
              <a:t>, samplers, </a:t>
            </a:r>
            <a:r>
              <a:rPr sz="1400">
                <a:solidFill>
                  <a:srgbClr val="535C66"/>
                </a:solidFill>
                <a:latin typeface="Consolas"/>
              </a:rPr>
              <a:t>DistributedSampler</a:t>
            </a:r>
            <a:r>
              <a:rPr sz="1400"/>
              <a:t> just work; workers get disjoint indices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217920" y="2676906"/>
            <a:ext cx="5486400" cy="365760"/>
          </a:xfrm>
        </p:spPr>
        <p:txBody>
          <a:bodyPr/>
          <a:lstStyle/>
          <a:p>
            <a:r>
              <a:t>Iterable  (IterableDataset)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>
          <a:xfrm>
            <a:off x="6217920" y="3088386"/>
            <a:ext cx="5486400" cy="3220974"/>
          </a:xfrm>
        </p:spPr>
        <p:txBody>
          <a:bodyPr/>
          <a:lstStyle/>
          <a:p>
            <a:r>
              <a:rPr sz="1400"/>
              <a:t>Only </a:t>
            </a:r>
            <a:r>
              <a:rPr sz="1400">
                <a:solidFill>
                  <a:srgbClr val="535C66"/>
                </a:solidFill>
                <a:latin typeface="Consolas"/>
              </a:rPr>
              <a:t>__iter__</a:t>
            </a:r>
            <a:r>
              <a:rPr sz="1400"/>
              <a:t>: a generator that yields samples</a:t>
            </a:r>
          </a:p>
          <a:p>
            <a:r>
              <a:rPr sz="1400"/>
              <a:t>The dataset owns the order; the loader just pulls and stacks </a:t>
            </a:r>
            <a:r>
              <a:rPr sz="1400">
                <a:solidFill>
                  <a:srgbClr val="535C66"/>
                </a:solidFill>
                <a:latin typeface="Consolas"/>
              </a:rPr>
              <a:t>batch_size</a:t>
            </a:r>
            <a:r>
              <a:rPr sz="1400"/>
              <a:t> of them</a:t>
            </a:r>
          </a:p>
          <a:p>
            <a:r>
              <a:rPr sz="1400"/>
              <a:t>No indices → the loader cannot shuffle or split the work; every forked worker holds a full copy and must shard itself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E2491C2-F541-BC5F-020E-D492174AC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1305306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class MapDS(torch.utils.data.Dataset):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def __init__(self, root):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self.files = list_files(root)            # scan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def __len__(self):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return len(self.files)                   # how many?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def __getitem__(self, i):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return decode(read(self.files[i]))       # sample 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1129284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class IterDS(torch.utils.data.IterableDataset):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def __init__(self, root):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self.files = list_files(root)            # scan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def __iter__(self):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for f in self.files:                     # my order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            yield decode(read(f))                # next sample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Map-style on DAOS   (02_map_dataset.py)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722626"/>
            <a:ext cx="11430000" cy="3586734"/>
          </a:xfrm>
        </p:spPr>
        <p:txBody>
          <a:bodyPr/>
          <a:lstStyle/>
          <a:p>
            <a:r>
              <a:rPr sz="1400"/>
              <a:t>Constructor = </a:t>
            </a:r>
            <a:r>
              <a:rPr sz="1400">
                <a:solidFill>
                  <a:srgbClr val="535C66"/>
                </a:solidFill>
                <a:latin typeface="Consolas"/>
              </a:rPr>
              <a:t>dfs_connect</a:t>
            </a:r>
            <a:r>
              <a:rPr sz="1400"/>
              <a:t> + parallel anchored readdir (</a:t>
            </a:r>
            <a:r>
              <a:rPr sz="1400">
                <a:solidFill>
                  <a:srgbClr val="535C66"/>
                </a:solidFill>
                <a:latin typeface="Consolas"/>
              </a:rPr>
              <a:t>readdir_workers</a:t>
            </a:r>
            <a:r>
              <a:rPr sz="1400"/>
              <a:t>) → </a:t>
            </a:r>
            <a:r>
              <a:rPr sz="1400">
                <a:solidFill>
                  <a:srgbClr val="535C66"/>
                </a:solidFill>
                <a:latin typeface="Consolas"/>
              </a:rPr>
              <a:t>objects</a:t>
            </a:r>
            <a:r>
              <a:rPr sz="1400"/>
              <a:t> in scan order: not sorted, not stable across runs — never use the index as a sample ID</a:t>
            </a:r>
          </a:p>
          <a:p>
            <a:r>
              <a:rPr sz="1400">
                <a:solidFill>
                  <a:srgbClr val="535C66"/>
                </a:solidFill>
                <a:latin typeface="Consolas"/>
              </a:rPr>
              <a:t>__getitems__(indices)</a:t>
            </a:r>
            <a:r>
              <a:rPr sz="1400"/>
              <a:t> = one </a:t>
            </a:r>
            <a:r>
              <a:rPr sz="1400">
                <a:solidFill>
                  <a:srgbClr val="535C66"/>
                </a:solidFill>
                <a:latin typeface="Consolas"/>
              </a:rPr>
              <a:t>batch_read</a:t>
            </a:r>
            <a:r>
              <a:rPr sz="1400"/>
              <a:t>: all files of the batch posted asynchronously on one DAOS event queue, polled to completion → loader </a:t>
            </a:r>
            <a:r>
              <a:rPr sz="1400">
                <a:solidFill>
                  <a:srgbClr val="535C66"/>
                </a:solidFill>
                <a:latin typeface="Consolas"/>
              </a:rPr>
              <a:t>batch_size</a:t>
            </a:r>
            <a:r>
              <a:rPr sz="1400"/>
              <a:t> = files in flight per worker</a:t>
            </a:r>
          </a:p>
          <a:p>
            <a:r>
              <a:rPr sz="1400">
                <a:solidFill>
                  <a:srgbClr val="535C66"/>
                </a:solidFill>
                <a:latin typeface="Consolas"/>
              </a:rPr>
              <a:t>transform_fn(bytes)</a:t>
            </a:r>
            <a:r>
              <a:rPr sz="1400"/>
              <a:t> is **your** decoder (bytes → tensor + label), called in the worker right after the read; default returns raw bytes</a:t>
            </a:r>
          </a:p>
          <a:p>
            <a:r>
              <a:rPr sz="1400">
                <a:solidFill>
                  <a:srgbClr val="535C66"/>
                </a:solidFill>
                <a:latin typeface="Consolas"/>
              </a:rPr>
              <a:t>worker_init_fn=ds.worker_init</a:t>
            </a:r>
            <a:r>
              <a:rPr sz="1400"/>
              <a:t> re-imports the DAOS handles after </a:t>
            </a:r>
            <a:r>
              <a:rPr sz="1400">
                <a:solidFill>
                  <a:srgbClr val="535C66"/>
                </a:solidFill>
                <a:latin typeface="Consolas"/>
              </a:rPr>
              <a:t>fork()</a:t>
            </a:r>
            <a:r>
              <a:rPr sz="1400"/>
              <a:t> — without it every multi-worker run aborts on the first read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305306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ds = Dataset(pool, cont, path="/data/train", transform_fn=decode_npz)   # scan -&gt; ds.objects = [(path, size), ...]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loader = DataLoader(ds, batch_size=4, shuffle=True, num_workers=2, worker_init_fn=ds.worker_init)</a:t>
            </a:r>
          </a:p>
          <a:p>
            <a:pPr algn="l"/>
            <a:endParaRPr sz="11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# one epoch, 10 samples:        permutation [2,4,7,0, 8,9,5,3, 6,1]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0:  ds.__getitems__([2, 4, 7, 0])  -&gt;  one DFS burst  -&gt;  decode  -&gt;  batch 0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1:  ds.__getitems__([8, 9, 5, 3])  -&gt;  one DFS burst  -&gt;  decode  -&gt;  batch 1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0:  ds.__getitems__([6, 1])        -&gt;  one DFS burst  -&gt;  decode  -&gt;  batch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Iterable on DAOS   (03_iterable_dataset.py)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3074670"/>
            <a:ext cx="11430000" cy="3234690"/>
          </a:xfrm>
        </p:spPr>
        <p:txBody>
          <a:bodyPr/>
          <a:lstStyle/>
          <a:p>
            <a:r>
              <a:rPr sz="1400"/>
              <a:t>Same constructor and scan as </a:t>
            </a:r>
            <a:r>
              <a:rPr sz="1400">
                <a:solidFill>
                  <a:srgbClr val="535C66"/>
                </a:solidFill>
                <a:latin typeface="Consolas"/>
              </a:rPr>
              <a:t>Dataset</a:t>
            </a:r>
            <a:r>
              <a:rPr sz="1400"/>
              <a:t>; </a:t>
            </a:r>
            <a:r>
              <a:rPr sz="1400">
                <a:solidFill>
                  <a:srgbClr val="535C66"/>
                </a:solidFill>
                <a:latin typeface="Consolas"/>
              </a:rPr>
              <a:t>__iter__</a:t>
            </a:r>
            <a:r>
              <a:rPr sz="1400"/>
              <a:t> walks the list in slices of its own </a:t>
            </a:r>
            <a:r>
              <a:rPr sz="1400">
                <a:solidFill>
                  <a:srgbClr val="535C66"/>
                </a:solidFill>
                <a:latin typeface="Consolas"/>
              </a:rPr>
              <a:t>batch_size</a:t>
            </a:r>
            <a:r>
              <a:rPr sz="1400"/>
              <a:t>, one </a:t>
            </a:r>
            <a:r>
              <a:rPr sz="1400">
                <a:solidFill>
                  <a:srgbClr val="535C66"/>
                </a:solidFill>
                <a:latin typeface="Consolas"/>
              </a:rPr>
              <a:t>batch_read</a:t>
            </a:r>
            <a:r>
              <a:rPr sz="1400"/>
              <a:t> per slice, then yields samples one by one — I/O is still batched</a:t>
            </a:r>
          </a:p>
          <a:p>
            <a:r>
              <a:rPr sz="1400"/>
              <a:t>Two batch sizes: dataset = files per DFS burst, loader = samples per tensor handed to the model</a:t>
            </a:r>
          </a:p>
          <a:p>
            <a:r>
              <a:rPr sz="1400">
                <a:solidFill>
                  <a:srgbClr val="535C66"/>
                </a:solidFill>
                <a:latin typeface="Consolas"/>
              </a:rPr>
              <a:t>worker_init</a:t>
            </a:r>
            <a:r>
              <a:rPr sz="1400"/>
              <a:t> does two jobs here: re-import the DAOS handles **and** slice </a:t>
            </a:r>
            <a:r>
              <a:rPr sz="1400">
                <a:solidFill>
                  <a:srgbClr val="535C66"/>
                </a:solidFill>
                <a:latin typeface="Consolas"/>
              </a:rPr>
              <a:t>objects</a:t>
            </a:r>
            <a:r>
              <a:rPr sz="1400"/>
              <a:t> into this worker's share — the loader cannot do it, it has no indices</a:t>
            </a:r>
          </a:p>
          <a:p>
            <a:r>
              <a:rPr sz="1400"/>
              <a:t>No shuffle: order is scan order. Demo asserts samples delivered == files discovered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657350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ds = IterableDataset(pool, cont, path="/data/train", transform_fn=decode_npz, batch_size=3)  # files per DFS burst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loader = DataLoader(ds, batch_size=4, num_workers=2, worker_init_fn=ds.worker_init)</a:t>
            </a:r>
          </a:p>
          <a:p>
            <a:pPr algn="l"/>
            <a:endParaRPr sz="11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# WITHOUT worker_init: fork() gave both workers the full list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0:  batch_read([0,1,2])  batch_read([3,4,5])  batch_read([6,7,8])  batch_read([9])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1:  batch_read([0,1,2])  batch_read([3,4,5])  batch_read([6,7,8])  batch_read([9])   -&gt; 20 samples for 10 files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# WITH worker_init: objects sliced per worker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0:  workset=[0..4]  batch_read([0,1,2])  batch_read([3,4])</a:t>
            </a:r>
          </a:p>
          <a:p>
            <a:pPr algn="l"/>
            <a:r>
              <a:rPr sz="1100">
                <a:solidFill>
                  <a:srgbClr val="292D3A"/>
                </a:solidFill>
                <a:latin typeface="Consolas"/>
              </a:rPr>
              <a:t>worker 1:  workset=[5..9]  batch_read([5,6,7])  batch_read([8,9])                           -&gt; 10 samples for 10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reads from DAOS — so which one should you use?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Dataset (map-style)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IterableDataset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Namespace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constructor, parallel anchored readdir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DFS reads per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one per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one per file (with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worker_init</a:t>
                      </a:r>
                      <a:r>
                        <a:rPr sz="13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Who picks the next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DataLoader: indices, can shuffle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dataset: scan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Files per DFS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loader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batch_size</a:t>
                      </a:r>
                      <a:r>
                        <a:rPr sz="1300"/>
                        <a:t> via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__getitems__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dataset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batch_size</a:t>
                      </a:r>
                      <a:r>
                        <a:rPr sz="1300"/>
                        <a:t> inside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__iter__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Worker sharding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loader hands out disjoint indices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worker_init</a:t>
                      </a:r>
                      <a:r>
                        <a:rPr sz="1300"/>
                        <a:t> slices </a:t>
                      </a:r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35C66"/>
                          </a:solidFill>
                          <a:latin typeface="Consolas"/>
                        </a:rPr>
                        <a:t>worker_init</a:t>
                      </a:r>
                      <a:r>
                        <a:rPr sz="1300"/>
                        <a:t>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re-import handles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re-import handles + shard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02336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Underneath, both are the same libdfs code — DAOS does not care which you pick</a:t>
            </a:r>
          </a:p>
          <a:p>
            <a:r>
              <a:rPr sz="1500"/>
              <a:t>**Default: </a:t>
            </a:r>
            <a:r>
              <a:rPr sz="1500">
                <a:solidFill>
                  <a:srgbClr val="535C66"/>
                </a:solidFill>
                <a:latin typeface="Consolas"/>
              </a:rPr>
              <a:t>Dataset</a:t>
            </a:r>
            <a:r>
              <a:rPr sz="1500"/>
              <a:t> (map-style).** Shuffling, samplers, </a:t>
            </a:r>
            <a:r>
              <a:rPr sz="1500">
                <a:solidFill>
                  <a:srgbClr val="535C66"/>
                </a:solidFill>
                <a:latin typeface="Consolas"/>
              </a:rPr>
              <a:t>DistributedSampler</a:t>
            </a:r>
            <a:r>
              <a:rPr sz="1500"/>
              <a:t> and mid-epoch resume come for free</a:t>
            </a:r>
          </a:p>
          <a:p>
            <a:r>
              <a:rPr sz="1500">
                <a:solidFill>
                  <a:srgbClr val="535C66"/>
                </a:solidFill>
                <a:latin typeface="Consolas"/>
              </a:rPr>
              <a:t>IterableDataset</a:t>
            </a:r>
            <a:r>
              <a:rPr sz="1500"/>
              <a:t> only when the consumer wants a fixed-order stream: inference / scoring passes, pipelines already built on iterators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t>04_checkpoint.py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Checkpoints: what changes to use DAOS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3602736"/>
            <a:ext cx="11430000" cy="2706624"/>
          </a:xfrm>
        </p:spPr>
        <p:txBody>
          <a:bodyPr/>
          <a:lstStyle/>
          <a:p>
            <a:r>
              <a:rPr sz="1300" dirty="0"/>
              <a:t>A checkpoint is the model's state (a </a:t>
            </a:r>
            <a:r>
              <a:rPr sz="1300" dirty="0" err="1"/>
              <a:t>dict</a:t>
            </a:r>
            <a:r>
              <a:rPr sz="1300" dirty="0"/>
              <a:t> of tensors) written periodically so a stopped job can resume: one large sequential file per rank, read back rarely</a:t>
            </a:r>
          </a:p>
          <a:p>
            <a:r>
              <a:rPr sz="1300" dirty="0" err="1">
                <a:solidFill>
                  <a:srgbClr val="535C66"/>
                </a:solidFill>
                <a:latin typeface="Consolas"/>
              </a:rPr>
              <a:t>torch.save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(obj, f)</a:t>
            </a:r>
            <a:r>
              <a:rPr sz="1300" dirty="0"/>
              <a:t> /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torch.load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(f)</a:t>
            </a:r>
            <a:r>
              <a:rPr sz="1300" dirty="0"/>
              <a:t> accept a path **or any file-like object**.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Checkpoint.writer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()</a:t>
            </a:r>
            <a:r>
              <a:rPr sz="1300" dirty="0"/>
              <a:t> returns one whose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write()</a:t>
            </a:r>
            <a:r>
              <a:rPr sz="1300" dirty="0"/>
              <a:t> goes to a DFS file;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reader()</a:t>
            </a:r>
            <a:r>
              <a:rPr sz="1300" dirty="0"/>
              <a:t> returns a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BytesIO</a:t>
            </a:r>
            <a:r>
              <a:rPr sz="1300" dirty="0"/>
              <a:t> filled from DFS — so the save/load calls themselves do not change</a:t>
            </a:r>
          </a:p>
          <a:p>
            <a:r>
              <a:rPr sz="1300" dirty="0"/>
              <a:t>Parent directories under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prefix</a:t>
            </a:r>
            <a:r>
              <a:rPr sz="1300" dirty="0"/>
              <a:t> are created on demand; same or a different container than the training data;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reader(name, stream=f)</a:t>
            </a:r>
            <a:r>
              <a:rPr sz="1300" dirty="0"/>
              <a:t> streams into any writable object for checkpoints too large for RAM</a:t>
            </a:r>
          </a:p>
          <a:p>
            <a:r>
              <a:rPr sz="1300" dirty="0"/>
              <a:t>Demos: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04_checkpoint.py</a:t>
            </a:r>
            <a:r>
              <a:rPr sz="1300" dirty="0"/>
              <a:t> writes a fabricated 256 MiB </a:t>
            </a:r>
            <a:r>
              <a:rPr sz="1300" dirty="0" err="1"/>
              <a:t>dict</a:t>
            </a:r>
            <a:r>
              <a:rPr sz="1300" dirty="0"/>
              <a:t> (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epoch</a:t>
            </a:r>
            <a:r>
              <a:rPr sz="1300" dirty="0"/>
              <a:t> 7, no model) to exercise the API;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05_train_e2e.py</a:t>
            </a:r>
            <a:r>
              <a:rPr sz="1300" dirty="0"/>
              <a:t> does the real thing —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epoch_NNN.pt</a:t>
            </a:r>
            <a:r>
              <a:rPr sz="1300" dirty="0"/>
              <a:t> after every epoch, </a:t>
            </a:r>
            <a:r>
              <a:rPr sz="1300" dirty="0" err="1">
                <a:solidFill>
                  <a:srgbClr val="535C66"/>
                </a:solidFill>
                <a:latin typeface="Consolas"/>
              </a:rPr>
              <a:t>latest.pt</a:t>
            </a:r>
            <a:r>
              <a:rPr sz="1300" dirty="0"/>
              <a:t> pointing to it, </a:t>
            </a:r>
            <a:r>
              <a:rPr sz="1300" dirty="0">
                <a:solidFill>
                  <a:srgbClr val="535C66"/>
                </a:solidFill>
                <a:latin typeface="Consolas"/>
              </a:rPr>
              <a:t>--resume</a:t>
            </a:r>
            <a:r>
              <a:rPr sz="1300" dirty="0"/>
              <a:t> loads it back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44026" y="1062814"/>
            <a:ext cx="5101214" cy="2009394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# --- stock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PyTorch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: checkpoint on a file system path ---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state = {"epoch": epoch,                    #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dict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 of tensors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     "model":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model.state_dict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(),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     "optimizer":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opt.state_dict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()}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path = f"/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mnt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dfuse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ckpt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/epoch_{epoch:03d}.pt"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 err="1">
                <a:solidFill>
                  <a:srgbClr val="292D3A"/>
                </a:solidFill>
                <a:latin typeface="Consolas"/>
              </a:rPr>
              <a:t>torch.save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(state, path)                    # write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state =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torch.load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(path)                   # read back / resume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1160" y="1062814"/>
            <a:ext cx="6576814" cy="2185416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# --- same script on DAOS: 3 changed lines, marked &lt;&lt;&lt; ---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from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pydaos.torch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 import Checkpoint                          # &lt;&lt;&lt; import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state = {"epoch": epoch,                    # unchanged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     "model":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model.state_dict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(),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     "optimizer":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opt.state_dict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()}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 err="1">
                <a:solidFill>
                  <a:srgbClr val="292D3A"/>
                </a:solidFill>
                <a:latin typeface="Consolas"/>
              </a:rPr>
              <a:t>chkp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 = Checkpoint(pool,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cont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, prefix="/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ckpt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")                # &lt;&lt;&lt; instead of a path</a:t>
            </a:r>
          </a:p>
          <a:p>
            <a:pPr algn="l"/>
            <a:endParaRPr sz="1100" dirty="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with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chkp.writer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f"epoch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_{epoch:03d}.pt") as w:              # &lt;&lt;&lt; file-like object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torch.save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(state, w)                   # unchanged call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with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chkp.reader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f"epoch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_{epoch:03d}.pt") as r:              # &lt;&lt;&lt; file-like object</a:t>
            </a:r>
          </a:p>
          <a:p>
            <a:pPr algn="l"/>
            <a:r>
              <a:rPr sz="1100" dirty="0">
                <a:solidFill>
                  <a:srgbClr val="292D3A"/>
                </a:solidFill>
                <a:latin typeface="Consolas"/>
              </a:rPr>
              <a:t>    state = </a:t>
            </a:r>
            <a:r>
              <a:rPr sz="1100" dirty="0" err="1">
                <a:solidFill>
                  <a:srgbClr val="292D3A"/>
                </a:solidFill>
                <a:latin typeface="Consolas"/>
              </a:rPr>
              <a:t>torch.load</a:t>
            </a:r>
            <a:r>
              <a:rPr sz="1100" dirty="0">
                <a:solidFill>
                  <a:srgbClr val="292D3A"/>
                </a:solidFill>
                <a:latin typeface="Consolas"/>
              </a:rPr>
              <a:t>(r)                  # unchanged call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bytes reach DAOS: two write modes, and where the file 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930652"/>
            <a:ext cx="11430000" cy="3378708"/>
          </a:xfrm>
        </p:spPr>
        <p:txBody>
          <a:bodyPr/>
          <a:lstStyle/>
          <a:p>
            <a:r>
              <a:rPr sz="1400"/>
              <a:t>Chunked mode overlaps serialisation with I/O: </a:t>
            </a:r>
            <a:r>
              <a:rPr sz="1400">
                <a:solidFill>
                  <a:srgbClr val="535C66"/>
                </a:solidFill>
                <a:latin typeface="Consolas"/>
              </a:rPr>
              <a:t>torch.save</a:t>
            </a:r>
            <a:r>
              <a:rPr sz="1400"/>
              <a:t> keeps producing bytes while the helpers write earlier chunks at their offsets. </a:t>
            </a:r>
            <a:r>
              <a:rPr sz="1400">
                <a:solidFill>
                  <a:srgbClr val="535C66"/>
                </a:solidFill>
                <a:latin typeface="Consolas"/>
              </a:rPr>
              <a:t>reader()</a:t>
            </a:r>
            <a:r>
              <a:rPr sz="1400"/>
              <a:t> mirrors it (</a:t>
            </a:r>
            <a:r>
              <a:rPr sz="1400">
                <a:solidFill>
                  <a:srgbClr val="535C66"/>
                </a:solidFill>
                <a:latin typeface="Consolas"/>
              </a:rPr>
              <a:t>chunks_limit</a:t>
            </a:r>
            <a:r>
              <a:rPr sz="1400"/>
              <a:t> chunks per </a:t>
            </a:r>
            <a:r>
              <a:rPr sz="1400">
                <a:solidFill>
                  <a:srgbClr val="535C66"/>
                </a:solidFill>
                <a:latin typeface="Consolas"/>
              </a:rPr>
              <a:t>batch_read</a:t>
            </a:r>
            <a:r>
              <a:rPr sz="1400"/>
              <a:t>)</a:t>
            </a:r>
          </a:p>
          <a:p>
            <a:r>
              <a:rPr sz="1400"/>
              <a:t>Placement is per </a:t>
            </a:r>
            <a:r>
              <a:rPr sz="1400">
                <a:solidFill>
                  <a:srgbClr val="535C66"/>
                </a:solidFill>
                <a:latin typeface="Consolas"/>
              </a:rPr>
              <a:t>Checkpoint</a:t>
            </a:r>
            <a:r>
              <a:rPr sz="1400"/>
              <a:t>, not per container: the container default may be tuned for 12 KB samples (</a:t>
            </a:r>
            <a:r>
              <a:rPr sz="1400">
                <a:solidFill>
                  <a:srgbClr val="535C66"/>
                </a:solidFill>
                <a:latin typeface="Consolas"/>
              </a:rPr>
              <a:t>S1</a:t>
            </a:r>
            <a:r>
              <a:rPr sz="1400"/>
              <a:t>); a multi-GB checkpoint wants a striped or EC class — </a:t>
            </a:r>
            <a:r>
              <a:rPr sz="1400">
                <a:solidFill>
                  <a:srgbClr val="535C66"/>
                </a:solidFill>
                <a:latin typeface="Consolas"/>
              </a:rPr>
              <a:t>SX</a:t>
            </a:r>
            <a:r>
              <a:rPr sz="1400"/>
              <a:t>, </a:t>
            </a:r>
            <a:r>
              <a:rPr sz="1400">
                <a:solidFill>
                  <a:srgbClr val="535C66"/>
                </a:solidFill>
                <a:latin typeface="Consolas"/>
              </a:rPr>
              <a:t>S4</a:t>
            </a:r>
            <a:r>
              <a:rPr sz="1400"/>
              <a:t>, </a:t>
            </a:r>
            <a:r>
              <a:rPr sz="1400">
                <a:solidFill>
                  <a:srgbClr val="535C66"/>
                </a:solidFill>
                <a:latin typeface="Consolas"/>
              </a:rPr>
              <a:t>EC_2P1GX</a:t>
            </a:r>
            <a:r>
              <a:rPr sz="1400"/>
              <a:t>, … (the </a:t>
            </a:r>
            <a:r>
              <a:rPr sz="1400">
                <a:solidFill>
                  <a:srgbClr val="535C66"/>
                </a:solidFill>
                <a:latin typeface="Consolas"/>
              </a:rPr>
              <a:t>daos cont create --file-oclass</a:t>
            </a:r>
            <a:r>
              <a:rPr sz="1400"/>
              <a:t> spellings)</a:t>
            </a:r>
          </a:p>
          <a:p>
            <a:r>
              <a:rPr sz="1400"/>
              <a:t>Verify with </a:t>
            </a:r>
            <a:r>
              <a:rPr sz="1400">
                <a:solidFill>
                  <a:srgbClr val="535C66"/>
                </a:solidFill>
                <a:latin typeface="Consolas"/>
              </a:rPr>
              <a:t>daos fs get-attr &lt;pool&gt; &lt;cont&gt; --dfs-path /checkpoints/…/file.pt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51333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54864" rIns="137160" bIns="54864" rtlCol="0" anchor="t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torch.save(state, w)  -&gt;  w.write(bytes) ...                        transfer_chunk_size=0 : buffer everything in RAM, one dfs_write on close()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  |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  +-&gt; [chunk 0][chunk 1][chunk 2] ...       transfer_chunk_size=N (default 64 MiB): cut the stream into N-byte chunks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         |  queue, at most chunks_limit deep                       -&gt; memory in flight &lt;= chunks_limit * N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         +-&gt; worker 0 ... worker k :  dfs_write(file, offset_i, chunk_i)        (`workers` helper processes)</a:t>
            </a:r>
          </a:p>
          <a:p>
            <a:pPr algn="l"/>
            <a:endParaRPr sz="1000">
              <a:solidFill>
                <a:srgbClr val="292D3A"/>
              </a:solidFill>
              <a:latin typeface="Consolas"/>
            </a:endParaRP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Checkpoint(pool, cont, prefix="/checkpoints",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class_name="SX", file_chunk_size=4 &lt;&lt; 20,                # object class + DFS chunk size of the checkpoint file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transfer_chunk_size=64 &lt;&lt; 20, chunks_limit=4, workers=4)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pitfalls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What you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What you see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Why / 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class_name="OC_SX"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 silently gets the container default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names are looked up with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daos_oclass_name2id</a:t>
                      </a:r>
                      <a:r>
                        <a:rPr sz="1200"/>
                        <a:t>: use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"SX"</a:t>
                      </a:r>
                      <a:r>
                        <a:rPr sz="1200"/>
                        <a:t>, not the C enum spelling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200"/>
                        <a:t>Re-saved a *smaller* checkpoint under the same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torch.load</a:t>
                      </a:r>
                      <a:r>
                        <a:rPr sz="1200"/>
                        <a:t>: "record size … does not match expected size"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files are opened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O_CREAT|O_RDWR</a:t>
                      </a:r>
                      <a:r>
                        <a:rPr sz="1200"/>
                        <a:t>, no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O_TRUNC</a:t>
                      </a:r>
                      <a:r>
                        <a:rPr sz="1200"/>
                        <a:t> (chunked mode re-opens per chunk, so it cannot truncate) → old tail stays. Use unique names (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epoch_NNN.pt</a:t>
                      </a:r>
                      <a:r>
                        <a:rPr sz="1200"/>
                        <a:t>) or remove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200"/>
                        <a:t>Opened the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Dataset</a:t>
                      </a:r>
                      <a:r>
                        <a:rPr sz="1200"/>
                        <a:t> (read-only) before the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Checkpoint</a:t>
                      </a:r>
                      <a:r>
                        <a:rPr sz="1200"/>
                        <a:t> (read-write) on the same 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PermissionError: [Errno 1] Operation not permitted</a:t>
                      </a:r>
                      <a:r>
                        <a:rPr sz="1200"/>
                        <a:t> on the first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libdfs caches pool/container handles per process by label; the first open's mode wins. Open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Checkpoint</a:t>
                      </a:r>
                      <a:r>
                        <a:rPr sz="1200"/>
                        <a:t> first (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05_train_e2e.py</a:t>
                      </a:r>
                      <a:r>
                        <a:rPr sz="12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200"/>
                        <a:t>Forked your own processes after creating a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abort in libfabric on first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same rule as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DataLoader</a:t>
                      </a:r>
                      <a:r>
                        <a:rPr sz="1200"/>
                        <a:t> workers: handles must be re-imported in the child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End to end, tuning, pitfalls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t>05_train_e2e.py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35856C-2B0D-382A-9CEF-CEA187763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Tuning cheat-sheet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111ED83-7300-1D00-B207-C3D5D44B8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Knob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num_workers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DataLoader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parallel fetch + decode processes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batch_size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DataLoader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files per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batch_read</a:t>
                      </a:r>
                      <a:r>
                        <a:rPr sz="1200"/>
                        <a:t> burst (map-style)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batch_size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IterableDataset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files per burst, independent of the loader 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readdir_workers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readdir_batch_size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dir_cache_size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namespace scan parallelism; needs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SX</a:t>
                      </a:r>
                      <a:r>
                        <a:rPr sz="1200"/>
                        <a:t> directories to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--dir-oclass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--file-oclass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--chunk-size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parallel readdir; placement of sample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transfer_chunk_size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chunks_limit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memory vs. parallelism when writing large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class_name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file_chunk_size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placement of the checkpoint file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D_QUOTA_RPC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caps in-flight RPCs per client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D_LOG_MASK=DEBUG</a:t>
                      </a:r>
                      <a:r>
                        <a:rPr sz="1200"/>
                        <a:t>, </a:t>
                      </a:r>
                      <a:r>
                        <a:rPr sz="1200">
                          <a:solidFill>
                            <a:srgbClr val="535C66"/>
                          </a:solidFill>
                          <a:latin typeface="Consolas"/>
                        </a:rPr>
                        <a:t>D_LOG_FILE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first stop when something fails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and what they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535C66"/>
                </a:solidFill>
                <a:latin typeface="Consolas"/>
              </a:rPr>
              <a:t>OSError: could not connect to pool:cont</a:t>
            </a:r>
            <a:r>
              <a:t> → agent not running, wrong </a:t>
            </a:r>
            <a:r>
              <a:rPr>
                <a:solidFill>
                  <a:srgbClr val="535C66"/>
                </a:solidFill>
                <a:latin typeface="Consolas"/>
              </a:rPr>
              <a:t>DAOS_AGENT_DRPC_DIR</a:t>
            </a:r>
            <a:r>
              <a:t>, or missing container ACL</a:t>
            </a:r>
          </a:p>
          <a:p>
            <a:r>
              <a:t>Worker </a:t>
            </a:r>
            <a:r>
              <a:rPr>
                <a:solidFill>
                  <a:srgbClr val="535C66"/>
                </a:solidFill>
                <a:latin typeface="Consolas"/>
              </a:rPr>
              <a:t>Aborted</a:t>
            </a:r>
            <a:r>
              <a:t> in </a:t>
            </a:r>
            <a:r>
              <a:rPr>
                <a:solidFill>
                  <a:srgbClr val="535C66"/>
                </a:solidFill>
                <a:latin typeface="Consolas"/>
              </a:rPr>
              <a:t>xnet_handle_events</a:t>
            </a:r>
            <a:r>
              <a:t> → missing </a:t>
            </a:r>
            <a:r>
              <a:rPr>
                <a:solidFill>
                  <a:srgbClr val="535C66"/>
                </a:solidFill>
                <a:latin typeface="Consolas"/>
              </a:rPr>
              <a:t>worker_init_fn=ds.worker_init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PermissionError: [Errno 1] Operation not permitted</a:t>
            </a:r>
            <a:r>
              <a:t> on a checkpoint write → read-only handle cached first; open </a:t>
            </a:r>
            <a:r>
              <a:rPr>
                <a:solidFill>
                  <a:srgbClr val="535C66"/>
                </a:solidFill>
                <a:latin typeface="Consolas"/>
              </a:rPr>
              <a:t>Checkpoint</a:t>
            </a:r>
            <a:r>
              <a:t> before </a:t>
            </a:r>
            <a:r>
              <a:rPr>
                <a:solidFill>
                  <a:srgbClr val="535C66"/>
                </a:solidFill>
                <a:latin typeface="Consolas"/>
              </a:rPr>
              <a:t>Dataset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torch.load</a:t>
            </a:r>
            <a:r>
              <a:t>: "record size … does not match" → overwrote a checkpoint with a smaller one; use unique names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TypeError: unexpected keyword argument 'container'</a:t>
            </a:r>
            <a:r>
              <a:t> → the kwarg is </a:t>
            </a:r>
            <a:r>
              <a:rPr>
                <a:solidFill>
                  <a:srgbClr val="535C66"/>
                </a:solidFill>
                <a:latin typeface="Consolas"/>
              </a:rPr>
              <a:t>cont</a:t>
            </a:r>
            <a:r>
              <a:t> (the docs example is wrong)</a:t>
            </a:r>
          </a:p>
          <a:p>
            <a:r>
              <a:rPr>
                <a:solidFill>
                  <a:srgbClr val="535C66"/>
                </a:solidFill>
                <a:latin typeface="Consolas"/>
              </a:rPr>
              <a:t>class_name</a:t>
            </a:r>
            <a:r>
              <a:t> seems ignored → you passed </a:t>
            </a:r>
            <a:r>
              <a:rPr>
                <a:solidFill>
                  <a:srgbClr val="535C66"/>
                </a:solidFill>
                <a:latin typeface="Consolas"/>
              </a:rPr>
              <a:t>OC_SX</a:t>
            </a:r>
            <a:r>
              <a:t>; use </a:t>
            </a:r>
            <a:r>
              <a:rPr>
                <a:solidFill>
                  <a:srgbClr val="535C66"/>
                </a:solidFill>
                <a:latin typeface="Consolas"/>
              </a:rPr>
              <a:t>SX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Two-line change to a PyTorch script: </a:t>
            </a:r>
            <a:r>
              <a:rPr>
                <a:solidFill>
                  <a:srgbClr val="535C66"/>
                </a:solidFill>
                <a:latin typeface="Consolas"/>
              </a:rPr>
              <a:t>pydaos.torch.Dataset</a:t>
            </a:r>
            <a:r>
              <a:t> (or </a:t>
            </a:r>
            <a:r>
              <a:rPr>
                <a:solidFill>
                  <a:srgbClr val="535C66"/>
                </a:solidFill>
                <a:latin typeface="Consolas"/>
              </a:rPr>
              <a:t>IterableDataset</a:t>
            </a:r>
            <a:r>
              <a:t>) + </a:t>
            </a:r>
            <a:r>
              <a:rPr>
                <a:solidFill>
                  <a:srgbClr val="535C66"/>
                </a:solidFill>
                <a:latin typeface="Consolas"/>
              </a:rPr>
              <a:t>worker_init_fn</a:t>
            </a:r>
          </a:p>
          <a:p>
            <a:r>
              <a:t>Checkpoints: </a:t>
            </a:r>
            <a:r>
              <a:rPr>
                <a:solidFill>
                  <a:srgbClr val="535C66"/>
                </a:solidFill>
                <a:latin typeface="Consolas"/>
              </a:rPr>
              <a:t>Checkpoint.writer()</a:t>
            </a:r>
            <a:r>
              <a:t> / </a:t>
            </a:r>
            <a:r>
              <a:rPr>
                <a:solidFill>
                  <a:srgbClr val="535C66"/>
                </a:solidFill>
                <a:latin typeface="Consolas"/>
              </a:rPr>
              <a:t>reader()</a:t>
            </a:r>
            <a:r>
              <a:t> wrap </a:t>
            </a:r>
            <a:r>
              <a:rPr>
                <a:solidFill>
                  <a:srgbClr val="535C66"/>
                </a:solidFill>
                <a:latin typeface="Consolas"/>
              </a:rPr>
              <a:t>torch.save</a:t>
            </a:r>
            <a:r>
              <a:t> / </a:t>
            </a:r>
            <a:r>
              <a:rPr>
                <a:solidFill>
                  <a:srgbClr val="535C66"/>
                </a:solidFill>
                <a:latin typeface="Consolas"/>
              </a:rPr>
              <a:t>torch.load</a:t>
            </a:r>
          </a:p>
          <a:p>
            <a:r>
              <a:t>Code: </a:t>
            </a:r>
            <a:r>
              <a:rPr>
                <a:solidFill>
                  <a:srgbClr val="535C66"/>
                </a:solidFill>
                <a:latin typeface="Consolas"/>
              </a:rPr>
              <a:t>src/client/pydaos/torch/</a:t>
            </a:r>
            <a:r>
              <a:t>; docs: </a:t>
            </a:r>
            <a:r>
              <a:rPr>
                <a:solidFill>
                  <a:srgbClr val="535C66"/>
                </a:solidFill>
                <a:latin typeface="Consolas"/>
              </a:rPr>
              <a:t>docs/user/pytorch.md</a:t>
            </a:r>
            <a:r>
              <a:t>; tests: </a:t>
            </a:r>
            <a:r>
              <a:rPr>
                <a:solidFill>
                  <a:srgbClr val="535C66"/>
                </a:solidFill>
                <a:latin typeface="Consolas"/>
              </a:rPr>
              <a:t>src/tests/ftest/pytorch/</a:t>
            </a:r>
            <a:r>
              <a:t>; DLIO benchmark integration in the module Readme</a:t>
            </a:r>
          </a:p>
          <a:p>
            <a:r>
              <a:t>Not covered: multi-node (</a:t>
            </a:r>
            <a:r>
              <a:rPr>
                <a:solidFill>
                  <a:srgbClr val="535C66"/>
                </a:solidFill>
                <a:latin typeface="Consolas"/>
              </a:rPr>
              <a:t>DistributedSampler</a:t>
            </a:r>
            <a:r>
              <a:t> works unchanged — each rank builds its own </a:t>
            </a:r>
            <a:r>
              <a:rPr>
                <a:solidFill>
                  <a:srgbClr val="535C66"/>
                </a:solidFill>
                <a:latin typeface="Consolas"/>
              </a:rPr>
              <a:t>Dataset</a:t>
            </a:r>
            <a:r>
              <a:t>), writing samples through </a:t>
            </a:r>
            <a:r>
              <a:rPr>
                <a:solidFill>
                  <a:srgbClr val="535C66"/>
                </a:solidFill>
                <a:latin typeface="Consolas"/>
              </a:rPr>
              <a:t>Dataset</a:t>
            </a:r>
            <a:r>
              <a:t>, dfuse comparison</a:t>
            </a:r>
          </a:p>
          <a:p>
            <a:r>
              <a:t>Tutorial scripts and these notes: </a:t>
            </a:r>
            <a:r>
              <a:rPr>
                <a:solidFill>
                  <a:srgbClr val="535C66"/>
                </a:solidFill>
                <a:latin typeface="Consolas"/>
              </a:rPr>
              <a:t>/home/chaarawi/tutorial/sc26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to end: train from DAOS, checkpoint to DAOS, resume   (05_train_e2e.py)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240" y="3044952"/>
            <a:ext cx="4160520" cy="3264408"/>
          </a:xfrm>
        </p:spPr>
        <p:txBody>
          <a:bodyPr/>
          <a:lstStyle/>
          <a:p>
            <a:pPr/>
            <a:r>
              <a:rPr sz="1300"/>
              <a:t>Storage is touched in exactly the two places from slide 5 — and both are now </a:t>
            </a:r>
            <a:r>
              <a:rPr sz="1300">
                <a:solidFill>
                  <a:srgbClr val="535C66"/>
                </a:solidFill>
                <a:latin typeface="Consolas"/>
              </a:rPr>
              <a:t>pydaos.torch</a:t>
            </a:r>
          </a:p>
          <a:p>
            <a:pPr/>
            <a:r>
              <a:rPr sz="1300">
                <a:solidFill>
                  <a:srgbClr val="535C66"/>
                </a:solidFill>
                <a:latin typeface="Consolas"/>
              </a:rPr>
              <a:t>--resume</a:t>
            </a:r>
            <a:r>
              <a:rPr sz="1300"/>
              <a:t> is the proof: weights and optimizer state come back from DAOS and training continues at epoch 3</a:t>
            </a:r>
          </a:p>
          <a:p>
            <a:pPr/>
            <a:r>
              <a:rPr sz="1300"/>
              <a:t>Open </a:t>
            </a:r>
            <a:r>
              <a:rPr sz="1300">
                <a:solidFill>
                  <a:srgbClr val="535C66"/>
                </a:solidFill>
                <a:latin typeface="Consolas"/>
              </a:rPr>
              <a:t>Checkpoint</a:t>
            </a:r>
            <a:r>
              <a:rPr sz="1300"/>
              <a:t> (RW) before </a:t>
            </a:r>
            <a:r>
              <a:rPr sz="1300">
                <a:solidFill>
                  <a:srgbClr val="535C66"/>
                </a:solidFill>
                <a:latin typeface="Consolas"/>
              </a:rPr>
              <a:t>Dataset</a:t>
            </a:r>
            <a:r>
              <a:rPr sz="1300"/>
              <a:t> (RO) on the same container</a:t>
            </a:r>
          </a:p>
          <a:p>
            <a:pPr/>
            <a:r>
              <a:rPr sz="1300"/>
              <a:t>Unique </a:t>
            </a:r>
            <a:r>
              <a:rPr sz="1300">
                <a:solidFill>
                  <a:srgbClr val="535C66"/>
                </a:solidFill>
                <a:latin typeface="Consolas"/>
              </a:rPr>
              <a:t>epoch_NNN.pt</a:t>
            </a:r>
            <a:r>
              <a:rPr sz="1300"/>
              <a:t> per epoch + a constant-size </a:t>
            </a:r>
            <a:r>
              <a:rPr sz="1300">
                <a:solidFill>
                  <a:srgbClr val="535C66"/>
                </a:solidFill>
                <a:latin typeface="Consolas"/>
              </a:rPr>
              <a:t>latest.pt</a:t>
            </a:r>
            <a:r>
              <a:rPr sz="1300"/>
              <a:t> pointer: no listing, no truncate pitfall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9604C6-4DA9-3C04-5073-FE86B7EBA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 dirty="0"/>
              <a:t>For use at Supercomputing 2026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7040880" cy="343357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54864" bIns="54864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model = TinyCNN(); opt = SGD(model.parameters())         # 1  a real nn.Module (~5k weights)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with Checkpoint(POOL, CONT, prefix="/checkpoints", class_name="SX") as chkp, \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Dataset(POOL, CONT, path="/data/train", transform_fn=decode_npz) as ds:   # 2  RW first, then RO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if args.resume:                                                 # 3  latest.pt -&gt; epoch_NNN.pt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start_epoch = load_latest(chkp, model, opt)                 #    -&gt; load_state_dict()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loader = DataLoader(ds, batch_size=64, shuffle=True,            # 4  slide 16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num_workers=8, worker_init_fn=ds.worker_init)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for epoch in range(start_epoch + 1, EPOCHS + 1):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for x, y in loader:                                         # 5  I/O happens here ...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opt.zero_grad(); loss = F.cross_entropy(model(x), y)    #    ... the rest is pure compute,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loss.backward(); opt.step()                             #    identical on any storage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with chkp.writer(f"e2e/epoch_{epoch:03d}.pt") as w:         # 6  unique name per epoch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torch.save({"epoch": epoch, "model": model.state_dict(),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            "optimizer": opt.state_dict()}, w)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with chkp.writer("e2e/latest.pt") as w:                     #    constant-size pointer,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          torch.save({"epoch": epoch, "file": name}, w)           #    safe to overwrite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188720"/>
            <a:ext cx="4160520" cy="1673352"/>
          </a:xfrm>
          <a:prstGeom prst="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54864" bIns="54864"/>
          <a:lstStyle/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$ python 05_train_e2e.py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epoch 1: loss 0.104  acc 0.968  (10000 samples)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checkpoint -&gt; /checkpoints/e2e/epoch_001.pt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epoch 2: loss 0.000  acc 1.000  (10000 samples)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checkpoint -&gt; /checkpoints/e2e/epoch_002.pt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$ python 05_train_e2e.py --resume --epochs 3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resumed from /checkpoints/e2e/epoch_002.pt (epoch 2)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epoch 3: loss 0.000  acc 1.000  (10000 samples)</a:t>
            </a:r>
          </a:p>
          <a:p>
            <a:pPr algn="l"/>
            <a:r>
              <a:rPr sz="1000">
                <a:solidFill>
                  <a:srgbClr val="292D3A"/>
                </a:solidFill>
                <a:latin typeface="Consolas"/>
              </a:rPr>
              <a:t>  checkpoint -&gt; /checkpoints/e2e/epoch_003.pt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E Light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38100">
          <a:noFill/>
        </a:ln>
      </a:spPr>
      <a:bodyPr wrap="square" lIns="90170" tIns="90170" rIns="90170" bIns="9017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Presentation25" id="{4CE7F4F9-8FD3-8F41-8DF4-2DB2B1B59F38}" vid="{8081B760-5CD2-A04E-9FBC-BBB3AA433A4F}"/>
    </a:ext>
  </a:extLst>
</a:theme>
</file>

<file path=ppt/theme/theme2.xml><?xml version="1.0" encoding="utf-8"?>
<a:theme xmlns:a="http://schemas.openxmlformats.org/drawingml/2006/main" name="Office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C8B5AF8736FD429803BF95C30EE0A8" ma:contentTypeVersion="16" ma:contentTypeDescription="Create a new document." ma:contentTypeScope="" ma:versionID="3630763228e35b79a7d6708e3ded5231">
  <xsd:schema xmlns:xsd="http://www.w3.org/2001/XMLSchema" xmlns:xs="http://www.w3.org/2001/XMLSchema" xmlns:p="http://schemas.microsoft.com/office/2006/metadata/properties" xmlns:ns2="e907fd0c-347a-41a1-b4a4-4193fd2c5eaf" xmlns:ns3="528dc42b-a8a9-4871-b1aa-61453096122c" targetNamespace="http://schemas.microsoft.com/office/2006/metadata/properties" ma:root="true" ma:fieldsID="13f90c602dbe650ec76b5298947a097b" ns2:_="" ns3:_="">
    <xsd:import namespace="e907fd0c-347a-41a1-b4a4-4193fd2c5eaf"/>
    <xsd:import namespace="528dc42b-a8a9-4871-b1aa-61453096122c"/>
    <xsd:element name="properties">
      <xsd:complexType>
        <xsd:sequence>
          <xsd:element name="documentManagement">
            <xsd:complexType>
              <xsd:all>
                <xsd:element ref="ns2:Comments" minOccurs="0"/>
                <xsd:element ref="ns2:Status" minOccurs="0"/>
                <xsd:element ref="ns2:_Flow_SignoffStatu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7fd0c-347a-41a1-b4a4-4193fd2c5eaf" elementFormDefault="qualified">
    <xsd:import namespace="http://schemas.microsoft.com/office/2006/documentManagement/types"/>
    <xsd:import namespace="http://schemas.microsoft.com/office/infopath/2007/PartnerControls"/>
    <xsd:element name="Comments" ma:index="8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Status" ma:index="9" nillable="true" ma:displayName="Status" ma:description="Status of document" ma:format="RadioButtons" ma:internalName="Status">
      <xsd:simpleType>
        <xsd:restriction base="dms:Choice">
          <xsd:enumeration value="Draft"/>
          <xsd:enumeration value="In review"/>
          <xsd:enumeration value="Approved"/>
          <xsd:enumeration value="Final"/>
        </xsd:restriction>
      </xsd:simpleType>
    </xsd:element>
    <xsd:element name="_Flow_SignoffStatus" ma:index="10" nillable="true" ma:displayName="Sign-off status" ma:internalName="_x0024_Resources_x003a_core_x002c_Signoff_Status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25aa102e-2e4d-4f82-9951-c6a7f8de6b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dc42b-a8a9-4871-b1aa-61453096122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2cf5ac5e-b5f7-4729-afe9-54e135210c0c" ma:internalName="TaxCatchAll" ma:showField="CatchAllData" ma:web="906e8691-28cc-464f-83ae-7aca97663a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8dc42b-a8a9-4871-b1aa-61453096122c" xsi:nil="true"/>
    <lcf76f155ced4ddcb4097134ff3c332f xmlns="e907fd0c-347a-41a1-b4a4-4193fd2c5eaf">
      <Terms xmlns="http://schemas.microsoft.com/office/infopath/2007/PartnerControls"/>
    </lcf76f155ced4ddcb4097134ff3c332f>
    <_Flow_SignoffStatus xmlns="e907fd0c-347a-41a1-b4a4-4193fd2c5eaf" xsi:nil="true"/>
    <Comments xmlns="e907fd0c-347a-41a1-b4a4-4193fd2c5eaf" xsi:nil="true"/>
    <Status xmlns="e907fd0c-347a-41a1-b4a4-4193fd2c5eaf" xsi:nil="true"/>
  </documentManagement>
</p:properties>
</file>

<file path=customXml/itemProps1.xml><?xml version="1.0" encoding="utf-8"?>
<ds:datastoreItem xmlns:ds="http://schemas.openxmlformats.org/officeDocument/2006/customXml" ds:itemID="{B93662C8-3498-462B-8965-E6E4E183D6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07fd0c-347a-41a1-b4a4-4193fd2c5eaf"/>
    <ds:schemaRef ds:uri="528dc42b-a8a9-4871-b1aa-6145309612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958DC6-5C23-4AE0-B6AA-A4452D5FB2AB}">
  <ds:schemaRefs>
    <ds:schemaRef ds:uri="532052c0-6831-4539-9e85-59033aa6fde4"/>
    <ds:schemaRef ds:uri="2c4f9367-3b51-4014-9ae2-ef6cf04436b5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528dc42b-a8a9-4871-b1aa-61453096122c"/>
    <ds:schemaRef ds:uri="e907fd0c-347a-41a1-b4a4-4193fd2c5eaf"/>
  </ds:schemaRefs>
</ds:datastoreItem>
</file>

<file path=docMetadata/LabelInfo.xml><?xml version="1.0" encoding="utf-8"?>
<clbl:labelList xmlns:clbl="http://schemas.microsoft.com/office/2020/mipLabelMetadata">
  <clbl:label id="{00cb3a2a-097e-4f70-bb56-399878dd3351}" enabled="0" method="" siteId="{00cb3a2a-097e-4f70-bb56-399878dd335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HPE Discover 2026_Powerpoint_Light_Standard_02</Template>
  <TotalTime>643</TotalTime>
  <Words>4008</Words>
  <Application>Microsoft Macintosh PowerPoint</Application>
  <PresentationFormat>Widescreen</PresentationFormat>
  <Paragraphs>356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Aptos</vt:lpstr>
      <vt:lpstr>HPE Graphik</vt:lpstr>
      <vt:lpstr>HPE Graphik Semibold</vt:lpstr>
      <vt:lpstr>HPE Graphik Light</vt:lpstr>
      <vt:lpstr>Consolas</vt:lpstr>
      <vt:lpstr>HPE Light Theme</vt:lpstr>
      <vt:lpstr>Feeding PyTorch from DAOS</vt:lpstr>
      <vt:lpstr>Agenda</vt:lpstr>
      <vt:lpstr>The PyTorch Data Pipeline</vt:lpstr>
      <vt:lpstr>Vocabulary</vt:lpstr>
      <vt:lpstr>The canonical training loop</vt:lpstr>
      <vt:lpstr>What training asks of storage</vt:lpstr>
      <vt:lpstr>Why a Native DAOS Loader</vt:lpstr>
      <vt:lpstr>Two ways to feed PyTorch from a DAOS POSIX container</vt:lpstr>
      <vt:lpstr>Architecture</vt:lpstr>
      <vt:lpstr>What the module does under the hood</vt:lpstr>
      <vt:lpstr>Setup</vt:lpstr>
      <vt:lpstr>Prerequisites</vt:lpstr>
      <vt:lpstr>The demo dataset</vt:lpstr>
      <vt:lpstr>Datasets on DAOS: map-style vs. iterable</vt:lpstr>
      <vt:lpstr>A Dataset is a contract, not the data — and it comes in two flavours</vt:lpstr>
      <vt:lpstr>Map-style on DAOS   (02_map_dataset.py)</vt:lpstr>
      <vt:lpstr>Iterable on DAOS   (03_iterable_dataset.py)</vt:lpstr>
      <vt:lpstr>Same reads from DAOS — so which one should you use?</vt:lpstr>
      <vt:lpstr>Checkpoints</vt:lpstr>
      <vt:lpstr>Checkpoints: what changes to use DAOS</vt:lpstr>
      <vt:lpstr>How the bytes reach DAOS: two write modes, and where the file lands</vt:lpstr>
      <vt:lpstr>Checkpoint pitfalls</vt:lpstr>
      <vt:lpstr>End to end, tuning, pitfalls</vt:lpstr>
      <vt:lpstr>Everything together</vt:lpstr>
      <vt:lpstr>Tuning cheat-sheet</vt:lpstr>
      <vt:lpstr>Common errors and what they mean</vt:lpstr>
      <vt:lpstr>Wrap-up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Malmquist</dc:creator>
  <cp:lastModifiedBy>Chaarawi, Mohamad</cp:lastModifiedBy>
  <cp:revision>8</cp:revision>
  <dcterms:created xsi:type="dcterms:W3CDTF">2026-03-25T12:38:37Z</dcterms:created>
  <dcterms:modified xsi:type="dcterms:W3CDTF">2026-10-13T18:22:12Z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0x010100EDC8B5AF8736FD429803BF95C30EE0A8</vt:lpwstr>
  </property>
  <property fmtid="{D5CDD505-2E9C-101B-9397-08002B2CF9AE}" pid="3" name="MediaServiceImageTags">
    <vt:lpwstr/>
  </property>
</Properties>
</file>