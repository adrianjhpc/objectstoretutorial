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9" r:id="rId4"/>
  </p:sldMasterIdLst>
  <p:notesMasterIdLst>
    <p:notesMasterId r:id="rId32"/>
  </p:notesMasterIdLst>
  <p:handoutMasterIdLst>
    <p:handoutMasterId r:id="rId3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12192000" cy="6858000"/>
  <p:notesSz cx="6858000" cy="9144000"/>
  <p:embeddedFontLst>
    <p:embeddedFont>
      <p:font typeface="Consolas" panose="020B0609020204030204" pitchFamily="49" charset="0"/>
      <p:regular r:id="rId34"/>
      <p:bold r:id="rId35"/>
      <p:italic r:id="rId36"/>
      <p:boldItalic r:id="rId37"/>
    </p:embeddedFont>
    <p:embeddedFont>
      <p:font typeface="HPE Graphik" pitchFamily="2" charset="77"/>
      <p:regular r:id="rId38"/>
      <p:bold r:id="rId39"/>
      <p:italic r:id="rId40"/>
      <p:boldItalic r:id="rId41"/>
    </p:embeddedFont>
    <p:embeddedFont>
      <p:font typeface="HPE Graphik Light" pitchFamily="2" charset="77"/>
      <p:regular r:id="rId42"/>
      <p:bold r:id="rId43"/>
      <p:italic r:id="rId44"/>
      <p:boldItalic r:id="rId45"/>
    </p:embeddedFont>
    <p:embeddedFont>
      <p:font typeface="HPE Graphik Semibold" pitchFamily="2" charset="77"/>
      <p:regular r:id="rId46"/>
      <p:bold r:id="rId47"/>
      <p:italic r:id="rId48"/>
      <p:boldItalic r:id="rId49"/>
    </p:embeddedFont>
  </p:embeddedFontLst>
  <p:defaultTextStyle>
    <a:defPPr>
      <a:defRPr lang="en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8AD7F66-6ECB-4463-E65D-F605BEE19B7B}" name="Colleen Greshock" initials="CG" userId="c74b40e00d377d9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506B"/>
    <a:srgbClr val="282D3A"/>
    <a:srgbClr val="0E0725"/>
    <a:srgbClr val="292D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BCADCD-D721-4D58-B7C9-CB97C2FAF0E9}" v="52" dt="2026-08-05T22:17:04.4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5033" autoAdjust="0"/>
  </p:normalViewPr>
  <p:slideViewPr>
    <p:cSldViewPr snapToGrid="0">
      <p:cViewPr varScale="1">
        <p:scale>
          <a:sx n="127" d="100"/>
          <a:sy n="127" d="100"/>
        </p:scale>
        <p:origin x="57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0" d="100"/>
          <a:sy n="120" d="100"/>
        </p:scale>
        <p:origin x="4228" y="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presProps" Target="presProps.xml"/><Relationship Id="rId55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1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6.xml"/><Relationship Id="rId41" Type="http://schemas.openxmlformats.org/officeDocument/2006/relationships/font" Target="fonts/font8.fntdata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49" Type="http://schemas.openxmlformats.org/officeDocument/2006/relationships/font" Target="fonts/font1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BE70EE-ABFF-7898-FF38-C1C649A57D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C85076-C132-D0C4-F7C0-50C617DBDC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AD1A2-D870-8962-7D87-AA387B26B1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050CF-DD4A-BEFB-2AF1-F594C68CF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5F8EC-3703-4D6A-8276-E9F606B6A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0015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74649" y="143510"/>
            <a:ext cx="6101079" cy="2273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/>
            </a:lvl1pPr>
          </a:lstStyle>
          <a:p>
            <a:endParaRPr lang="en-P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4650" y="504190"/>
            <a:ext cx="6101078" cy="343185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74650" y="4069396"/>
            <a:ext cx="6101080" cy="444062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</a:t>
            </a:r>
            <a:r>
              <a:rPr lang="pl-PL" dirty="0"/>
              <a:t>add text</a:t>
            </a:r>
            <a:endParaRPr lang="en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74650" y="8747760"/>
            <a:ext cx="4878070" cy="2273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67400" y="8747760"/>
            <a:ext cx="608330" cy="2273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fld id="{20276FB5-B755-FF41-948A-F83E9AA573A8}" type="slidenum">
              <a:rPr lang="en-PL" smtClean="0"/>
              <a:pPr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73406006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lnSpc>
        <a:spcPct val="90000"/>
      </a:lnSpc>
      <a:spcAft>
        <a:spcPts val="4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90000"/>
      </a:lnSpc>
      <a:spcAft>
        <a:spcPts val="4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90000"/>
      </a:lnSpc>
      <a:spcAft>
        <a:spcPts val="400"/>
      </a:spcAft>
      <a:buFont typeface="HPE Graphik" pitchFamily="50" charset="0"/>
      <a:buChar char="—"/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lnSpc>
        <a:spcPct val="90000"/>
      </a:lnSpc>
      <a:spcAft>
        <a:spcPts val="400"/>
      </a:spcAft>
      <a:buFont typeface="HPE Graphik" pitchFamily="50" charset="0"/>
      <a:buChar char="—"/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720000" indent="-180000" algn="l" defTabSz="914400" rtl="0" eaLnBrk="1" latinLnBrk="0" hangingPunct="1">
      <a:lnSpc>
        <a:spcPct val="90000"/>
      </a:lnSpc>
      <a:spcAft>
        <a:spcPts val="400"/>
      </a:spcAft>
      <a:buFont typeface="Arial" panose="020B0604020202020204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6702D808-AF03-DEF9-0314-E4335A543C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3" y="1813791"/>
            <a:ext cx="10012359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</a:t>
            </a:r>
            <a:r>
              <a:rPr lang="pl-PL" dirty="0"/>
              <a:t>1</a:t>
            </a:r>
            <a:endParaRPr lang="en-US" dirty="0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DEE9B376-05EC-3588-37E2-05C039D1F6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61C036-93AE-3BAB-6526-8E33EA4444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10012358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E4EC4B5E-61C1-0327-AC26-FD6B85B7F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7DC32F3-F425-C278-35CD-AE6B1CEEB3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903" y="409339"/>
            <a:ext cx="1007905" cy="28797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F0729B-8A7F-B7E1-7725-96E9EFFE1C37}"/>
              </a:ext>
            </a:extLst>
          </p:cNvPr>
          <p:cNvCxnSpPr>
            <a:cxnSpLocks/>
          </p:cNvCxnSpPr>
          <p:nvPr userDrawn="1"/>
        </p:nvCxnSpPr>
        <p:spPr>
          <a:xfrm>
            <a:off x="1801091" y="249382"/>
            <a:ext cx="0" cy="5541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3BC142E-1CB9-374A-D824-12756272F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F81975-869D-03FA-A462-DA7C8D725D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91671" y="245695"/>
            <a:ext cx="1225787" cy="57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9A8CED90-83F5-DFF6-245A-6CD299701B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3" y="1813791"/>
            <a:ext cx="10012359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</a:t>
            </a:r>
            <a:r>
              <a:rPr lang="pl-PL" dirty="0"/>
              <a:t>2</a:t>
            </a:r>
            <a:endParaRPr lang="en-US" dirty="0"/>
          </a:p>
        </p:txBody>
      </p:sp>
      <p:sp>
        <p:nvSpPr>
          <p:cNvPr id="7" name="Subtitle 3">
            <a:extLst>
              <a:ext uri="{FF2B5EF4-FFF2-40B4-BE49-F238E27FC236}">
                <a16:creationId xmlns:a16="http://schemas.microsoft.com/office/drawing/2014/main" id="{C9B879B3-45C8-291E-B795-79029A3CF9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99A56CF-9478-6AE1-8265-95E8C72FD0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10012358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8D4869DF-7C8C-6D6D-CBDF-4F57DD5DF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B8E34CB-34CD-2845-4098-06EEC6B05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66EC5AC-CD5C-9BDA-02E9-E48BF07874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903" y="409339"/>
            <a:ext cx="1007905" cy="28797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5BC853-233F-BBAF-B141-AC53CC336455}"/>
              </a:ext>
            </a:extLst>
          </p:cNvPr>
          <p:cNvCxnSpPr>
            <a:cxnSpLocks/>
          </p:cNvCxnSpPr>
          <p:nvPr userDrawn="1"/>
        </p:nvCxnSpPr>
        <p:spPr>
          <a:xfrm>
            <a:off x="1801091" y="249382"/>
            <a:ext cx="0" cy="5541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AA75621-CC86-8FB0-01FE-430EA5A07B3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91671" y="245695"/>
            <a:ext cx="1225787" cy="57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C22247A9-BAB1-E44F-778D-D7B252E624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3" y="1813791"/>
            <a:ext cx="10012359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</a:t>
            </a:r>
            <a:r>
              <a:rPr lang="pl-PL" dirty="0"/>
              <a:t>3</a:t>
            </a:r>
            <a:endParaRPr lang="en-US" dirty="0"/>
          </a:p>
        </p:txBody>
      </p:sp>
      <p:sp>
        <p:nvSpPr>
          <p:cNvPr id="7" name="Subtitle 3">
            <a:extLst>
              <a:ext uri="{FF2B5EF4-FFF2-40B4-BE49-F238E27FC236}">
                <a16:creationId xmlns:a16="http://schemas.microsoft.com/office/drawing/2014/main" id="{9CAA1BA3-D079-6DA7-65CB-51062A7D93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FFEB8AD-256D-84E9-5A93-EB95B92E4B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10012358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E86E6D92-7C0F-2881-3B5C-2BB90CF3E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0E0EEC3-44B1-EE87-6FF3-4286CA22E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278BD8-5520-5957-A0C3-6D38BA2AF5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903" y="409339"/>
            <a:ext cx="1007905" cy="28797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609396-4CE0-E100-A758-FDE1C105D0C1}"/>
              </a:ext>
            </a:extLst>
          </p:cNvPr>
          <p:cNvCxnSpPr>
            <a:cxnSpLocks/>
          </p:cNvCxnSpPr>
          <p:nvPr userDrawn="1"/>
        </p:nvCxnSpPr>
        <p:spPr>
          <a:xfrm>
            <a:off x="1801091" y="249382"/>
            <a:ext cx="0" cy="5541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D30CF5C-17B7-3C91-F691-55E0A08824C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91671" y="245695"/>
            <a:ext cx="1225787" cy="57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5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4 with Light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Element 2">
            <a:extLst>
              <a:ext uri="{FF2B5EF4-FFF2-40B4-BE49-F238E27FC236}">
                <a16:creationId xmlns:a16="http://schemas.microsoft.com/office/drawing/2014/main" id="{599C7368-45FB-FA9F-C233-DCDE9E9A37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518948"/>
            <a:ext cx="10934113" cy="5339064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01118B38-66E2-1853-9640-52CA013779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4" y="1813791"/>
            <a:ext cx="9144000" cy="1577109"/>
          </a:xfrm>
        </p:spPr>
        <p:txBody>
          <a:bodyPr lIns="0" tIns="46990" rIns="0" bIns="4699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4 (with </a:t>
            </a:r>
            <a:r>
              <a:rPr lang="pl-PL" dirty="0"/>
              <a:t>light </a:t>
            </a:r>
            <a:r>
              <a:rPr lang="en-US" dirty="0"/>
              <a:t>picture)</a:t>
            </a: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6D5F3A39-BBD4-AFEB-B4E7-8CA166BB301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0972" y="3424765"/>
            <a:ext cx="9144000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C55DFAC-A001-72E6-262A-D060D79E09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9144000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BA235C-CFDA-EC42-8041-30F0839937F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058483-C5C0-1CD4-32BC-D764F1B5F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E3EB743-466D-A44A-ADC0-A260BE4EA9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903" y="409339"/>
            <a:ext cx="1007905" cy="28797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BE7A42-D66D-779F-2544-A329E86AC968}"/>
              </a:ext>
            </a:extLst>
          </p:cNvPr>
          <p:cNvCxnSpPr>
            <a:cxnSpLocks/>
          </p:cNvCxnSpPr>
          <p:nvPr userDrawn="1"/>
        </p:nvCxnSpPr>
        <p:spPr>
          <a:xfrm>
            <a:off x="1801091" y="249382"/>
            <a:ext cx="0" cy="5541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6A67F2D-4420-C910-83D3-DE74B0192B7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91671" y="245695"/>
            <a:ext cx="1225787" cy="57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9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36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5 with Pictur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1118B38-66E2-1853-9640-52CA013779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738" y="1178790"/>
            <a:ext cx="9144000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5 (with picture)</a:t>
            </a:r>
          </a:p>
        </p:txBody>
      </p:sp>
      <p:sp>
        <p:nvSpPr>
          <p:cNvPr id="5" name="Subtitle 3">
            <a:extLst>
              <a:ext uri="{FF2B5EF4-FFF2-40B4-BE49-F238E27FC236}">
                <a16:creationId xmlns:a16="http://schemas.microsoft.com/office/drawing/2014/main" id="{A1730018-7DE4-8985-2868-18B01444A6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55099" y="2887955"/>
            <a:ext cx="2485505" cy="10268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 maximum three lines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0BD8F41-4872-8861-CBF3-EDAA068B0D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55098" y="3924300"/>
            <a:ext cx="2485506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BD4F32D-3591-565F-ADF6-7D7D28EF243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-1" y="2974206"/>
            <a:ext cx="9206753" cy="38837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Image placeholder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3A8DF9B4-8078-C49B-C422-13DD4F863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08F0805-2864-788A-BB9F-E6C3E896A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AE3457B-2BB0-9638-C094-1DFDF440F6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903" y="409339"/>
            <a:ext cx="1007905" cy="28797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414D69-5DE2-AA56-223D-DCFD4624413F}"/>
              </a:ext>
            </a:extLst>
          </p:cNvPr>
          <p:cNvCxnSpPr>
            <a:cxnSpLocks/>
          </p:cNvCxnSpPr>
          <p:nvPr userDrawn="1"/>
        </p:nvCxnSpPr>
        <p:spPr>
          <a:xfrm>
            <a:off x="1801091" y="249382"/>
            <a:ext cx="0" cy="5541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7D8851D-E248-1686-8ABA-A3713B7A97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91671" y="245695"/>
            <a:ext cx="1225787" cy="57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7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6 with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Element image 1" descr="A black and white rectangle with a green and black rectangle&#10;&#10;AI-generated content may be incorrect.">
            <a:extLst>
              <a:ext uri="{FF2B5EF4-FFF2-40B4-BE49-F238E27FC236}">
                <a16:creationId xmlns:a16="http://schemas.microsoft.com/office/drawing/2014/main" id="{557B342C-B686-916C-8D1E-533F53E2C2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01118B38-66E2-1853-9640-52CA013779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9912" y="1127322"/>
            <a:ext cx="4465637" cy="2951480"/>
          </a:xfrm>
        </p:spPr>
        <p:txBody>
          <a:bodyPr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6 </a:t>
            </a:r>
            <a:br>
              <a:rPr lang="en-US" dirty="0"/>
            </a:br>
            <a:r>
              <a:rPr lang="en-US" dirty="0"/>
              <a:t>(with picture)</a:t>
            </a:r>
          </a:p>
        </p:txBody>
      </p:sp>
      <p:sp>
        <p:nvSpPr>
          <p:cNvPr id="22" name="Subtitle 4">
            <a:extLst>
              <a:ext uri="{FF2B5EF4-FFF2-40B4-BE49-F238E27FC236}">
                <a16:creationId xmlns:a16="http://schemas.microsoft.com/office/drawing/2014/main" id="{B4B6A315-F84A-43CB-2612-0093AD26A3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650" y="4101316"/>
            <a:ext cx="4465638" cy="680234"/>
          </a:xfrm>
          <a:prstGeom prst="rect">
            <a:avLst/>
          </a:prstGeo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  <a:br>
              <a:rPr lang="en-US" dirty="0"/>
            </a:br>
            <a:r>
              <a:rPr lang="en-US" dirty="0"/>
              <a:t>over 2 lines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1E6999B2-BD34-3D8A-995A-23314865E5B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7" y="4838706"/>
            <a:ext cx="4465637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A6F5877F-D5C2-0CC0-F815-A40F949BFE5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1AEC25A-1381-4337-8173-41CB58F5B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C045DFF-0511-5230-6A0F-2F60FEAAC2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903" y="409339"/>
            <a:ext cx="1007905" cy="28797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AA38FE-23DE-9503-F0E0-6171C72B203C}"/>
              </a:ext>
            </a:extLst>
          </p:cNvPr>
          <p:cNvCxnSpPr>
            <a:cxnSpLocks/>
          </p:cNvCxnSpPr>
          <p:nvPr userDrawn="1"/>
        </p:nvCxnSpPr>
        <p:spPr>
          <a:xfrm>
            <a:off x="1801091" y="249382"/>
            <a:ext cx="0" cy="5541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B1A6B42-0999-4D2A-4C6A-32236BC7CE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91671" y="245695"/>
            <a:ext cx="1225787" cy="57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09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170-8CC0-47B1-FE7B-FCA095BCC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439980"/>
            <a:ext cx="8599487" cy="184665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="0" i="0">
                <a:latin typeface="HPE Graphik Light" pitchFamily="2" charset="77"/>
              </a:defRPr>
            </a:lvl1pPr>
          </a:lstStyle>
          <a:p>
            <a:r>
              <a:rPr lang="en-US" dirty="0"/>
              <a:t>Divider 1</a:t>
            </a:r>
            <a:br>
              <a:rPr lang="en-US" dirty="0"/>
            </a:br>
            <a:r>
              <a:rPr lang="en-US" dirty="0"/>
              <a:t>two lines max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2486-EF2B-1442-FE2C-36120DCDA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 only if needed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7E9BAFD-B89D-1DD6-6FAB-B033012DF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EBC0E10-A3AB-7E57-C825-FEEBFCF8B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45985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170-8CC0-47B1-FE7B-FCA095BCC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439980"/>
            <a:ext cx="8599487" cy="184665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="0" i="0">
                <a:latin typeface="HPE Graphik Light" pitchFamily="2" charset="77"/>
              </a:defRPr>
            </a:lvl1pPr>
          </a:lstStyle>
          <a:p>
            <a:r>
              <a:rPr lang="en-US" dirty="0"/>
              <a:t>Divider 2</a:t>
            </a:r>
            <a:br>
              <a:rPr lang="en-US" dirty="0"/>
            </a:br>
            <a:r>
              <a:rPr lang="en-US" dirty="0"/>
              <a:t>two lines max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2486-EF2B-1442-FE2C-36120DCDA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 only if needed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318031-32A0-57F5-89E3-BD97D3EE4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22529F5-3037-7281-7184-2E0975229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892728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170-8CC0-47B1-FE7B-FCA095BCC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439980"/>
            <a:ext cx="8599487" cy="184665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="0" i="0">
                <a:latin typeface="HPE Graphik Light" pitchFamily="2" charset="77"/>
              </a:defRPr>
            </a:lvl1pPr>
          </a:lstStyle>
          <a:p>
            <a:r>
              <a:rPr lang="en-US" dirty="0"/>
              <a:t>Divider 3</a:t>
            </a:r>
            <a:br>
              <a:rPr lang="en-US" dirty="0"/>
            </a:br>
            <a:r>
              <a:rPr lang="en-US" dirty="0"/>
              <a:t>two lines max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2486-EF2B-1442-FE2C-36120DCDA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 only if needed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B0ABB62-7FB2-A10A-FB79-640977444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635856C-2B0D-382A-9CEF-CEA187763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793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 with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 Image 1">
            <a:extLst>
              <a:ext uri="{FF2B5EF4-FFF2-40B4-BE49-F238E27FC236}">
                <a16:creationId xmlns:a16="http://schemas.microsoft.com/office/drawing/2014/main" id="{1A711596-B981-E895-2147-80AF02FC6F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196" t="654" r="1416" b="12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51F0D95-92C8-F614-A840-CCF636DDB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5" y="393193"/>
            <a:ext cx="11433977" cy="946080"/>
          </a:xfrm>
        </p:spPr>
        <p:txBody>
          <a:bodyPr lIns="0" tIns="0" rIns="91440" bIns="0"/>
          <a:lstStyle>
            <a:lvl1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6000" b="0">
                <a:solidFill>
                  <a:schemeClr val="tx1"/>
                </a:solidFill>
                <a:latin typeface="HPE Graphik Light" pitchFamily="50" charset="0"/>
              </a:defRPr>
            </a:lvl1pPr>
          </a:lstStyle>
          <a:p>
            <a:r>
              <a:rPr lang="en-US" dirty="0"/>
              <a:t>Divider 4 (with picture)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C3AD242-1EDC-575F-5C91-FD24DABDD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CCE16F8-91F8-6EE6-85D5-B7618DF55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11375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32753FE-5D9A-4A5E-B0B2-3DAAE2EB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8F2DF35-63BF-460F-A215-8F5110C2F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599" y="1165860"/>
            <a:ext cx="11404800" cy="5097600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08465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-lin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32753FE-5D9A-4A5E-B0B2-3DAAE2EB35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8F2DF35-63BF-460F-A215-8F5110C2F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1541417"/>
            <a:ext cx="11433977" cy="4730795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4268E2A-81AF-75F2-036F-19A286FA83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947321D-979B-DC89-1F5D-01044E0A9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46511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70D9BB8-8D8D-4F83-B418-E1A6910A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" panose="020B0604020202020204" pitchFamily="34" charset="0"/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3BBDD58-9EEC-48BC-A84C-F80FB78CB21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4904" y="1541417"/>
            <a:ext cx="11433977" cy="4730795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8A2B8FB-372C-42B9-B280-9D39EC303B0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5024486-CC95-F10F-C51C-F758EB136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49858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-line, Sub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8B93E-9AAB-D047-1D10-C52AC4536A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bIns="0" anchor="t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95F41DF-93F3-CDC9-2F09-5645DCF4B1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33978" cy="369486"/>
          </a:xfrm>
          <a:prstGeom prst="rect">
            <a:avLst/>
          </a:prstGeom>
        </p:spPr>
        <p:txBody>
          <a:bodyPr tIns="0"/>
          <a:lstStyle>
            <a:lvl1pPr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8B383B-1E87-87BA-8652-6B7B1E2F64D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4904" y="1920874"/>
            <a:ext cx="11433977" cy="4358006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8A4E9F6-3410-0A4E-80C1-A550B6D95A6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2F74D03-304B-9ACA-2047-EE701B27D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40840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9EDB93-5BF6-4D1D-9D5F-0E75F45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5C04D0B-D5E2-4F74-B1D6-45E2AEA840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lIns="0" tIns="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" panose="020B0604020202020204" pitchFamily="34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subtitle</a:t>
            </a:r>
          </a:p>
        </p:txBody>
      </p:sp>
      <p:sp>
        <p:nvSpPr>
          <p:cNvPr id="19" name="Heading 3"/>
          <p:cNvSpPr>
            <a:spLocks noGrp="1"/>
          </p:cNvSpPr>
          <p:nvPr>
            <p:ph type="body" sz="quarter" idx="18" hasCustomPrompt="1"/>
          </p:nvPr>
        </p:nvSpPr>
        <p:spPr>
          <a:xfrm>
            <a:off x="374902" y="1526183"/>
            <a:ext cx="11433977" cy="369486"/>
          </a:xfrm>
          <a:prstGeom prst="rect">
            <a:avLst/>
          </a:prstGeom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60021C6-A6F0-40F0-A299-B8269BE0F49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4904" y="1920874"/>
            <a:ext cx="11433977" cy="4358006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9D217CA8-FB11-4E4A-BBCD-EE7B837F4D7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D2813A5-272A-D37B-2933-180944DCDE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25165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4243D16-78B0-BF7E-7EE9-B51138BA7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quarter" idx="17"/>
          </p:nvPr>
        </p:nvSpPr>
        <p:spPr>
          <a:xfrm>
            <a:off x="385100" y="1165860"/>
            <a:ext cx="5523992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8"/>
          </p:nvPr>
        </p:nvSpPr>
        <p:spPr>
          <a:xfrm>
            <a:off x="6260021" y="1165860"/>
            <a:ext cx="5523992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9444F98-C525-C008-1B46-B4DCF8808DE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D71524F-F8F4-E39B-A671-0442E1526A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43482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-lin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974DB35-5793-0F87-263A-3DF2B2C45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541418"/>
            <a:ext cx="5523992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541417"/>
            <a:ext cx="5523992" cy="4729841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6693A83-2C34-7CA2-21A7-C377B3F9D1C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3BC09D5-A6AB-2813-0232-7B43E07F6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854413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974DB35-5793-0F87-263A-3DF2B2C45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E367876-B551-4115-B469-74C12D0C1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541418"/>
            <a:ext cx="5523992" cy="473746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541418"/>
            <a:ext cx="5523992" cy="473746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93A83-2C34-7CA2-21A7-C377B3F9D1C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FD2E122-6A80-8F4F-A062-5553730DB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385709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-line, Sub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974DB35-5793-0F87-263A-3DF2B2C45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E367876-B551-4115-B469-74C12D0C1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42628" cy="369486"/>
          </a:xfrm>
          <a:prstGeom prst="rect">
            <a:avLst/>
          </a:prstGeom>
        </p:spPr>
        <p:txBody>
          <a:bodyPr vert="horz" lIns="0" tIns="0" rIns="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888132"/>
            <a:ext cx="5523992" cy="4383127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888133"/>
            <a:ext cx="5523992" cy="4383126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93A83-2C34-7CA2-21A7-C377B3F9D1C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CF602FC-385E-9E11-6D78-A4A4712F8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7169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A8584B-E718-4F58-9AF1-BDBF5AD7F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Heading 2"/>
          <p:cNvSpPr>
            <a:spLocks noGrp="1"/>
          </p:cNvSpPr>
          <p:nvPr>
            <p:ph type="body" sz="quarter" idx="19" hasCustomPrompt="1"/>
          </p:nvPr>
        </p:nvSpPr>
        <p:spPr>
          <a:xfrm>
            <a:off x="374903" y="1129022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5523992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Heading 4"/>
          <p:cNvSpPr>
            <a:spLocks noGrp="1"/>
          </p:cNvSpPr>
          <p:nvPr>
            <p:ph type="body" sz="quarter" idx="21" hasCustomPrompt="1"/>
          </p:nvPr>
        </p:nvSpPr>
        <p:spPr>
          <a:xfrm>
            <a:off x="6260399" y="1129022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rgbClr val="292D3A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25" name="Content Placeholder 5"/>
          <p:cNvSpPr>
            <a:spLocks noGrp="1"/>
          </p:cNvSpPr>
          <p:nvPr>
            <p:ph sz="quarter" idx="20"/>
          </p:nvPr>
        </p:nvSpPr>
        <p:spPr>
          <a:xfrm>
            <a:off x="6260021" y="1541418"/>
            <a:ext cx="5523992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1pPr>
            <a:lvl2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2pPr>
            <a:lvl3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3pPr>
            <a:lvl4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4pPr>
            <a:lvl5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C22C88C5-7051-4300-5EDA-B8F76B6C396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E2491C2-F541-BC5F-020E-D492174AC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76010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4DC083-771D-42FC-A297-31FED0158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E367876-B551-4115-B469-74C12D0C1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29" name="Heading 3">
            <a:extLst>
              <a:ext uri="{FF2B5EF4-FFF2-40B4-BE49-F238E27FC236}">
                <a16:creationId xmlns:a16="http://schemas.microsoft.com/office/drawing/2014/main" id="{4FFD9C8F-5583-4BD3-BF48-097D5D045A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1473135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888132"/>
            <a:ext cx="5523992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Heading 5">
            <a:extLst>
              <a:ext uri="{FF2B5EF4-FFF2-40B4-BE49-F238E27FC236}">
                <a16:creationId xmlns:a16="http://schemas.microsoft.com/office/drawing/2014/main" id="{0F35A58C-1284-494F-A5A7-A8680CA322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0021" y="1473135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28" name="Content Placeholder 6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888133"/>
            <a:ext cx="5523992" cy="4390746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8DD5D5E-5ECA-A659-E4D1-059428798A6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6E43B31-5871-E16A-1113-EB944FF8C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06026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AC09279-0D09-4109-A953-16A88732F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quarter" idx="17"/>
          </p:nvPr>
        </p:nvSpPr>
        <p:spPr>
          <a:xfrm>
            <a:off x="385100" y="1165860"/>
            <a:ext cx="3628711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3"/>
          <p:cNvSpPr>
            <a:spLocks noGrp="1"/>
          </p:cNvSpPr>
          <p:nvPr>
            <p:ph sz="quarter" idx="18"/>
          </p:nvPr>
        </p:nvSpPr>
        <p:spPr>
          <a:xfrm>
            <a:off x="4268787" y="1165860"/>
            <a:ext cx="3628711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4"/>
          <p:cNvSpPr>
            <a:spLocks noGrp="1"/>
          </p:cNvSpPr>
          <p:nvPr>
            <p:ph sz="quarter" idx="19"/>
          </p:nvPr>
        </p:nvSpPr>
        <p:spPr>
          <a:xfrm>
            <a:off x="8152474" y="1165860"/>
            <a:ext cx="3628711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D781A8C7-DBC3-6CA7-393A-B76EB01BD15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4F1295E-33A1-74C7-40F4-BFEBCE45B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13772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-line and Thre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93031B0-6E1E-B6BC-F704-43FCCED1C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 anchorCtr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5786B1-1D78-07AE-99E2-9ACA6A302D5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C5CFBF7C-9A9D-283B-3040-62F4E8BBA2B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CE933D73-FF2E-5038-2928-57B052E6DEC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9199F5B5-25C5-2F5D-8947-057651169F8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59F0A88-3938-1BBE-9195-0869EB1C3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413707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EF0ECA-DE60-41FE-A905-507AB710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31EBB5-21C4-4F56-9D7F-EDB7844B9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31336B0C-F91E-47D8-936F-836334818CB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F2DA2588-EB78-4045-A57D-317AA672516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1074A59D-DDE4-4FB2-838A-D5C8E7AD19E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B08A4F95-E980-ECB5-112F-5B4A2D0D770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2870AD6-BB5E-FA22-468E-D64643ACB2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320021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-line, Subtitle and Thre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93031B0-6E1E-B6BC-F704-43FCCED1C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160BF6E-DA8E-1A7C-AB98-3EE8B0248F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42626" cy="369486"/>
          </a:xfrm>
          <a:prstGeom prst="rect">
            <a:avLst/>
          </a:prstGeom>
        </p:spPr>
        <p:txBody>
          <a:bodyPr t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Optional subhead placeholder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5D01BB8-727D-8CA2-AA4D-A23CC782B59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5100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B155FBF-4BEC-C1E1-CB2C-2ED0CF71CC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65611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E1F0C114-EFF4-4AC2-300D-DD8958809D03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46122" y="1896841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73BBC2BF-0D27-EE97-15E2-3172489A9EF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E82B640-529A-9811-19CA-57585E7895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91173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EE87AE-0267-4C69-AFD6-F9C64969A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3" y="393192"/>
            <a:ext cx="11442627" cy="41549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Heading 2"/>
          <p:cNvSpPr>
            <a:spLocks noGrp="1"/>
          </p:cNvSpPr>
          <p:nvPr>
            <p:ph type="body" sz="quarter" idx="19" hasCustomPrompt="1"/>
          </p:nvPr>
        </p:nvSpPr>
        <p:spPr>
          <a:xfrm>
            <a:off x="374905" y="1142201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3"/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Heading 4"/>
          <p:cNvSpPr>
            <a:spLocks noGrp="1"/>
          </p:cNvSpPr>
          <p:nvPr>
            <p:ph type="body" sz="quarter" idx="23" hasCustomPrompt="1"/>
          </p:nvPr>
        </p:nvSpPr>
        <p:spPr>
          <a:xfrm>
            <a:off x="4276344" y="1142201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5" name="Content Placeholder 5"/>
          <p:cNvSpPr>
            <a:spLocks noGrp="1"/>
          </p:cNvSpPr>
          <p:nvPr>
            <p:ph sz="quarter" idx="18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Heading 6"/>
          <p:cNvSpPr>
            <a:spLocks noGrp="1"/>
          </p:cNvSpPr>
          <p:nvPr>
            <p:ph type="body" sz="quarter" idx="21" hasCustomPrompt="1"/>
          </p:nvPr>
        </p:nvSpPr>
        <p:spPr>
          <a:xfrm>
            <a:off x="8186492" y="1142201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6" name="Content Placeholder 7"/>
          <p:cNvSpPr>
            <a:spLocks noGrp="1"/>
          </p:cNvSpPr>
          <p:nvPr>
            <p:ph sz="quarter" idx="22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90DBD838-E55E-389E-324E-987E3489B3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F80E485-E0B0-8D60-FB9A-569C5AA7E9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22297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EF0ECA-DE60-41FE-A905-507AB710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31EBB5-21C4-4F56-9D7F-EDB7844B9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29" name="Heading 3">
            <a:extLst>
              <a:ext uri="{FF2B5EF4-FFF2-40B4-BE49-F238E27FC236}">
                <a16:creationId xmlns:a16="http://schemas.microsoft.com/office/drawing/2014/main" id="{2C5A79F9-54A7-42C3-958C-707025A751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4905" y="1490550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31" name="Content Placeholder 4">
            <a:extLst>
              <a:ext uri="{FF2B5EF4-FFF2-40B4-BE49-F238E27FC236}">
                <a16:creationId xmlns:a16="http://schemas.microsoft.com/office/drawing/2014/main" id="{31336B0C-F91E-47D8-936F-836334818CB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5100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Heading 5">
            <a:extLst>
              <a:ext uri="{FF2B5EF4-FFF2-40B4-BE49-F238E27FC236}">
                <a16:creationId xmlns:a16="http://schemas.microsoft.com/office/drawing/2014/main" id="{1E3C34FD-66F2-429D-BA98-17802C5C8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5611" y="1490550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F2DA2588-EB78-4045-A57D-317AA672516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65611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Heading 7">
            <a:extLst>
              <a:ext uri="{FF2B5EF4-FFF2-40B4-BE49-F238E27FC236}">
                <a16:creationId xmlns:a16="http://schemas.microsoft.com/office/drawing/2014/main" id="{2B395F8D-D2D6-46E9-A9E6-236C365E0B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6122" y="1499259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Content Placeholder 8">
            <a:extLst>
              <a:ext uri="{FF2B5EF4-FFF2-40B4-BE49-F238E27FC236}">
                <a16:creationId xmlns:a16="http://schemas.microsoft.com/office/drawing/2014/main" id="{1074A59D-DDE4-4FB2-838A-D5C8E7AD19E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46122" y="1896841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3E2F088-5C0B-D552-5583-1D142B559A9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6CF64A5-3DA0-AFCB-DCF9-9BB6514644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78360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AE54251-B0D2-4947-83BB-BD7F95F3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413244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two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7764AC2A-714D-48E6-8850-2398C74A5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75F6F1F-DB9C-06A9-C184-CF5F49CEF6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1C7421E-F714-51CA-09BC-6632C66777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42375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1D03-EF6B-45A2-9268-5A807C7A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1AE6212-DACF-49FB-929D-2FA8B00CFD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3A4466B-6230-7EB6-5A32-83ABCAD0DC5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45001CA-7E97-B77F-B4DD-FC99BC3F3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60378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, two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5535819F-7681-4776-AE9B-BEAB22E80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957406C-CA6F-47F8-9FC9-A15BE313C4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42626" cy="369486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AFB48-7218-4A49-8C9C-891144C1538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89AC790-4925-6164-96B7-306C81A496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03179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1C1C31-7119-4D9E-8DED-87033B4B0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7470648" cy="5096460"/>
          </a:xfrm>
          <a:prstGeom prst="rect">
            <a:avLst/>
          </a:prstGeom>
          <a:ln>
            <a:noFill/>
            <a:miter lim="800000"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84DB124-5DB1-4AD3-9276-D81D2209D17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294255" y="999540"/>
            <a:ext cx="3479038" cy="5100531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3186F-3885-5DE5-8FA5-6CD9D9747D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5494C27-757D-C0F4-D8B1-8E72C3F7C5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33442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DA0A33-9CC4-4DCC-85C5-5D814DA5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48EE7C4-611A-445E-A636-05C3A89474E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5562600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F3BA045-26B3-4E52-9906-6D3BA8787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904" y="4181475"/>
            <a:ext cx="5564990" cy="1984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FE93BF0-E1B7-4E00-B095-E182346B5D7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22013" y="985963"/>
            <a:ext cx="5562000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A3D17EC-2963-45F0-9DC4-19C039BA81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19023" y="4131540"/>
            <a:ext cx="5564990" cy="2034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7F4CAAFC-7C73-8B7A-5AEF-933F0A6EB319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2B2D724-2981-C220-4155-2CAFD6422B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47419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DA0A33-9CC4-4DCC-85C5-5D814DA5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379447" y="999540"/>
            <a:ext cx="3678308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F3BA045-26B3-4E52-9906-6D3BA8787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904" y="4184650"/>
            <a:ext cx="3684404" cy="19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 marL="540000" indent="0">
              <a:buNone/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4239004" y="999540"/>
            <a:ext cx="3678308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A3D17EC-2963-45F0-9DC4-19C039BA81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32908" y="4184650"/>
            <a:ext cx="3684404" cy="19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6"/>
          <p:cNvSpPr>
            <a:spLocks noGrp="1"/>
          </p:cNvSpPr>
          <p:nvPr>
            <p:ph type="pic" sz="quarter" idx="22" hasCustomPrompt="1"/>
          </p:nvPr>
        </p:nvSpPr>
        <p:spPr>
          <a:xfrm>
            <a:off x="8097009" y="999540"/>
            <a:ext cx="3678308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5BD124-6171-43C5-8405-25101FA6FB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90912" y="4184650"/>
            <a:ext cx="3684405" cy="19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C087F768-80AD-E284-7CB0-AA45A8DB30A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6FA1B6A-5922-A871-D289-89399F08C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31632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urp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rgbClr val="292D3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B045ACD-D682-9F85-8976-3DE690571A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" panose="020B0604020202020204" pitchFamily="34" charset="0"/>
              <a:buNone/>
              <a:defRPr sz="2000" baseline="0" dirty="0">
                <a:solidFill>
                  <a:srgbClr val="292D3A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74905" y="1541418"/>
            <a:ext cx="3393532" cy="4729842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4"/>
          <p:cNvSpPr>
            <a:spLocks noGrp="1"/>
          </p:cNvSpPr>
          <p:nvPr>
            <p:ph sz="quarter" idx="13"/>
          </p:nvPr>
        </p:nvSpPr>
        <p:spPr>
          <a:xfrm>
            <a:off x="4100945" y="1533798"/>
            <a:ext cx="7707937" cy="4737462"/>
          </a:xfrm>
          <a:prstGeom prst="rect">
            <a:avLst/>
          </a:prstGeom>
        </p:spPr>
        <p:txBody>
          <a:bodyPr lIns="0" tIns="45720" rIns="0" bIns="45720" anchor="ctr"/>
          <a:lstStyle>
            <a:lvl1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66BA11A-FF4F-0B31-22B7-B062F5B3F9B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3420CC5-C5CA-8888-B75A-64CC1468D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403909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icture and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B5CDF8B-3973-89BC-B0C3-0099168110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3462615" cy="841248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pl-PL" dirty="0"/>
              <a:t>Title and</a:t>
            </a:r>
            <a:br>
              <a:rPr lang="pl-PL" dirty="0"/>
            </a:br>
            <a:r>
              <a:rPr lang="pl-PL" dirty="0"/>
              <a:t>content only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192AB6B-CCDC-C9ED-9B4D-B9B1DAE2FC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4905" y="1541418"/>
            <a:ext cx="3462614" cy="4729842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3D244D9-326C-937C-4B8E-43F52273E3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/>
          </p:nvPr>
        </p:nvSpPr>
        <p:spPr>
          <a:xfrm>
            <a:off x="4210050" y="0"/>
            <a:ext cx="798195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Number Text Placeholder 4">
            <a:extLst>
              <a:ext uri="{FF2B5EF4-FFF2-40B4-BE49-F238E27FC236}">
                <a16:creationId xmlns:a16="http://schemas.microsoft.com/office/drawing/2014/main" id="{C8956EBD-8393-95D1-85FB-895F28E855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94255" y="4073237"/>
            <a:ext cx="3897745" cy="2784764"/>
          </a:xfrm>
          <a:prstGeom prst="rect">
            <a:avLst/>
          </a:prstGeom>
          <a:gradFill flip="none" rotWithShape="1">
            <a:gsLst>
              <a:gs pos="14000">
                <a:srgbClr val="05CC93"/>
              </a:gs>
              <a:gs pos="39000">
                <a:srgbClr val="05CC93">
                  <a:alpha val="80353"/>
                </a:srgbClr>
              </a:gs>
              <a:gs pos="85000">
                <a:schemeClr val="bg1">
                  <a:alpha val="0"/>
                </a:schemeClr>
              </a:gs>
            </a:gsLst>
            <a:lin ang="2700000" scaled="1"/>
            <a:tileRect/>
          </a:gradFill>
        </p:spPr>
        <p:txBody>
          <a:bodyPr vert="horz" lIns="274320" tIns="274320" rIns="182880" bIns="182880" rtlCol="0">
            <a:noAutofit/>
          </a:bodyPr>
          <a:lstStyle>
            <a:lvl1pPr>
              <a:defRPr lang="en-US" sz="6000" dirty="0">
                <a:solidFill>
                  <a:schemeClr val="tx1"/>
                </a:solidFill>
                <a:latin typeface="HPE Graphik Light" pitchFamily="50" charset="0"/>
              </a:defRPr>
            </a:lvl1pPr>
            <a:lvl2pPr>
              <a:defRPr lang="en-US" dirty="0">
                <a:solidFill>
                  <a:sysClr val="windowText" lastClr="000000"/>
                </a:solidFill>
              </a:defRPr>
            </a:lvl2pPr>
          </a:lstStyle>
          <a:p>
            <a:pPr lvl="0">
              <a:lnSpc>
                <a:spcPct val="90000"/>
              </a:lnSpc>
            </a:pPr>
            <a:r>
              <a:rPr lang="en-US" dirty="0"/>
              <a:t>XX%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65D24DA-8A81-CB0A-0EE3-30119C813D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86788" y="5251730"/>
            <a:ext cx="3230307" cy="88538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32D4E478-B9A3-DF0A-2BC5-A31D39827A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876A96F-BB2A-A9EB-86B5-C35B6CB17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03956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136B64A-A8CA-B4F8-1ED1-53DA9C290E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20F7ADC-77F1-4B25-80A7-F1C39BC1AF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19141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96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ge-To-Edge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  <a:miter lim="800000"/>
          </a:ln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1FA49D1-EA5E-4BDC-03EF-986C3CB3B92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C6D0715-02DB-7345-5C8C-8829A6BF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82853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, Quote or Statem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58C0B22-3DC2-E652-E265-9A67A96AF6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0224"/>
            <a:ext cx="10098780" cy="847538"/>
          </a:xfrm>
        </p:spPr>
        <p:txBody>
          <a:bodyPr/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idea statement single line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C303F11-128A-0352-F6B9-03E0CB827C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3E27C0-EEF0-F8B4-2694-38A0A74B5E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650" y="3428999"/>
            <a:ext cx="10098781" cy="140425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copy. Do not use this layout with diagrams or photography.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6005381-460F-C5B4-88A5-7E57F5FEE8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DD1A08-5BF8-6531-F4D0-CDD96BEB99EF}"/>
              </a:ext>
            </a:extLst>
          </p:cNvPr>
          <p:cNvSpPr/>
          <p:nvPr userDrawn="1"/>
        </p:nvSpPr>
        <p:spPr>
          <a:xfrm>
            <a:off x="346367" y="6316813"/>
            <a:ext cx="1294863" cy="315835"/>
          </a:xfrm>
          <a:prstGeom prst="rect">
            <a:avLst/>
          </a:prstGeom>
          <a:solidFill>
            <a:srgbClr val="2B47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C4202AC8-26E0-1461-236F-A057193D35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16212" y="6409719"/>
            <a:ext cx="455083" cy="1300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2D8B1FC-21B7-9540-E996-D71AA3A67D84}"/>
              </a:ext>
            </a:extLst>
          </p:cNvPr>
          <p:cNvSpPr txBox="1"/>
          <p:nvPr userDrawn="1"/>
        </p:nvSpPr>
        <p:spPr>
          <a:xfrm>
            <a:off x="930562" y="6515100"/>
            <a:ext cx="0" cy="0"/>
          </a:xfrm>
          <a:prstGeom prst="rect">
            <a:avLst/>
          </a:prstGeom>
          <a:noFill/>
        </p:spPr>
        <p:txBody>
          <a:bodyPr wrap="none" lIns="90170" tIns="90170" rIns="90170" bIns="90170" rtlCol="0">
            <a:noAutofit/>
          </a:bodyPr>
          <a:lstStyle/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72F930-546B-63E2-243D-B3F47635A2AD}"/>
              </a:ext>
            </a:extLst>
          </p:cNvPr>
          <p:cNvSpPr txBox="1"/>
          <p:nvPr userDrawn="1"/>
        </p:nvSpPr>
        <p:spPr>
          <a:xfrm>
            <a:off x="498762" y="6480175"/>
            <a:ext cx="0" cy="0"/>
          </a:xfrm>
          <a:prstGeom prst="rect">
            <a:avLst/>
          </a:prstGeom>
          <a:noFill/>
        </p:spPr>
        <p:txBody>
          <a:bodyPr wrap="none" lIns="90170" tIns="90170" rIns="90170" bIns="90170" rtlCol="0">
            <a:noAutofit/>
          </a:bodyPr>
          <a:lstStyle/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F9757-8DD6-CF44-3DFE-B3B36690F5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2843" t="62"/>
          <a:stretch>
            <a:fillRect/>
          </a:stretch>
        </p:blipFill>
        <p:spPr>
          <a:xfrm>
            <a:off x="1216272" y="6344307"/>
            <a:ext cx="458914" cy="29217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FFB928-6870-9A88-33FC-BF1E606ACFDA}"/>
              </a:ext>
            </a:extLst>
          </p:cNvPr>
          <p:cNvCxnSpPr>
            <a:cxnSpLocks/>
          </p:cNvCxnSpPr>
          <p:nvPr userDrawn="1"/>
        </p:nvCxnSpPr>
        <p:spPr>
          <a:xfrm>
            <a:off x="1063718" y="6383260"/>
            <a:ext cx="0" cy="19790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22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, Quote or Statem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615"/>
            <a:ext cx="9416520" cy="2306296"/>
          </a:xfrm>
        </p:spPr>
        <p:txBody>
          <a:bodyPr/>
          <a:lstStyle>
            <a:lvl1pPr>
              <a:lnSpc>
                <a:spcPct val="85000"/>
              </a:lnSpc>
              <a:defRPr sz="5500" b="0" i="0">
                <a:solidFill>
                  <a:schemeClr val="bg1"/>
                </a:solidFill>
                <a:latin typeface="HPE Graphik Light" pitchFamily="2" charset="77"/>
              </a:defRPr>
            </a:lvl1pPr>
          </a:lstStyle>
          <a:p>
            <a:r>
              <a:rPr lang="en-US" dirty="0"/>
              <a:t>Big idea statement or section header with multiple lines can be placed here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742BF92-646B-24E1-901E-D19598CBBE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7D654A9-32C9-5C22-8AA5-A6ADBEED26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4E2A87-38CC-A894-18EA-25AF57A67142}"/>
              </a:ext>
            </a:extLst>
          </p:cNvPr>
          <p:cNvSpPr/>
          <p:nvPr userDrawn="1"/>
        </p:nvSpPr>
        <p:spPr>
          <a:xfrm>
            <a:off x="346367" y="6316813"/>
            <a:ext cx="1667927" cy="315835"/>
          </a:xfrm>
          <a:prstGeom prst="rect">
            <a:avLst/>
          </a:prstGeom>
          <a:solidFill>
            <a:srgbClr val="282D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4A0DD8CD-1D21-6982-CAFE-8C09FCABB0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16212" y="6409719"/>
            <a:ext cx="455083" cy="1300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72CF6D-39EE-A223-8B56-E544B62CE18F}"/>
              </a:ext>
            </a:extLst>
          </p:cNvPr>
          <p:cNvSpPr txBox="1"/>
          <p:nvPr userDrawn="1"/>
        </p:nvSpPr>
        <p:spPr>
          <a:xfrm>
            <a:off x="930562" y="6515100"/>
            <a:ext cx="0" cy="0"/>
          </a:xfrm>
          <a:prstGeom prst="rect">
            <a:avLst/>
          </a:prstGeom>
          <a:noFill/>
        </p:spPr>
        <p:txBody>
          <a:bodyPr wrap="none" lIns="90170" tIns="90170" rIns="90170" bIns="90170" rtlCol="0">
            <a:noAutofit/>
          </a:bodyPr>
          <a:lstStyle/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09EBC9-E7D5-A6D7-1A40-AC850A6AD299}"/>
              </a:ext>
            </a:extLst>
          </p:cNvPr>
          <p:cNvSpPr txBox="1"/>
          <p:nvPr userDrawn="1"/>
        </p:nvSpPr>
        <p:spPr>
          <a:xfrm>
            <a:off x="498762" y="6480175"/>
            <a:ext cx="0" cy="0"/>
          </a:xfrm>
          <a:prstGeom prst="rect">
            <a:avLst/>
          </a:prstGeom>
          <a:noFill/>
        </p:spPr>
        <p:txBody>
          <a:bodyPr wrap="none" lIns="90170" tIns="90170" rIns="90170" bIns="90170" rtlCol="0">
            <a:noAutofit/>
          </a:bodyPr>
          <a:lstStyle/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B2EE66-5C8F-3900-DDE9-BBE5FBBF1F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2843" t="62"/>
          <a:stretch>
            <a:fillRect/>
          </a:stretch>
        </p:blipFill>
        <p:spPr>
          <a:xfrm>
            <a:off x="1216272" y="6344307"/>
            <a:ext cx="458914" cy="29217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AF896F-AAAE-115A-70C7-7207079E0B2C}"/>
              </a:ext>
            </a:extLst>
          </p:cNvPr>
          <p:cNvCxnSpPr>
            <a:cxnSpLocks/>
          </p:cNvCxnSpPr>
          <p:nvPr userDrawn="1"/>
        </p:nvCxnSpPr>
        <p:spPr>
          <a:xfrm>
            <a:off x="1063718" y="6383260"/>
            <a:ext cx="0" cy="19790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148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, Quote or Statem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615"/>
            <a:ext cx="9416520" cy="2306296"/>
          </a:xfrm>
        </p:spPr>
        <p:txBody>
          <a:bodyPr/>
          <a:lstStyle>
            <a:lvl1pPr>
              <a:lnSpc>
                <a:spcPct val="85000"/>
              </a:lnSpc>
              <a:defRPr sz="5500" b="0" i="0">
                <a:solidFill>
                  <a:schemeClr val="bg1"/>
                </a:solidFill>
                <a:latin typeface="HPE Graphik Light" pitchFamily="2" charset="77"/>
              </a:defRPr>
            </a:lvl1pPr>
          </a:lstStyle>
          <a:p>
            <a:r>
              <a:rPr lang="en-US" dirty="0"/>
              <a:t>Big idea statement or section header with multiple lines can be placed here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742BF92-646B-24E1-901E-D19598CBBE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5FD49EC-43F1-8865-80E3-D9ED5C400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F06987-BE46-F8DE-D0A5-B89D3C6F5211}"/>
              </a:ext>
            </a:extLst>
          </p:cNvPr>
          <p:cNvSpPr/>
          <p:nvPr userDrawn="1"/>
        </p:nvSpPr>
        <p:spPr>
          <a:xfrm>
            <a:off x="346367" y="6316813"/>
            <a:ext cx="1667927" cy="315835"/>
          </a:xfrm>
          <a:prstGeom prst="rect">
            <a:avLst/>
          </a:prstGeom>
          <a:solidFill>
            <a:srgbClr val="1150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81A51FF8-138F-C178-1A2E-D09025C31D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16212" y="6409719"/>
            <a:ext cx="455083" cy="13002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8441F4-883A-1DA4-66DE-92C4C2DDBE45}"/>
              </a:ext>
            </a:extLst>
          </p:cNvPr>
          <p:cNvCxnSpPr>
            <a:cxnSpLocks/>
          </p:cNvCxnSpPr>
          <p:nvPr userDrawn="1"/>
        </p:nvCxnSpPr>
        <p:spPr>
          <a:xfrm>
            <a:off x="1063718" y="6383260"/>
            <a:ext cx="0" cy="19790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A244250-65A1-F282-DA86-D049919A7527}"/>
              </a:ext>
            </a:extLst>
          </p:cNvPr>
          <p:cNvSpPr txBox="1"/>
          <p:nvPr userDrawn="1"/>
        </p:nvSpPr>
        <p:spPr>
          <a:xfrm>
            <a:off x="930562" y="6515100"/>
            <a:ext cx="0" cy="0"/>
          </a:xfrm>
          <a:prstGeom prst="rect">
            <a:avLst/>
          </a:prstGeom>
          <a:noFill/>
        </p:spPr>
        <p:txBody>
          <a:bodyPr wrap="none" lIns="90170" tIns="90170" rIns="90170" bIns="90170" rtlCol="0">
            <a:noAutofit/>
          </a:bodyPr>
          <a:lstStyle/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FC626E-D14A-526B-8FDD-3EE1D859F901}"/>
              </a:ext>
            </a:extLst>
          </p:cNvPr>
          <p:cNvSpPr txBox="1"/>
          <p:nvPr userDrawn="1"/>
        </p:nvSpPr>
        <p:spPr>
          <a:xfrm>
            <a:off x="498762" y="6480175"/>
            <a:ext cx="0" cy="0"/>
          </a:xfrm>
          <a:prstGeom prst="rect">
            <a:avLst/>
          </a:prstGeom>
          <a:noFill/>
        </p:spPr>
        <p:txBody>
          <a:bodyPr wrap="none" lIns="90170" tIns="90170" rIns="90170" bIns="90170" rtlCol="0">
            <a:noAutofit/>
          </a:bodyPr>
          <a:lstStyle/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3CBD137-E8F4-85A2-A1EE-F15438EACFF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2843" t="62"/>
          <a:stretch>
            <a:fillRect/>
          </a:stretch>
        </p:blipFill>
        <p:spPr>
          <a:xfrm>
            <a:off x="1216272" y="6344307"/>
            <a:ext cx="458914" cy="29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08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B2CDC00-5B37-BE1C-550C-F0774AF95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0224"/>
            <a:ext cx="10098780" cy="847538"/>
          </a:xfrm>
        </p:spPr>
        <p:txBody>
          <a:bodyPr/>
          <a:lstStyle>
            <a:lvl1pPr>
              <a:defRPr sz="5500"/>
            </a:lvl1pPr>
          </a:lstStyle>
          <a:p>
            <a:r>
              <a:rPr lang="en-US" dirty="0"/>
              <a:t>Big idea statement single line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BD784A7-2DD7-80EE-047F-D63021A326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168886D-58BF-8F1A-8875-88092F3DA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86552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4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288"/>
            <a:ext cx="9457413" cy="2304288"/>
          </a:xfrm>
        </p:spPr>
        <p:txBody>
          <a:bodyPr/>
          <a:lstStyle>
            <a:lvl1pPr>
              <a:lnSpc>
                <a:spcPct val="85000"/>
              </a:lnSpc>
              <a:defRPr sz="5500" b="0" i="0">
                <a:solidFill>
                  <a:schemeClr val="tx1"/>
                </a:solidFill>
                <a:latin typeface="HPE Graphik Light" pitchFamily="2" charset="77"/>
              </a:defRPr>
            </a:lvl1pPr>
          </a:lstStyle>
          <a:p>
            <a:r>
              <a:rPr lang="en-US" dirty="0"/>
              <a:t>Big idea statement or section header with multiple lines can be placed here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FCAEB46-BF54-E6AC-203B-DC671344E5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59722E2-E567-EB2E-35EA-7EDAE60E9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358287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5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254" y="374650"/>
            <a:ext cx="4062159" cy="3553883"/>
          </a:xfrm>
        </p:spPr>
        <p:txBody>
          <a:bodyPr anchor="t"/>
          <a:lstStyle>
            <a:lvl1pPr>
              <a:lnSpc>
                <a:spcPct val="90000"/>
              </a:lnSpc>
              <a:defRPr sz="4000" b="0" i="0">
                <a:solidFill>
                  <a:schemeClr val="tx1"/>
                </a:solidFill>
                <a:latin typeface="HPE Graphik Light" pitchFamily="2" charset="77"/>
              </a:defRPr>
            </a:lvl1pPr>
          </a:lstStyle>
          <a:p>
            <a:r>
              <a:rPr lang="en-US" dirty="0"/>
              <a:t>Big idea</a:t>
            </a:r>
            <a:br>
              <a:rPr lang="en-US" dirty="0"/>
            </a:br>
            <a:r>
              <a:rPr lang="en-US" dirty="0"/>
              <a:t>statement with</a:t>
            </a:r>
            <a:br>
              <a:rPr lang="en-US" dirty="0"/>
            </a:br>
            <a:r>
              <a:rPr lang="en-US" dirty="0"/>
              <a:t>multiple lines</a:t>
            </a:r>
            <a:br>
              <a:rPr lang="en-US" dirty="0"/>
            </a:br>
            <a:r>
              <a:rPr lang="en-US" dirty="0"/>
              <a:t>placed here</a:t>
            </a:r>
            <a:br>
              <a:rPr lang="en-US" dirty="0"/>
            </a:br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3DAEC1C-FBEC-C5AF-4FAC-F67E7EBEFD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0509795-244B-9AC7-ACD4-0F68A26FD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324152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6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289"/>
            <a:ext cx="5676900" cy="374726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5000" b="0" i="0">
                <a:solidFill>
                  <a:schemeClr val="tx1"/>
                </a:solidFill>
                <a:latin typeface="HPE Graphik Light" pitchFamily="2" charset="77"/>
              </a:defRPr>
            </a:lvl1pPr>
          </a:lstStyle>
          <a:p>
            <a:pPr algn="l"/>
            <a:r>
              <a:rPr lang="en-US" dirty="0"/>
              <a:t>Big idea statement with multiple lines placed here</a:t>
            </a:r>
            <a:br>
              <a:rPr lang="en-US" dirty="0"/>
            </a:br>
            <a:r>
              <a:rPr lang="en-US" dirty="0"/>
              <a:t>lorem ipsum dolor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A51A1E7-04E9-D26E-A5C3-735AE6D398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761F57-B508-8E8A-74A2-5F0AAD4F7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65723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56764AC-9C6B-4C1D-BE2B-C4E8A087CA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374903" y="2449576"/>
            <a:ext cx="8188525" cy="875899"/>
          </a:xfrm>
        </p:spPr>
        <p:txBody>
          <a:bodyPr lIns="0" tIns="0" rIns="0" bIns="0" anchor="b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5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</a:t>
            </a:r>
            <a:r>
              <a:rPr lang="pl-PL" dirty="0"/>
              <a:t>ou</a:t>
            </a:r>
            <a:endParaRPr lang="en-US" dirty="0"/>
          </a:p>
        </p:txBody>
      </p:sp>
      <p:sp>
        <p:nvSpPr>
          <p:cNvPr id="17" name="Speaker Information 2">
            <a:extLst>
              <a:ext uri="{FF2B5EF4-FFF2-40B4-BE49-F238E27FC236}">
                <a16:creationId xmlns:a16="http://schemas.microsoft.com/office/drawing/2014/main" id="{6BDD934D-C46A-42E7-82F9-E43F9A3604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83433" y="3392391"/>
            <a:ext cx="8188525" cy="876300"/>
          </a:xfrm>
          <a:prstGeom prst="rect">
            <a:avLst/>
          </a:prstGeom>
        </p:spPr>
        <p:txBody>
          <a:bodyPr lIns="0" tIns="45720" rIns="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Speaker contact information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8F29566-5470-D3D8-0F61-D70F81B7E5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>
          <a:xfrm>
            <a:off x="5592973" y="6192760"/>
            <a:ext cx="6217666" cy="1905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A720469-4E8E-4F55-96D3-10560B4717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© </a:t>
            </a:r>
            <a:fld id="{DA3777BF-A1C6-4F92-A9EA-7320C98A4638}" type="datetimeyyyy">
              <a:rPr lang="en-US" sz="900" smtClean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pPr algn="r"/>
              <a:t>2026</a:t>
            </a:fld>
            <a:r>
              <a:rPr lang="en-US" sz="9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Hewlett Packard Enterprise Development LP</a:t>
            </a:r>
          </a:p>
        </p:txBody>
      </p:sp>
    </p:spTree>
    <p:extLst>
      <p:ext uri="{BB962C8B-B14F-4D97-AF65-F5344CB8AC3E}">
        <p14:creationId xmlns:p14="http://schemas.microsoft.com/office/powerpoint/2010/main" val="315308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with Light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Element 1" descr="A green and grey gradient&#10;&#10;AI-generated content may be incorrect.">
            <a:extLst>
              <a:ext uri="{FF2B5EF4-FFF2-40B4-BE49-F238E27FC236}">
                <a16:creationId xmlns:a16="http://schemas.microsoft.com/office/drawing/2014/main" id="{DE9F31A4-7BA9-4409-0FF0-FF9FD06F3D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68339"/>
            <a:ext cx="10819505" cy="4114800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ED5DFE24-7967-7D11-937E-63FD38BAB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3" y="2449576"/>
            <a:ext cx="9359900" cy="875899"/>
          </a:xfrm>
        </p:spPr>
        <p:txBody>
          <a:bodyPr lIns="0" tIns="0" rIns="0" bIns="0" anchor="b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5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</a:t>
            </a:r>
            <a:r>
              <a:rPr lang="pl-PL" dirty="0"/>
              <a:t>ou</a:t>
            </a:r>
            <a:r>
              <a:rPr lang="en-US" dirty="0"/>
              <a:t> (</a:t>
            </a:r>
            <a:r>
              <a:rPr lang="pl-PL" dirty="0"/>
              <a:t>light</a:t>
            </a:r>
            <a:r>
              <a:rPr lang="en-US" dirty="0"/>
              <a:t> picture)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2085280-0B62-84D3-5783-A089C9A32C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432" y="3392391"/>
            <a:ext cx="9359900" cy="876300"/>
          </a:xfrm>
          <a:prstGeom prst="rect">
            <a:avLst/>
          </a:prstGeom>
        </p:spPr>
        <p:txBody>
          <a:bodyPr lIns="0" tIns="45720" rIns="0" bIns="4572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Speaker contact information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66ECF0A-4D7E-CA75-6327-AA0FF80CF9A4}"/>
              </a:ext>
            </a:extLst>
          </p:cNvPr>
          <p:cNvSpPr txBox="1"/>
          <p:nvPr userDrawn="1"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© </a:t>
            </a:r>
            <a:fld id="{DA3777BF-A1C6-4F92-A9EA-7320C98A4638}" type="datetimeyyyy">
              <a:rPr lang="en-US" sz="900" smtClean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pPr algn="r"/>
              <a:t>2026</a:t>
            </a:fld>
            <a:r>
              <a:rPr lang="en-US" sz="9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Hewlett Packard Enterprise Development LP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862AF-69AB-2465-8EE4-A54D49DDC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592973" y="6192760"/>
            <a:ext cx="6217666" cy="1905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9803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B27A8F-2EB3-5C4C-116B-F51B07B04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Master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A64CBEA-C99F-E716-C2DF-19C5C70EA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903" y="1165860"/>
            <a:ext cx="11433977" cy="50976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93010-F41B-ECDA-CB62-6D856FECA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0D10577-C65C-3887-7B41-7E296D328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1BDEFCB-719F-A7AA-5250-346F35183E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74903" y="6462651"/>
            <a:ext cx="527558" cy="15073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623890-6C5C-8C1F-8210-5361EC5D9B95}"/>
              </a:ext>
            </a:extLst>
          </p:cNvPr>
          <p:cNvCxnSpPr>
            <a:cxnSpLocks/>
          </p:cNvCxnSpPr>
          <p:nvPr userDrawn="1"/>
        </p:nvCxnSpPr>
        <p:spPr>
          <a:xfrm>
            <a:off x="1031333" y="6443868"/>
            <a:ext cx="0" cy="18829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7E6F15C-C8E7-C037-7BCA-400F9D9E0EEE}"/>
              </a:ext>
            </a:extLst>
          </p:cNvPr>
          <p:cNvPicPr>
            <a:picLocks noChangeAspect="1"/>
          </p:cNvPicPr>
          <p:nvPr userDrawn="1"/>
        </p:nvPicPr>
        <p:blipFill>
          <a:blip r:embed="rId51"/>
          <a:srcRect l="31243" t="4642"/>
          <a:stretch>
            <a:fillRect/>
          </a:stretch>
        </p:blipFill>
        <p:spPr>
          <a:xfrm>
            <a:off x="1110333" y="6383032"/>
            <a:ext cx="478144" cy="30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9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821" r:id="rId4"/>
    <p:sldLayoutId id="2147483654" r:id="rId5"/>
    <p:sldLayoutId id="2147483822" r:id="rId6"/>
    <p:sldLayoutId id="2147483656" r:id="rId7"/>
    <p:sldLayoutId id="2147483657" r:id="rId8"/>
    <p:sldLayoutId id="2147483658" r:id="rId9"/>
    <p:sldLayoutId id="2147483659" r:id="rId10"/>
    <p:sldLayoutId id="2147483845" r:id="rId11"/>
    <p:sldLayoutId id="2147483846" r:id="rId12"/>
    <p:sldLayoutId id="2147483797" r:id="rId13"/>
    <p:sldLayoutId id="2147483661" r:id="rId14"/>
    <p:sldLayoutId id="2147483796" r:id="rId15"/>
    <p:sldLayoutId id="2147483799" r:id="rId16"/>
    <p:sldLayoutId id="2147483802" r:id="rId17"/>
    <p:sldLayoutId id="2147483800" r:id="rId18"/>
    <p:sldLayoutId id="2147483801" r:id="rId19"/>
    <p:sldLayoutId id="2147483806" r:id="rId20"/>
    <p:sldLayoutId id="2147483807" r:id="rId21"/>
    <p:sldLayoutId id="2147483812" r:id="rId22"/>
    <p:sldLayoutId id="2147483665" r:id="rId23"/>
    <p:sldLayoutId id="2147483816" r:id="rId24"/>
    <p:sldLayoutId id="2147483662" r:id="rId25"/>
    <p:sldLayoutId id="2147483813" r:id="rId26"/>
    <p:sldLayoutId id="2147483817" r:id="rId27"/>
    <p:sldLayoutId id="2147483808" r:id="rId28"/>
    <p:sldLayoutId id="2147483810" r:id="rId29"/>
    <p:sldLayoutId id="2147483809" r:id="rId30"/>
    <p:sldLayoutId id="2147483811" r:id="rId31"/>
    <p:sldLayoutId id="2147483839" r:id="rId32"/>
    <p:sldLayoutId id="2147483829" r:id="rId33"/>
    <p:sldLayoutId id="2147483832" r:id="rId34"/>
    <p:sldLayoutId id="2147483837" r:id="rId35"/>
    <p:sldLayoutId id="2147483747" r:id="rId36"/>
    <p:sldLayoutId id="2147483673" r:id="rId37"/>
    <p:sldLayoutId id="2147483674" r:id="rId38"/>
    <p:sldLayoutId id="2147483842" r:id="rId39"/>
    <p:sldLayoutId id="2147483847" r:id="rId40"/>
    <p:sldLayoutId id="2147483849" r:id="rId41"/>
    <p:sldLayoutId id="2147483850" r:id="rId42"/>
    <p:sldLayoutId id="2147483684" r:id="rId43"/>
    <p:sldLayoutId id="2147483685" r:id="rId44"/>
    <p:sldLayoutId id="2147483686" r:id="rId45"/>
    <p:sldLayoutId id="2147483687" r:id="rId46"/>
    <p:sldLayoutId id="2147483804" r:id="rId47"/>
    <p:sldLayoutId id="2147483824" r:id="rId4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lnSpc>
          <a:spcPct val="100000"/>
        </a:lnSpc>
        <a:spcBef>
          <a:spcPts val="600"/>
        </a:spcBef>
        <a:buFont typeface="HPE Graphik" pitchFamily="50" charset="0"/>
        <a:buChar char="—"/>
        <a:tabLst>
          <a:tab pos="266700" algn="l"/>
        </a:tabLst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7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>
          <a:tab pos="1436688" algn="l"/>
        </a:tabLst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10000" indent="-27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95750" indent="-285750" algn="l" defTabSz="914400" rtl="0" eaLnBrk="1" latinLnBrk="0" hangingPunct="1">
        <a:lnSpc>
          <a:spcPct val="90000"/>
        </a:lnSpc>
        <a:spcBef>
          <a:spcPts val="600"/>
        </a:spcBef>
        <a:buClrTx/>
        <a:buFontTx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orient="horz" pos="2160">
          <p15:clr>
            <a:srgbClr val="F26B43"/>
          </p15:clr>
        </p15:guide>
        <p15:guide id="49" pos="3840">
          <p15:clr>
            <a:srgbClr val="F26B43"/>
          </p15:clr>
        </p15:guide>
        <p15:guide id="51" pos="236">
          <p15:clr>
            <a:srgbClr val="F26B43"/>
          </p15:clr>
        </p15:guide>
        <p15:guide id="52" pos="7439">
          <p15:clr>
            <a:srgbClr val="F26B43"/>
          </p15:clr>
        </p15:guide>
        <p15:guide id="53" orient="horz" pos="236">
          <p15:clr>
            <a:srgbClr val="F26B43"/>
          </p15:clr>
        </p15:guide>
        <p15:guide id="54" orient="horz" pos="4128">
          <p15:clr>
            <a:srgbClr val="F26B43"/>
          </p15:clr>
        </p15:guide>
        <p15:guide id="55" orient="horz" pos="3812">
          <p15:clr>
            <a:srgbClr val="F26B43"/>
          </p15:clr>
        </p15:guide>
        <p15:guide id="57" orient="horz" pos="1210">
          <p15:clr>
            <a:srgbClr val="F26B43"/>
          </p15:clr>
        </p15:guide>
        <p15:guide id="63" pos="796">
          <p15:clr>
            <a:srgbClr val="F26B43"/>
          </p15:clr>
        </p15:guide>
        <p15:guide id="64" pos="844">
          <p15:clr>
            <a:srgbClr val="F26B43"/>
          </p15:clr>
        </p15:guide>
        <p15:guide id="65" pos="1400">
          <p15:clr>
            <a:srgbClr val="F26B43"/>
          </p15:clr>
        </p15:guide>
        <p15:guide id="66" pos="1444">
          <p15:clr>
            <a:srgbClr val="F26B43"/>
          </p15:clr>
        </p15:guide>
        <p15:guide id="67" pos="2004">
          <p15:clr>
            <a:srgbClr val="F26B43"/>
          </p15:clr>
        </p15:guide>
        <p15:guide id="68" pos="2048">
          <p15:clr>
            <a:srgbClr val="F26B43"/>
          </p15:clr>
        </p15:guide>
        <p15:guide id="69" pos="2608">
          <p15:clr>
            <a:srgbClr val="F26B43"/>
          </p15:clr>
        </p15:guide>
        <p15:guide id="70" pos="2656">
          <p15:clr>
            <a:srgbClr val="F26B43"/>
          </p15:clr>
        </p15:guide>
        <p15:guide id="71" pos="3208">
          <p15:clr>
            <a:srgbClr val="F26B43"/>
          </p15:clr>
        </p15:guide>
        <p15:guide id="72" pos="3256">
          <p15:clr>
            <a:srgbClr val="F26B43"/>
          </p15:clr>
        </p15:guide>
        <p15:guide id="73" pos="3812">
          <p15:clr>
            <a:srgbClr val="F26B43"/>
          </p15:clr>
        </p15:guide>
        <p15:guide id="74" pos="3864">
          <p15:clr>
            <a:srgbClr val="F26B43"/>
          </p15:clr>
        </p15:guide>
        <p15:guide id="75" pos="4416">
          <p15:clr>
            <a:srgbClr val="F26B43"/>
          </p15:clr>
        </p15:guide>
        <p15:guide id="76" pos="4468">
          <p15:clr>
            <a:srgbClr val="F26B43"/>
          </p15:clr>
        </p15:guide>
        <p15:guide id="77" pos="5020">
          <p15:clr>
            <a:srgbClr val="F26B43"/>
          </p15:clr>
        </p15:guide>
        <p15:guide id="78" pos="5068">
          <p15:clr>
            <a:srgbClr val="F26B43"/>
          </p15:clr>
        </p15:guide>
        <p15:guide id="79" pos="5624">
          <p15:clr>
            <a:srgbClr val="F26B43"/>
          </p15:clr>
        </p15:guide>
        <p15:guide id="80" pos="5676">
          <p15:clr>
            <a:srgbClr val="F26B43"/>
          </p15:clr>
        </p15:guide>
        <p15:guide id="81" pos="6232">
          <p15:clr>
            <a:srgbClr val="F26B43"/>
          </p15:clr>
        </p15:guide>
        <p15:guide id="82" pos="6280">
          <p15:clr>
            <a:srgbClr val="F26B43"/>
          </p15:clr>
        </p15:guide>
        <p15:guide id="83" pos="6832">
          <p15:clr>
            <a:srgbClr val="F26B43"/>
          </p15:clr>
        </p15:guide>
        <p15:guide id="84" pos="6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DAOS for Users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it is, how it is organised, and how to get data in and 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SC</a:t>
            </a:r>
            <a:r>
              <a:rPr dirty="0"/>
              <a:t> 2026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4EC4B5E-61C1-0327-AC26-FD6B85B7F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3BC142E-1CB9-374A-D824-12756272F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Why DAOS — the I/O patterns that motivate it and how it differs from a parallel file system</a:t>
            </a:r>
          </a:p>
          <a:p>
            <a:r>
              <a:rPr lang="en-US" dirty="0"/>
              <a:t>DAOS </a:t>
            </a:r>
            <a:r>
              <a:rPr dirty="0"/>
              <a:t>Concepts — pools, containers, objects, object classes, data protection</a:t>
            </a:r>
          </a:p>
          <a:p>
            <a:r>
              <a:rPr dirty="0"/>
              <a:t>Getting started — connecting, containers, the three object types</a:t>
            </a:r>
          </a:p>
          <a:p>
            <a:r>
              <a:rPr dirty="0"/>
              <a:t>POSIX on DAOS — </a:t>
            </a:r>
            <a:r>
              <a:rPr dirty="0" err="1"/>
              <a:t>libdfs</a:t>
            </a:r>
            <a:r>
              <a:rPr dirty="0"/>
              <a:t>, </a:t>
            </a:r>
            <a:r>
              <a:rPr dirty="0" err="1"/>
              <a:t>dfuse</a:t>
            </a:r>
            <a:r>
              <a:rPr dirty="0"/>
              <a:t>, interception, container best practices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DAOS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t>The I/O problems it was built to solve, and how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B0ABB62-7FB2-A10A-FB79-640977444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635856C-2B0D-382A-9CEF-CEA187763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DAOS Overview</a:t>
            </a:r>
            <a:endParaRPr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4297680" cy="2514600"/>
          </a:xfrm>
          <a:prstGeom prst="rect">
            <a:avLst/>
          </a:prstGeom>
          <a:noFill/>
          <a:ln w="15875">
            <a:solidFill>
              <a:srgbClr val="53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535C66"/>
                </a:solidFill>
              </a:rPr>
              <a:t>Compute node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600200"/>
            <a:ext cx="2743200" cy="1508760"/>
          </a:xfrm>
          <a:prstGeom prst="rect">
            <a:avLst/>
          </a:prstGeom>
          <a:solidFill>
            <a:srgbClr val="E8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ctr"/>
            <a:r>
              <a:rPr sz="1200" b="1">
                <a:solidFill>
                  <a:srgbClr val="292D3A"/>
                </a:solidFill>
              </a:rPr>
              <a:t>Application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57400"/>
            <a:ext cx="2377440" cy="91440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libdaos / libdfs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(user-space client library)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148840"/>
            <a:ext cx="1005840" cy="457200"/>
          </a:xfrm>
          <a:prstGeom prst="roundRect">
            <a:avLst/>
          </a:prstGeom>
          <a:solidFill>
            <a:schemeClr val="dk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daos_agent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2377440"/>
            <a:ext cx="365760" cy="0"/>
          </a:xfrm>
          <a:prstGeom prst="line">
            <a:avLst/>
          </a:prstGeom>
          <a:ln w="15875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3200400"/>
            <a:ext cx="393192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>
                <a:solidFill>
                  <a:srgbClr val="535C66"/>
                </a:solidFill>
              </a:rPr>
              <a:t>attach, authenticate, pick the NIC — not in the I/O path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63440" y="2560320"/>
            <a:ext cx="2011680" cy="0"/>
          </a:xfrm>
          <a:prstGeom prst="line">
            <a:avLst/>
          </a:prstGeom>
          <a:ln w="317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80560" y="2057400"/>
            <a:ext cx="23774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dirty="0">
                <a:solidFill>
                  <a:srgbClr val="535C66"/>
                </a:solidFill>
              </a:rPr>
              <a:t>RPC + RDMA</a:t>
            </a:r>
          </a:p>
          <a:p>
            <a:pPr algn="ctr"/>
            <a:r>
              <a:rPr sz="1100" dirty="0" err="1">
                <a:solidFill>
                  <a:srgbClr val="535C66"/>
                </a:solidFill>
              </a:rPr>
              <a:t>libfabric</a:t>
            </a:r>
            <a:r>
              <a:rPr sz="1100" dirty="0">
                <a:solidFill>
                  <a:srgbClr val="535C66"/>
                </a:solidFill>
              </a:rPr>
              <a:t> / UCX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188720"/>
            <a:ext cx="5120640" cy="2514600"/>
          </a:xfrm>
          <a:prstGeom prst="rect">
            <a:avLst/>
          </a:prstGeom>
          <a:noFill/>
          <a:ln w="15875">
            <a:solidFill>
              <a:srgbClr val="53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23444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535C66"/>
                </a:solidFill>
              </a:rPr>
              <a:t>Storage nodes  × 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1600200"/>
            <a:ext cx="1417320" cy="54864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daos_engine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240280"/>
            <a:ext cx="1417320" cy="548640"/>
          </a:xfrm>
          <a:prstGeom prst="rect">
            <a:avLst/>
          </a:prstGeom>
          <a:solidFill>
            <a:srgbClr val="E8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>
                <a:solidFill>
                  <a:srgbClr val="292D3A"/>
                </a:solidFill>
              </a:rPr>
              <a:t>metadata</a:t>
            </a:r>
          </a:p>
          <a:p>
            <a:pPr algn="ctr"/>
            <a:r>
              <a:rPr sz="1000">
                <a:solidFill>
                  <a:srgbClr val="292D3A"/>
                </a:solidFill>
              </a:rPr>
              <a:t>PMem or DRAM + WAL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2880360"/>
            <a:ext cx="1417320" cy="548640"/>
          </a:xfrm>
          <a:prstGeom prst="rect">
            <a:avLst/>
          </a:prstGeom>
          <a:solidFill>
            <a:srgbClr val="E8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>
                <a:solidFill>
                  <a:srgbClr val="292D3A"/>
                </a:solidFill>
              </a:rPr>
              <a:t>data</a:t>
            </a:r>
          </a:p>
          <a:p>
            <a:pPr algn="ctr"/>
            <a:r>
              <a:rPr sz="1000">
                <a:solidFill>
                  <a:srgbClr val="292D3A"/>
                </a:solidFill>
              </a:rPr>
              <a:t>NVMe SSDs via SPDK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1600200"/>
            <a:ext cx="1417320" cy="54864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daos_engine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2240280"/>
            <a:ext cx="1417320" cy="548640"/>
          </a:xfrm>
          <a:prstGeom prst="rect">
            <a:avLst/>
          </a:prstGeom>
          <a:solidFill>
            <a:srgbClr val="E8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>
                <a:solidFill>
                  <a:srgbClr val="292D3A"/>
                </a:solidFill>
              </a:rPr>
              <a:t>metadata</a:t>
            </a:r>
          </a:p>
          <a:p>
            <a:pPr algn="ctr"/>
            <a:r>
              <a:rPr sz="1000">
                <a:solidFill>
                  <a:srgbClr val="292D3A"/>
                </a:solidFill>
              </a:rPr>
              <a:t>PMem or DRAM + WAL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880360"/>
            <a:ext cx="1417320" cy="548640"/>
          </a:xfrm>
          <a:prstGeom prst="rect">
            <a:avLst/>
          </a:prstGeom>
          <a:solidFill>
            <a:srgbClr val="E8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>
                <a:solidFill>
                  <a:srgbClr val="292D3A"/>
                </a:solidFill>
              </a:rPr>
              <a:t>data</a:t>
            </a:r>
          </a:p>
          <a:p>
            <a:pPr algn="ctr"/>
            <a:r>
              <a:rPr sz="1000">
                <a:solidFill>
                  <a:srgbClr val="292D3A"/>
                </a:solidFill>
              </a:rPr>
              <a:t>NVMe SSDs via SPDK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1600200"/>
            <a:ext cx="1417320" cy="54864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daos_engine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2240280"/>
            <a:ext cx="1417320" cy="548640"/>
          </a:xfrm>
          <a:prstGeom prst="rect">
            <a:avLst/>
          </a:prstGeom>
          <a:solidFill>
            <a:srgbClr val="E8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>
                <a:solidFill>
                  <a:srgbClr val="292D3A"/>
                </a:solidFill>
              </a:rPr>
              <a:t>metadata</a:t>
            </a:r>
          </a:p>
          <a:p>
            <a:pPr algn="ctr"/>
            <a:r>
              <a:rPr sz="1000">
                <a:solidFill>
                  <a:srgbClr val="292D3A"/>
                </a:solidFill>
              </a:rPr>
              <a:t>PMem or DRAM + WAL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2880360"/>
            <a:ext cx="1417320" cy="548640"/>
          </a:xfrm>
          <a:prstGeom prst="rect">
            <a:avLst/>
          </a:prstGeom>
          <a:solidFill>
            <a:srgbClr val="E8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>
                <a:solidFill>
                  <a:srgbClr val="292D3A"/>
                </a:solidFill>
              </a:rPr>
              <a:t>data</a:t>
            </a:r>
          </a:p>
          <a:p>
            <a:pPr algn="ctr"/>
            <a:r>
              <a:rPr sz="1000">
                <a:solidFill>
                  <a:srgbClr val="292D3A"/>
                </a:solidFill>
              </a:rPr>
              <a:t>NVMe SSDs via SPDK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2103120"/>
            <a:ext cx="3657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>
                <a:solidFill>
                  <a:srgbClr val="535C66"/>
                </a:solidFill>
              </a:rPr>
              <a:t>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931920"/>
            <a:ext cx="11430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/>
              <a:t>A distributed object store: you address </a:t>
            </a:r>
            <a:r>
              <a:rPr sz="1400" b="1" dirty="0"/>
              <a:t>objects</a:t>
            </a:r>
            <a:r>
              <a:rPr sz="1400" dirty="0"/>
              <a:t> inside </a:t>
            </a:r>
            <a:r>
              <a:rPr sz="1400" b="1" dirty="0"/>
              <a:t>containers</a:t>
            </a:r>
            <a:r>
              <a:rPr sz="1400" dirty="0"/>
              <a:t> inside </a:t>
            </a:r>
            <a:r>
              <a:rPr sz="1400" b="1" dirty="0"/>
              <a:t>pools</a:t>
            </a:r>
            <a:r>
              <a:rPr sz="1400" dirty="0"/>
              <a:t>. There is no file system in the data path unless you put one there (</a:t>
            </a:r>
            <a:r>
              <a:rPr sz="1400" dirty="0" err="1"/>
              <a:t>libdfs</a:t>
            </a:r>
            <a:r>
              <a:rPr sz="1400" dirty="0"/>
              <a:t> / </a:t>
            </a:r>
            <a:r>
              <a:rPr sz="1400" dirty="0" err="1"/>
              <a:t>dfuse</a:t>
            </a:r>
            <a:r>
              <a:rPr sz="1400" dirty="0"/>
              <a:t> are layers on top)</a:t>
            </a:r>
          </a:p>
          <a:p>
            <a:pPr marL="285750" indent="-285750">
              <a:buFontTx/>
              <a:buChar char="-"/>
            </a:pPr>
            <a:r>
              <a:rPr sz="1400" dirty="0"/>
              <a:t>The client is a library in your process; the server is a user-space daemon driving </a:t>
            </a:r>
            <a:r>
              <a:rPr sz="1400" dirty="0" err="1"/>
              <a:t>NVMe</a:t>
            </a:r>
            <a:r>
              <a:rPr sz="1400" dirty="0"/>
              <a:t> through SPDK.</a:t>
            </a:r>
            <a:endParaRPr lang="en-US" sz="1400" dirty="0"/>
          </a:p>
          <a:p>
            <a:pPr marL="742950" lvl="1" indent="-285750">
              <a:buFontTx/>
              <a:buChar char="-"/>
            </a:pPr>
            <a:r>
              <a:rPr sz="1400" dirty="0"/>
              <a:t>No kernel module on either side</a:t>
            </a:r>
            <a:endParaRPr lang="en-US" sz="1400" dirty="0"/>
          </a:p>
          <a:p>
            <a:pPr marL="285750" indent="-285750">
              <a:buFontTx/>
              <a:buChar char="-"/>
            </a:pPr>
            <a:r>
              <a:rPr sz="1400" dirty="0"/>
              <a:t>Each I/O is one RPC with RDMA straight from the application buffer to the engine that owns the data</a:t>
            </a:r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Placement: t</a:t>
            </a:r>
            <a:r>
              <a:rPr sz="1400" dirty="0"/>
              <a:t>he client computes where every object shard lives from the pool map — it never asks a metadata server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  <a:endParaRPr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What the storage sees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What hurts on a classic parallel file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/>
                        <a:t>Checkpoint / restart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 ranks each write a GB-scale blob at the same moment; read back rarely, all at once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shared-file lock contention; stripe-alignment games; one metadata server taking N opens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/>
                        <a:t>Out-of-core / irregular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random small reads and writes into a huge dataset, often non-contiguous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read-modify-write of whole blocks; range locks; one RPC per fragment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/>
                        <a:t>Many small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millions of create / stat / open; large directory listings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the metadata server is the bottleneck; directory locks;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ls</a:t>
                      </a:r>
                      <a:r>
                        <a:rPr sz="1200"/>
                        <a:t> on 10⁶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/>
                        <a:t>AI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random reads of KB–MB sample files every epoch from many processes; big sequential checkpoint writes in between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 kernel / FUSE round trip per file; page cache useless for a full pass; checkpoints as above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/>
                        <a:t>Key-value /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put / get by key, scans, small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no native API — emulate with files, or run a separate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373880"/>
            <a:ext cx="11430000" cy="193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Common thread: </a:t>
            </a:r>
            <a:r>
              <a:rPr sz="1500" b="1"/>
              <a:t>small, concurrent, random, versioned</a:t>
            </a:r>
            <a:r>
              <a:rPr sz="1500"/>
              <a:t> access — exactly what POSIX file semantics make expensive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PFS struggles</a:t>
            </a:r>
            <a:r>
              <a:rPr dirty="0"/>
              <a:t>: semantics, not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dirty="0"/>
              <a:t>POSIX promises: a file is one byte array with one size; a write is visible to everyone when it returns; overlapping writes are ordered</a:t>
            </a:r>
          </a:p>
          <a:p>
            <a:r>
              <a:rPr sz="1600" dirty="0"/>
              <a:t>Keeping those promises across thousands of clients forces three mechanisms:</a:t>
            </a:r>
          </a:p>
          <a:p>
            <a:pPr lvl="1"/>
            <a:r>
              <a:rPr sz="1600" b="1" dirty="0"/>
              <a:t>distributed locks</a:t>
            </a:r>
            <a:r>
              <a:rPr sz="1600" dirty="0"/>
              <a:t> — </a:t>
            </a:r>
            <a:r>
              <a:rPr sz="1600" dirty="0" err="1"/>
              <a:t>serialise</a:t>
            </a:r>
            <a:r>
              <a:rPr sz="1600" dirty="0"/>
              <a:t> writers to the same region</a:t>
            </a:r>
          </a:p>
          <a:p>
            <a:pPr lvl="1"/>
            <a:r>
              <a:rPr sz="1600" b="1" dirty="0"/>
              <a:t>read-modify-write</a:t>
            </a:r>
            <a:r>
              <a:rPr sz="1600" dirty="0"/>
              <a:t> — a 4 KB write into a 1 MB block becomes read 1 MB + write 1 MB</a:t>
            </a:r>
          </a:p>
          <a:p>
            <a:pPr lvl="1"/>
            <a:r>
              <a:rPr sz="1600" b="1" dirty="0"/>
              <a:t>a metadata server</a:t>
            </a:r>
            <a:r>
              <a:rPr sz="1600" dirty="0"/>
              <a:t> — the one authority on names, sizes, permissions; every </a:t>
            </a:r>
            <a:r>
              <a:rPr sz="1600" dirty="0">
                <a:solidFill>
                  <a:srgbClr val="535C66"/>
                </a:solidFill>
                <a:latin typeface="Consolas"/>
              </a:rPr>
              <a:t>open</a:t>
            </a:r>
            <a:r>
              <a:rPr sz="1600" dirty="0"/>
              <a:t> is a round trip to it</a:t>
            </a:r>
          </a:p>
          <a:p>
            <a:r>
              <a:rPr sz="1600" dirty="0"/>
              <a:t>Each of them is a seriali</a:t>
            </a:r>
            <a:r>
              <a:rPr lang="en-US" sz="1600" dirty="0"/>
              <a:t>z</a:t>
            </a:r>
            <a:r>
              <a:rPr sz="1600" dirty="0"/>
              <a:t>ation point, and they get more expensive as the machine gets bigger</a:t>
            </a:r>
          </a:p>
          <a:p>
            <a:r>
              <a:rPr sz="1600" dirty="0"/>
              <a:t>And the path is in the kernel: VFS → file-system client → page cache → network stack, with a copy or a context switch at each hop — fine for a laptop, costly at 10⁵ processes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DAOS sidesteps each of those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202010"/>
              </p:ext>
            </p:extLst>
          </p:nvPr>
        </p:nvGraphicFramePr>
        <p:xfrm>
          <a:off x="365760" y="1188720"/>
          <a:ext cx="11430000" cy="3284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Parallel file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DAOS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Why it matters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Distributed locking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Multi-version concurrency</a:t>
                      </a:r>
                      <a:r>
                        <a:rPr sz="1100"/>
                        <a:t>: every update carries an epoch; writers never block each other, readers see a consistent snapshot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 writers to one object scale; no lock traffic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Read-modify-write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Byte-granular, log-structured writes</a:t>
                      </a:r>
                      <a:r>
                        <a:rPr sz="1100"/>
                        <a:t>: writing bytes [1000, 1004) stores a 4-byte extent; the server merges extents later (aggregation)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small and unaligned writes cost what they weigh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Central metadata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Algorithmic placement</a:t>
                      </a:r>
                      <a:r>
                        <a:rPr sz="1100"/>
                        <a:t>: object → shards → targets is a hash over the pool map; object metadata lives with the object; the POSIX namespace is just more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 hot spot on open / create; metadata capacity scales with the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Block / byte-stream 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Keys and extents are first class</a:t>
                      </a:r>
                      <a:r>
                        <a:rPr sz="1100"/>
                        <a:t>: KV, array and multi-level KV objects let an application store its structure instead of flattening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frameworks (HDF5, </a:t>
                      </a:r>
                      <a:r>
                        <a:rPr sz="1100" dirty="0" err="1"/>
                        <a:t>PyTorch</a:t>
                      </a:r>
                      <a:r>
                        <a:rPr sz="1100" dirty="0"/>
                        <a:t>, …) map directly; no seriali</a:t>
                      </a:r>
                      <a:r>
                        <a:rPr lang="en-US" sz="1100" dirty="0"/>
                        <a:t>z</a:t>
                      </a:r>
                      <a:r>
                        <a:rPr sz="1100" dirty="0"/>
                        <a:t>ation layer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Kernel I/O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User space end to end</a:t>
                      </a:r>
                      <a:r>
                        <a:rPr sz="1100"/>
                        <a:t>: libdaos ↔ engine over RDMA, zero-copy from application buffers, polling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low latency, no copies, no context switches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RAID / file-system-wide redundancy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 dirty="0"/>
                        <a:t>Per-object data protection</a:t>
                      </a:r>
                      <a:r>
                        <a:rPr sz="1100" dirty="0"/>
                        <a:t>: each object picks none, replication or erasure code; rebuild is distributed across all engines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protect what needs protecting, pay for it only there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 still get files — and everything built on them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645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535C66"/>
                </a:solidFill>
              </a:rPr>
              <a:t>Applications</a:t>
            </a:r>
          </a:p>
          <a:p>
            <a:pPr algn="l"/>
            <a:r>
              <a:rPr sz="1200" b="1">
                <a:solidFill>
                  <a:srgbClr val="535C66"/>
                </a:solidFill>
              </a:rPr>
              <a:t>&amp; frameworks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188720"/>
            <a:ext cx="234315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POSIX applications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1990" y="1188720"/>
            <a:ext cx="234315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MPI-IO applications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72300" y="1188720"/>
            <a:ext cx="234315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HDF5 applications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52610" y="1188720"/>
            <a:ext cx="2343150" cy="502920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03120"/>
            <a:ext cx="1645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535C66"/>
                </a:solidFill>
              </a:rPr>
              <a:t>Middleware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2103120"/>
            <a:ext cx="1847088" cy="50292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dfuse</a:t>
            </a:r>
            <a:r>
              <a:rPr sz="1100" b="1" dirty="0">
                <a:solidFill>
                  <a:srgbClr val="FFFFFF"/>
                </a:solidFill>
              </a:rPr>
              <a:t> + libpil4dfs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606040"/>
            <a:ext cx="1847088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>
                <a:solidFill>
                  <a:srgbClr val="535C66"/>
                </a:solidFill>
              </a:rPr>
              <a:t>unmodified programs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95928" y="2103120"/>
            <a:ext cx="1847088" cy="50292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libdfs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5928" y="2606040"/>
            <a:ext cx="1847088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>
                <a:solidFill>
                  <a:srgbClr val="535C66"/>
                </a:solidFill>
              </a:rPr>
              <a:t>POSIX namespace as objects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0176" y="2103120"/>
            <a:ext cx="1847088" cy="50292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DAOS ROMIO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2606040"/>
            <a:ext cx="1847088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>
                <a:solidFill>
                  <a:srgbClr val="535C66"/>
                </a:solidFill>
              </a:rPr>
              <a:t>MPI-IO on libdfs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64424" y="2103120"/>
            <a:ext cx="1847088" cy="50292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HDF5 DAOS VOL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4424" y="2606040"/>
            <a:ext cx="1847088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>
                <a:solidFill>
                  <a:srgbClr val="535C66"/>
                </a:solidFill>
              </a:rPr>
              <a:t>HDF5 on libdaos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48672" y="2103120"/>
            <a:ext cx="1847088" cy="50292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pydaos / pydaos.torch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2606040"/>
            <a:ext cx="1847088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>
                <a:solidFill>
                  <a:srgbClr val="535C66"/>
                </a:solidFill>
              </a:rPr>
              <a:t>Python, PyTorch on libdfs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017520"/>
            <a:ext cx="164592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535C66"/>
                </a:solidFill>
              </a:rPr>
              <a:t>Client library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3017520"/>
            <a:ext cx="9784080" cy="45720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libdaos — objects: key-value · array · multi-level key-value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611880"/>
            <a:ext cx="164592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535C66"/>
                </a:solidFill>
              </a:rPr>
              <a:t>Storage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3611880"/>
            <a:ext cx="9784080" cy="457200"/>
          </a:xfrm>
          <a:prstGeom prst="roundRect">
            <a:avLst/>
          </a:prstGeom>
          <a:solidFill>
            <a:schemeClr val="dk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daos_engine × N  —  pools and containers; versioned key / extent storage on NVMe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251960"/>
            <a:ext cx="11430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 err="1"/>
              <a:t>libdfs</a:t>
            </a:r>
            <a:r>
              <a:rPr sz="1300" dirty="0"/>
              <a:t> implements a POSIX namespace as objects: a directory is a KV object (name → entry), a file is an array object. No </a:t>
            </a:r>
            <a:r>
              <a:rPr sz="1300" dirty="0" err="1"/>
              <a:t>inode</a:t>
            </a:r>
            <a:r>
              <a:rPr sz="1300" dirty="0"/>
              <a:t> table, no metadata server</a:t>
            </a:r>
          </a:p>
          <a:p>
            <a:r>
              <a:rPr sz="1300" dirty="0" err="1"/>
              <a:t>dfuse</a:t>
            </a:r>
            <a:r>
              <a:rPr sz="1300" dirty="0"/>
              <a:t> mounts that namespace for unmodified programs; the interception libraries bypass the kernel</a:t>
            </a:r>
          </a:p>
          <a:p>
            <a:r>
              <a:rPr sz="1300" dirty="0"/>
              <a:t>Frameworks that already know their data model can skip the file abstraction and call </a:t>
            </a:r>
            <a:r>
              <a:rPr sz="1300" dirty="0" err="1"/>
              <a:t>libdfs</a:t>
            </a:r>
            <a:r>
              <a:rPr sz="1300" dirty="0"/>
              <a:t> or </a:t>
            </a:r>
            <a:r>
              <a:rPr sz="1300" dirty="0" err="1"/>
              <a:t>libdaos</a:t>
            </a:r>
            <a:r>
              <a:rPr sz="1300" dirty="0"/>
              <a:t> directly — that is what </a:t>
            </a:r>
            <a:r>
              <a:rPr sz="1300" dirty="0" err="1">
                <a:solidFill>
                  <a:srgbClr val="535C66"/>
                </a:solidFill>
                <a:latin typeface="Consolas"/>
              </a:rPr>
              <a:t>pydaos.torch</a:t>
            </a:r>
            <a:r>
              <a:rPr sz="1300" dirty="0"/>
              <a:t> does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DAOS Concepts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Pools, containers, objects — and redundancy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B0ABB62-7FB2-A10A-FB79-640977444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635856C-2B0D-382A-9CEF-CEA187763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Pool → container → object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2743200"/>
          </a:xfrm>
          <a:prstGeom prst="rect">
            <a:avLst/>
          </a:prstGeom>
          <a:noFill/>
          <a:ln w="15875">
            <a:solidFill>
              <a:srgbClr val="53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535C66"/>
                </a:solidFill>
              </a:rPr>
              <a:t>Pool  </a:t>
            </a:r>
            <a:r>
              <a:rPr sz="1200" b="1">
                <a:solidFill>
                  <a:srgbClr val="535C66"/>
                </a:solidFill>
                <a:latin typeface="Consolas"/>
              </a:rPr>
              <a:t>mypool</a:t>
            </a:r>
            <a:r>
              <a:rPr sz="1200" b="1">
                <a:solidFill>
                  <a:srgbClr val="535C66"/>
                </a:solidFill>
              </a:rPr>
              <a:t>   — capacity + performance share, one ACL, spans every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5120640" cy="2103120"/>
          </a:xfrm>
          <a:prstGeom prst="rect">
            <a:avLst/>
          </a:prstGeom>
          <a:solidFill>
            <a:srgbClr val="E8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292D3A"/>
                </a:solidFill>
              </a:rPr>
              <a:t>Container  </a:t>
            </a:r>
            <a:r>
              <a:rPr sz="1100" b="1">
                <a:solidFill>
                  <a:srgbClr val="535C66"/>
                </a:solidFill>
                <a:latin typeface="Consolas"/>
              </a:rPr>
              <a:t>pytorch_tut</a:t>
            </a:r>
            <a:r>
              <a:rPr sz="1100" b="1">
                <a:solidFill>
                  <a:srgbClr val="292D3A"/>
                </a:solidFill>
              </a:rPr>
              <a:t>   type POSIX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7432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292D3A"/>
                </a:solidFill>
              </a:rPr>
              <a:t>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011680"/>
            <a:ext cx="1554480" cy="20116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KV 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240280"/>
            <a:ext cx="27432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292D3A"/>
                </a:solidFill>
              </a:rPr>
              <a:t>data/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2240280"/>
            <a:ext cx="1554480" cy="20116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KV object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468880"/>
            <a:ext cx="27432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292D3A"/>
                </a:solidFill>
              </a:rPr>
              <a:t>train/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468880"/>
            <a:ext cx="1554480" cy="20116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KV object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697480"/>
            <a:ext cx="27432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292D3A"/>
                </a:solidFill>
              </a:rPr>
              <a:t>class_0/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2697480"/>
            <a:ext cx="1554480" cy="20116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KV object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926080"/>
            <a:ext cx="27432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292D3A"/>
                </a:solidFill>
              </a:rPr>
              <a:t>sample_000000.npz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2926080"/>
            <a:ext cx="1554480" cy="20116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array object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154680"/>
            <a:ext cx="27432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292D3A"/>
                </a:solidFill>
              </a:rPr>
              <a:t>checkpoints/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3154680"/>
            <a:ext cx="1554480" cy="20116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KV object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383280"/>
            <a:ext cx="27432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292D3A"/>
                </a:solidFill>
              </a:rPr>
              <a:t>epoch_001.pt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3383280"/>
            <a:ext cx="1554480" cy="20116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array object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645920"/>
            <a:ext cx="5394960" cy="2103120"/>
          </a:xfrm>
          <a:prstGeom prst="rect">
            <a:avLst/>
          </a:prstGeom>
          <a:solidFill>
            <a:srgbClr val="E8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1691640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292D3A"/>
                </a:solidFill>
              </a:rPr>
              <a:t>Container  </a:t>
            </a:r>
            <a:r>
              <a:rPr sz="1100" b="1">
                <a:solidFill>
                  <a:srgbClr val="535C66"/>
                </a:solidFill>
                <a:latin typeface="Consolas"/>
              </a:rPr>
              <a:t>results</a:t>
            </a:r>
            <a:r>
              <a:rPr sz="1100" b="1">
                <a:solidFill>
                  <a:srgbClr val="292D3A"/>
                </a:solidFill>
              </a:rPr>
              <a:t>   type Python (pydaos)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057400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292D3A"/>
                </a:solidFill>
              </a:rPr>
              <a:t>run-17/metrics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2057400"/>
            <a:ext cx="2743200" cy="27432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KV object: step → loss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441448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292D3A"/>
                </a:solidFill>
              </a:rPr>
              <a:t>run-17/config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2441448"/>
            <a:ext cx="2743200" cy="27432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KV object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825496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292D3A"/>
                </a:solidFill>
              </a:rPr>
              <a:t>run-18/metrics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2825496"/>
            <a:ext cx="2743200" cy="27432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KV object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209544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292D3A"/>
                </a:solidFill>
              </a:rPr>
              <a:t>run-18/weights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3209544"/>
            <a:ext cx="2743200" cy="27432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array object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114800"/>
            <a:ext cx="11430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/>
              <a:t>Pool</a:t>
            </a:r>
            <a:r>
              <a:rPr sz="1300" dirty="0"/>
              <a:t> — created by the administrator (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dmg pool create</a:t>
            </a:r>
            <a:r>
              <a:rPr sz="1300" dirty="0"/>
              <a:t>), O(100) per system. A share of capacity and bandwidth striped across </a:t>
            </a:r>
            <a:r>
              <a:rPr lang="en-US" sz="1300" dirty="0"/>
              <a:t>servers</a:t>
            </a:r>
            <a:r>
              <a:rPr sz="1300" dirty="0"/>
              <a:t>; the pool's ACL says who may connect</a:t>
            </a:r>
          </a:p>
          <a:p>
            <a:r>
              <a:rPr sz="1300" b="1" dirty="0"/>
              <a:t>Container</a:t>
            </a:r>
            <a:r>
              <a:rPr sz="1300" dirty="0"/>
              <a:t> — created by the user (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daos </a:t>
            </a:r>
            <a:r>
              <a:rPr sz="1300" dirty="0" err="1">
                <a:solidFill>
                  <a:srgbClr val="535C66"/>
                </a:solidFill>
                <a:latin typeface="Consolas"/>
              </a:rPr>
              <a:t>cont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 create</a:t>
            </a:r>
            <a:r>
              <a:rPr sz="1300" dirty="0"/>
              <a:t>), O(100) per pool. The unit of dataset, type, properties (redundancy, checksums, layout), snapshots and ACL. Containers of different types live side by side in one pool</a:t>
            </a:r>
          </a:p>
          <a:p>
            <a:r>
              <a:rPr sz="1300" b="1" dirty="0"/>
              <a:t>Object</a:t>
            </a:r>
            <a:r>
              <a:rPr sz="1300" dirty="0"/>
              <a:t> — a key-value store or an array, addressed by a 128-bit ID, O(10¹²) per container. Never created explicitly: the first write brings it into existence. Every file and directory in a POSIX container is one object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Redundancy: replication or erasure coding, chosen per object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343461"/>
              </p:ext>
            </p:extLst>
          </p:nvPr>
        </p:nvGraphicFramePr>
        <p:xfrm>
          <a:off x="365760" y="1188720"/>
          <a:ext cx="11430000" cy="3147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Scheme (object class)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Survives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Good for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None 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S1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S4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full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full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scratch, reproducible data, intermediates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035">
                <a:tc>
                  <a:txBody>
                    <a:bodyPr/>
                    <a:lstStyle/>
                    <a:p>
                      <a:r>
                        <a:rPr sz="1100"/>
                        <a:t>2-way replication 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RP_2G1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RP_2GX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every byte sent twice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full speed, from any replica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small objects, directories, metadata, hot small 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3-way replication 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RP_3G1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RP_3GX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every byte sent three times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full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 failures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same, when 1 failure is not enough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035">
                <a:tc>
                  <a:txBody>
                    <a:bodyPr/>
                    <a:lstStyle/>
                    <a:p>
                      <a:r>
                        <a:rPr sz="1100"/>
                        <a:t>Erasure code 4+1 / 4+2 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EC_4P1GX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EC_4P2GX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1.25× / 1.5×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full stripe: data + parity once; </a:t>
                      </a:r>
                      <a:r>
                        <a:rPr sz="1100" b="1" dirty="0"/>
                        <a:t>partial stripe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full speed; degraded reads reconstruct from parity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 / 2 failures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large files written in big aligned chunks (checkpoints)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Erasure code 8+2 / 16+2 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EC_8P2GX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EC_16P2GX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1.25× / 1.125×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same, wider stripe → cheaper parity, bigger partial-write penalty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 failures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very large files, many engines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463318"/>
            <a:ext cx="114300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/>
              <a:t>Protection is a property of the </a:t>
            </a:r>
            <a:r>
              <a:rPr sz="1300" b="1" dirty="0"/>
              <a:t>object</a:t>
            </a:r>
            <a:r>
              <a:rPr sz="1300" dirty="0"/>
              <a:t>, carried in its object class: 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RP_</a:t>
            </a:r>
            <a:r>
              <a:rPr sz="1300" dirty="0"/>
              <a:t> = replicas, 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EC_</a:t>
            </a:r>
            <a:r>
              <a:rPr sz="1300" dirty="0"/>
              <a:t> = data + parity cells; the trailing 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G1</a:t>
            </a:r>
            <a:r>
              <a:rPr sz="1300" dirty="0"/>
              <a:t>…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GX</a:t>
            </a:r>
            <a:r>
              <a:rPr sz="1300" dirty="0"/>
              <a:t> is how many such groups the object is striped over</a:t>
            </a:r>
          </a:p>
          <a:p>
            <a:r>
              <a:rPr sz="1300" dirty="0" err="1">
                <a:solidFill>
                  <a:srgbClr val="535C66"/>
                </a:solidFill>
                <a:latin typeface="Consolas"/>
              </a:rPr>
              <a:t>rd_fac</a:t>
            </a:r>
            <a:r>
              <a:rPr sz="1300" dirty="0"/>
              <a:t> (redundancy factor) is the number of concurrent engine failures a container must survive, 0–4; it drives the default class and what the system guarantees</a:t>
            </a:r>
          </a:p>
          <a:p>
            <a:r>
              <a:rPr sz="1300" dirty="0"/>
              <a:t>After a failure the pool rebuilds the missing shards on the surviving engines automatically; reads continue meanwhile</a:t>
            </a:r>
            <a:endParaRPr lang="en-US" sz="1300" dirty="0"/>
          </a:p>
          <a:p>
            <a:endParaRPr lang="en-US" sz="1300" dirty="0"/>
          </a:p>
          <a:p>
            <a:r>
              <a:rPr lang="en-US" sz="1400" i="1" dirty="0"/>
              <a:t>partial stripe EC update: new bytes written to the data shard and replicated to each parity shard (1 + P copies) — no read-modify-write on the write path; parity is recomputed later by background aggregation.</a:t>
            </a:r>
            <a:r>
              <a:rPr lang="en-US" sz="1400" dirty="0"/>
              <a:t> full-stripe-aligned writes avoid the replication cost altogether.</a:t>
            </a:r>
            <a:endParaRPr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Reasonable defaults: set once at the top, inherited downwards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3566160" cy="411480"/>
          </a:xfrm>
          <a:prstGeom prst="roundRect">
            <a:avLst/>
          </a:prstGeom>
          <a:solidFill>
            <a:schemeClr val="dk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Pool  (administrator)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566160" cy="411480"/>
          </a:xfrm>
          <a:prstGeom prst="roundRect">
            <a:avLst/>
          </a:prstGeom>
          <a:solidFill>
            <a:schemeClr val="dk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Container  (you)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566160" cy="411480"/>
          </a:xfrm>
          <a:prstGeom prst="roundRect">
            <a:avLst/>
          </a:prstGeom>
          <a:solidFill>
            <a:schemeClr val="dk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Objects  (automatic)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389888"/>
            <a:ext cx="365760" cy="0"/>
          </a:xfrm>
          <a:prstGeom prst="line">
            <a:avLst/>
          </a:prstGeom>
          <a:ln w="317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63840" y="1389888"/>
            <a:ext cx="365760" cy="0"/>
          </a:xfrm>
          <a:prstGeom prst="line">
            <a:avLst/>
          </a:prstGeom>
          <a:ln w="317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65760" y="1737360"/>
            <a:ext cx="3566160" cy="1673352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dmg pool create --size 100TB \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--properties rd_fac:2,ec_cell_sz:128KiB \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mypool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sets the defaults every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container in the pool inherits: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rd_fac        failures to survive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ec_cell_sz    EC cell size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ec_pda/rp_pda placement spread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perf_domain   fault domain level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737360"/>
            <a:ext cx="3566160" cy="1673352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 cont create --type POSIX \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mypool pytorch_tut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inherits rd_fac:2, ec_cell_sz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from the pool; adds only what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is container-specific: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cksum / srv_cksum   (off by default)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dir-oclass, file-oclass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chunk-size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ACL, label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737360"/>
            <a:ext cx="3566160" cy="1673352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no class given  =&gt;  derived from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rd_fac + object type + #engines: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rd_fac  directories   files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0     S*            S*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1     RP_2          EC_nP1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2     RP_3          EC_nP2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3     RP_4          EC_nP3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4     RP_5          RP_5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n = 16 | 8 | 4 | 2 by #engines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688320"/>
            <a:ext cx="11430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/>
              <a:t>The administrator decides the protection level once per pool; users get it without knowing it exists. Override per container only when you have a reason (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--properties rd_fac:0</a:t>
            </a:r>
            <a:r>
              <a:rPr sz="1300" dirty="0"/>
              <a:t> for scratch)</a:t>
            </a:r>
          </a:p>
          <a:p>
            <a:endParaRPr lang="en-US" sz="1300" dirty="0"/>
          </a:p>
          <a:p>
            <a:r>
              <a:rPr sz="1300" dirty="0"/>
              <a:t>Checksums are a container property today (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--properties cksum:crc32,srv_cksum:on</a:t>
            </a:r>
            <a:r>
              <a:rPr sz="1300" dirty="0"/>
              <a:t>): the pool-level scrubber verifies them in the background, but it does not turn them on for you</a:t>
            </a:r>
          </a:p>
          <a:p>
            <a:endParaRPr lang="en-US" sz="1300" dirty="0"/>
          </a:p>
          <a:p>
            <a:r>
              <a:rPr sz="1300" dirty="0"/>
              <a:t>For POSIX containers the derived defaults are sensible — replicated directories, erasure-coded files — and the next section shows when to override them for small files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Container properties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3770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Changeable later?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--type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POSIX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PYTHON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HDF5</a:t>
                      </a:r>
                      <a:r>
                        <a:rPr sz="1100"/>
                        <a:t>, … (default: raw objects)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tells middleware how to interpret the objects;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POSIX</a:t>
                      </a:r>
                      <a:r>
                        <a:rPr sz="1100"/>
                        <a:t> makes it mountable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rd_fac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0–4 (inherited from pool)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failures the container must survive → default object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cksum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cksum_size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srv_cksum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crc32</a:t>
                      </a:r>
                      <a:r>
                        <a:rPr sz="1100"/>
                        <a:t> /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crc64</a:t>
                      </a:r>
                      <a:r>
                        <a:rPr sz="1100"/>
                        <a:t> /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sha1</a:t>
                      </a:r>
                      <a:r>
                        <a:rPr sz="1100"/>
                        <a:t> /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sha256</a:t>
                      </a:r>
                      <a:r>
                        <a:rPr sz="1100"/>
                        <a:t>…, chunk size,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on</a:t>
                      </a:r>
                      <a:r>
                        <a:rPr sz="1100"/>
                        <a:t>/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end-to-end checksums;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srv_cksum</a:t>
                      </a:r>
                      <a:r>
                        <a:rPr sz="1100"/>
                        <a:t> verifies on the server too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ec_cell_sz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64 KiB … 1 MiB (inherited from pool)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size of each EC data cell; stripe = cells × data shards, writes should align to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--dir-oclass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--file-oclass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an object class name, e.g.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SX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RP_2G1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EC_8P2GX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default class for new directories / files (POSIX)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for new files: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daos fs set-attr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--chunk-size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bytes, default 1 MiB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how much of a file goes to one shard before moving to the 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for new files: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daos fs set-attr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ACL /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--acl-file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--user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--group</a:t>
                      </a:r>
                      <a:r>
                        <a:rPr sz="1100"/>
                        <a:t>;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--properties label:…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who may open the container, and its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yes: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daos cont set-acl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set-prop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187950"/>
            <a:ext cx="11430000" cy="1121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/>
              <a:t>Everything except ACL, label and the POSIX creation defaults is fixed at 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daos </a:t>
            </a:r>
            <a:r>
              <a:rPr sz="1300" dirty="0" err="1">
                <a:solidFill>
                  <a:srgbClr val="535C66"/>
                </a:solidFill>
                <a:latin typeface="Consolas"/>
              </a:rPr>
              <a:t>cont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 create</a:t>
            </a:r>
            <a:r>
              <a:rPr sz="1300" dirty="0"/>
              <a:t> — decide protection, checksums and cell size before the first byte is written</a:t>
            </a:r>
          </a:p>
          <a:p>
            <a:r>
              <a:rPr sz="1300" dirty="0">
                <a:solidFill>
                  <a:srgbClr val="535C66"/>
                </a:solidFill>
                <a:latin typeface="Consolas"/>
              </a:rPr>
              <a:t>daos </a:t>
            </a:r>
            <a:r>
              <a:rPr sz="1300" dirty="0" err="1">
                <a:solidFill>
                  <a:srgbClr val="535C66"/>
                </a:solidFill>
                <a:latin typeface="Consolas"/>
              </a:rPr>
              <a:t>cont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 get-prop </a:t>
            </a:r>
            <a:r>
              <a:rPr sz="1300" dirty="0" err="1">
                <a:solidFill>
                  <a:srgbClr val="535C66"/>
                </a:solidFill>
                <a:latin typeface="Consolas"/>
              </a:rPr>
              <a:t>mypool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535C66"/>
                </a:solidFill>
                <a:latin typeface="Consolas"/>
              </a:rPr>
              <a:t>pytorch_tut</a:t>
            </a:r>
            <a:r>
              <a:rPr sz="1300" dirty="0"/>
              <a:t> shows the effective values, inherited or not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 with the DAOS 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Connecting, containers, and the three object types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B0ABB62-7FB2-A10A-FB79-640977444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635856C-2B0D-382A-9CEF-CEA187763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DAOS client process looks like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3657600" cy="50292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535C66"/>
                </a:solidFill>
                <a:latin typeface="Consolas"/>
              </a:rPr>
              <a:t>daos_init()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143000"/>
            <a:ext cx="31089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535C66"/>
                </a:solidFill>
              </a:rPr>
              <a:t>once per process: talk to </a:t>
            </a:r>
            <a:r>
              <a:rPr sz="1000">
                <a:solidFill>
                  <a:srgbClr val="535C66"/>
                </a:solidFill>
                <a:latin typeface="Consolas"/>
              </a:rPr>
              <a:t>daos_agent</a:t>
            </a:r>
            <a:r>
              <a:rPr sz="1000">
                <a:solidFill>
                  <a:srgbClr val="535C66"/>
                </a:solidFill>
              </a:rPr>
              <a:t> over a Unix socket — credentials, system map, which NIC — then open the fabric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1691640"/>
            <a:ext cx="0" cy="210312"/>
          </a:xfrm>
          <a:prstGeom prst="line">
            <a:avLst/>
          </a:prstGeom>
          <a:ln w="190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" y="1920240"/>
            <a:ext cx="3657600" cy="50292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535C66"/>
                </a:solidFill>
                <a:latin typeface="Consolas"/>
              </a:rPr>
              <a:t>daos_pool_connect()</a:t>
            </a:r>
            <a:r>
              <a:rPr sz="1100" b="1">
                <a:solidFill>
                  <a:srgbClr val="FFFFFF"/>
                </a:solidFill>
              </a:rPr>
              <a:t> → pool handle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874520"/>
            <a:ext cx="31089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535C66"/>
                </a:solidFill>
              </a:rPr>
              <a:t>one RPC to the pool service; checks the pool ACL; the client now holds the pool map and can place every object itself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94560" y="2423160"/>
            <a:ext cx="0" cy="210312"/>
          </a:xfrm>
          <a:prstGeom prst="line">
            <a:avLst/>
          </a:prstGeom>
          <a:ln w="190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" y="2651760"/>
            <a:ext cx="3657600" cy="50292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535C66"/>
                </a:solidFill>
                <a:latin typeface="Consolas"/>
              </a:rPr>
              <a:t>daos_cont_open()</a:t>
            </a:r>
            <a:r>
              <a:rPr sz="1100" b="1">
                <a:solidFill>
                  <a:srgbClr val="FFFFFF"/>
                </a:solidFill>
              </a:rPr>
              <a:t> → container handle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606040"/>
            <a:ext cx="31089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535C66"/>
                </a:solidFill>
              </a:rPr>
              <a:t>checks the container ACL; fetches the container properties (rd_fac, cksum, …) the client needs to build I/Os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4560" y="3154680"/>
            <a:ext cx="0" cy="210312"/>
          </a:xfrm>
          <a:prstGeom prst="line">
            <a:avLst/>
          </a:prstGeom>
          <a:ln w="190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" y="3383280"/>
            <a:ext cx="3657600" cy="50292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535C66"/>
                </a:solidFill>
                <a:latin typeface="Consolas"/>
              </a:rPr>
              <a:t>daos_kv_open()</a:t>
            </a:r>
            <a:r>
              <a:rPr sz="1100" b="1">
                <a:solidFill>
                  <a:srgbClr val="FFFFFF"/>
                </a:solidFill>
              </a:rPr>
              <a:t> / </a:t>
            </a:r>
            <a:r>
              <a:rPr sz="1100" b="1">
                <a:solidFill>
                  <a:srgbClr val="535C66"/>
                </a:solidFill>
                <a:latin typeface="Consolas"/>
              </a:rPr>
              <a:t>daos_array_open()</a:t>
            </a:r>
            <a:r>
              <a:rPr sz="1100" b="1">
                <a:solidFill>
                  <a:srgbClr val="FFFFFF"/>
                </a:solidFill>
              </a:rPr>
              <a:t> / </a:t>
            </a:r>
            <a:r>
              <a:rPr sz="1100" b="1">
                <a:solidFill>
                  <a:srgbClr val="535C66"/>
                </a:solidFill>
                <a:latin typeface="Consolas"/>
              </a:rPr>
              <a:t>daos_obj_open()</a:t>
            </a:r>
            <a:r>
              <a:rPr sz="1100" b="1">
                <a:solidFill>
                  <a:srgbClr val="FFFFFF"/>
                </a:solidFill>
              </a:rPr>
              <a:t> → object handle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337560"/>
            <a:ext cx="31089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535C66"/>
                </a:solidFill>
              </a:rPr>
              <a:t>purely local: no RPC — the OID plus the pool map is all the client needs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94560" y="3886200"/>
            <a:ext cx="0" cy="210312"/>
          </a:xfrm>
          <a:prstGeom prst="line">
            <a:avLst/>
          </a:prstGeom>
          <a:ln w="190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60" y="4114800"/>
            <a:ext cx="3657600" cy="50292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I/O: </a:t>
            </a:r>
            <a:r>
              <a:rPr sz="1100" b="1">
                <a:solidFill>
                  <a:srgbClr val="535C66"/>
                </a:solidFill>
                <a:latin typeface="Consolas"/>
              </a:rPr>
              <a:t>put</a:t>
            </a:r>
            <a:r>
              <a:rPr sz="1100" b="1">
                <a:solidFill>
                  <a:srgbClr val="FFFFFF"/>
                </a:solidFill>
              </a:rPr>
              <a:t> / </a:t>
            </a:r>
            <a:r>
              <a:rPr sz="1100" b="1">
                <a:solidFill>
                  <a:srgbClr val="535C66"/>
                </a:solidFill>
                <a:latin typeface="Consolas"/>
              </a:rPr>
              <a:t>get</a:t>
            </a:r>
            <a:r>
              <a:rPr sz="1100" b="1">
                <a:solidFill>
                  <a:srgbClr val="FFFFFF"/>
                </a:solidFill>
              </a:rPr>
              <a:t>, </a:t>
            </a:r>
            <a:r>
              <a:rPr sz="1100" b="1">
                <a:solidFill>
                  <a:srgbClr val="535C66"/>
                </a:solidFill>
                <a:latin typeface="Consolas"/>
              </a:rPr>
              <a:t>read</a:t>
            </a:r>
            <a:r>
              <a:rPr sz="1100" b="1">
                <a:solidFill>
                  <a:srgbClr val="FFFFFF"/>
                </a:solidFill>
              </a:rPr>
              <a:t> / </a:t>
            </a:r>
            <a:r>
              <a:rPr sz="1100" b="1">
                <a:solidFill>
                  <a:srgbClr val="535C66"/>
                </a:solidFill>
                <a:latin typeface="Consolas"/>
              </a:rPr>
              <a:t>write</a:t>
            </a:r>
            <a:r>
              <a:rPr sz="1100" b="1">
                <a:solidFill>
                  <a:srgbClr val="FFFFFF"/>
                </a:solidFill>
              </a:rPr>
              <a:t>, </a:t>
            </a:r>
            <a:r>
              <a:rPr sz="1100" b="1">
                <a:solidFill>
                  <a:srgbClr val="535C66"/>
                </a:solidFill>
                <a:latin typeface="Consolas"/>
              </a:rPr>
              <a:t>update</a:t>
            </a:r>
            <a:r>
              <a:rPr sz="1100" b="1">
                <a:solidFill>
                  <a:srgbClr val="FFFFFF"/>
                </a:solidFill>
              </a:rPr>
              <a:t> / </a:t>
            </a:r>
            <a:r>
              <a:rPr sz="1100" b="1">
                <a:solidFill>
                  <a:srgbClr val="535C66"/>
                </a:solidFill>
                <a:latin typeface="Consolas"/>
              </a:rPr>
              <a:t>fetch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069080"/>
            <a:ext cx="31089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535C66"/>
                </a:solidFill>
              </a:rPr>
              <a:t>each call is an RPC with RDMA to the target(s) owning the data; </a:t>
            </a:r>
            <a:r>
              <a:rPr sz="1000">
                <a:solidFill>
                  <a:srgbClr val="535C66"/>
                </a:solidFill>
                <a:latin typeface="Consolas"/>
              </a:rPr>
              <a:t>ev = NULL</a:t>
            </a:r>
            <a:r>
              <a:rPr sz="1000">
                <a:solidFill>
                  <a:srgbClr val="535C66"/>
                </a:solidFill>
              </a:rPr>
              <a:t> blocks, otherwise it completes on an event 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1188720"/>
            <a:ext cx="42976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535C66"/>
                </a:solidFill>
              </a:rPr>
              <a:t>MPI programs: connect once, share the handle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0" y="1554480"/>
            <a:ext cx="4297680" cy="2233422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900">
                <a:solidFill>
                  <a:srgbClr val="292D3A"/>
                </a:solidFill>
                <a:latin typeface="Consolas"/>
              </a:rPr>
              <a:t>if (rank == 0)</a:t>
            </a:r>
          </a:p>
          <a:p>
            <a:pPr algn="l"/>
            <a:r>
              <a:rPr sz="900">
                <a:solidFill>
                  <a:srgbClr val="292D3A"/>
                </a:solidFill>
                <a:latin typeface="Consolas"/>
              </a:rPr>
              <a:t>    daos_pool_connect("mypool", NULL, DAOS_PC_RW,</a:t>
            </a:r>
          </a:p>
          <a:p>
            <a:pPr algn="l"/>
            <a:r>
              <a:rPr sz="900">
                <a:solidFill>
                  <a:srgbClr val="292D3A"/>
                </a:solidFill>
                <a:latin typeface="Consolas"/>
              </a:rPr>
              <a:t>                      &amp;poh, NULL, NULL);</a:t>
            </a:r>
          </a:p>
          <a:p>
            <a:pPr algn="l"/>
            <a:endParaRPr sz="9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900">
                <a:solidFill>
                  <a:srgbClr val="292D3A"/>
                </a:solidFill>
                <a:latin typeface="Consolas"/>
              </a:rPr>
              <a:t>/* serialise the handle: size first, then bytes */</a:t>
            </a:r>
          </a:p>
          <a:p>
            <a:pPr algn="l"/>
            <a:r>
              <a:rPr sz="900">
                <a:solidFill>
                  <a:srgbClr val="292D3A"/>
                </a:solidFill>
                <a:latin typeface="Consolas"/>
              </a:rPr>
              <a:t>d_iov_t glob = {0};</a:t>
            </a:r>
          </a:p>
          <a:p>
            <a:pPr algn="l"/>
            <a:r>
              <a:rPr sz="900">
                <a:solidFill>
                  <a:srgbClr val="292D3A"/>
                </a:solidFill>
                <a:latin typeface="Consolas"/>
              </a:rPr>
              <a:t>if (rank == 0) daos_pool_local2global(poh, &amp;glob);</a:t>
            </a:r>
          </a:p>
          <a:p>
            <a:pPr algn="l"/>
            <a:r>
              <a:rPr sz="900">
                <a:solidFill>
                  <a:srgbClr val="292D3A"/>
                </a:solidFill>
                <a:latin typeface="Consolas"/>
              </a:rPr>
              <a:t>MPI_Bcast(&amp;glob.iov_buf_len, 1, MPI_UINT64_T, 0, comm);</a:t>
            </a:r>
          </a:p>
          <a:p>
            <a:pPr algn="l"/>
            <a:r>
              <a:rPr sz="900">
                <a:solidFill>
                  <a:srgbClr val="292D3A"/>
                </a:solidFill>
                <a:latin typeface="Consolas"/>
              </a:rPr>
              <a:t>if (rank) glob.iov_buf = malloc(glob.iov_buf_len);</a:t>
            </a:r>
          </a:p>
          <a:p>
            <a:pPr algn="l"/>
            <a:r>
              <a:rPr sz="900">
                <a:solidFill>
                  <a:srgbClr val="292D3A"/>
                </a:solidFill>
                <a:latin typeface="Consolas"/>
              </a:rPr>
              <a:t>glob.iov_len = glob.iov_buf_len;</a:t>
            </a:r>
          </a:p>
          <a:p>
            <a:pPr algn="l"/>
            <a:r>
              <a:rPr sz="900">
                <a:solidFill>
                  <a:srgbClr val="292D3A"/>
                </a:solidFill>
                <a:latin typeface="Consolas"/>
              </a:rPr>
              <a:t>if (rank == 0) daos_pool_local2global(poh, &amp;glob);</a:t>
            </a:r>
          </a:p>
          <a:p>
            <a:pPr algn="l"/>
            <a:r>
              <a:rPr sz="900">
                <a:solidFill>
                  <a:srgbClr val="292D3A"/>
                </a:solidFill>
                <a:latin typeface="Consolas"/>
              </a:rPr>
              <a:t>MPI_Bcast(glob.iov_buf, glob.iov_len, MPI_BYTE, 0, comm);</a:t>
            </a:r>
          </a:p>
          <a:p>
            <a:pPr algn="l"/>
            <a:r>
              <a:rPr sz="900">
                <a:solidFill>
                  <a:srgbClr val="292D3A"/>
                </a:solidFill>
                <a:latin typeface="Consolas"/>
              </a:rPr>
              <a:t>if (rank) daos_pool_global2local(glob, &amp;poh);</a:t>
            </a:r>
          </a:p>
          <a:p>
            <a:pPr algn="l"/>
            <a:endParaRPr sz="9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900">
                <a:solidFill>
                  <a:srgbClr val="292D3A"/>
                </a:solidFill>
                <a:latin typeface="Consolas"/>
              </a:rPr>
              <a:t>/* same pattern for the container handle */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4800600"/>
            <a:ext cx="429768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535C66"/>
                </a:solidFill>
              </a:rPr>
              <a:t>One connect RPC per job instead of one per rank; </a:t>
            </a:r>
            <a:r>
              <a:rPr sz="1000">
                <a:solidFill>
                  <a:srgbClr val="535C66"/>
                </a:solidFill>
                <a:latin typeface="Consolas"/>
              </a:rPr>
              <a:t>pydaos.torch</a:t>
            </a:r>
            <a:r>
              <a:rPr sz="1000">
                <a:solidFill>
                  <a:srgbClr val="535C66"/>
                </a:solidFill>
              </a:rPr>
              <a:t> uses the same trick to hand DAOS handles to forked DataLoader workers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29200"/>
            <a:ext cx="67665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>
                <a:solidFill>
                  <a:srgbClr val="535C66"/>
                </a:solidFill>
              </a:rPr>
              <a:t>Handles are process-local tokens; close them in reverse order (</a:t>
            </a:r>
            <a:r>
              <a:rPr sz="1100">
                <a:solidFill>
                  <a:srgbClr val="535C66"/>
                </a:solidFill>
                <a:latin typeface="Consolas"/>
              </a:rPr>
              <a:t>daos_cont_close</a:t>
            </a:r>
            <a:r>
              <a:rPr sz="1100">
                <a:solidFill>
                  <a:srgbClr val="535C66"/>
                </a:solidFill>
              </a:rPr>
              <a:t>, </a:t>
            </a:r>
            <a:r>
              <a:rPr sz="1100">
                <a:solidFill>
                  <a:srgbClr val="535C66"/>
                </a:solidFill>
                <a:latin typeface="Consolas"/>
              </a:rPr>
              <a:t>daos_pool_disconnect</a:t>
            </a:r>
            <a:r>
              <a:rPr sz="1100">
                <a:solidFill>
                  <a:srgbClr val="535C66"/>
                </a:solidFill>
              </a:rPr>
              <a:t>, </a:t>
            </a:r>
            <a:r>
              <a:rPr sz="1100">
                <a:solidFill>
                  <a:srgbClr val="535C66"/>
                </a:solidFill>
                <a:latin typeface="Consolas"/>
              </a:rPr>
              <a:t>daos_fini</a:t>
            </a:r>
            <a:r>
              <a:rPr sz="1100">
                <a:solidFill>
                  <a:srgbClr val="535C66"/>
                </a:solidFill>
              </a:rPr>
              <a:t>). Return codes are negative </a:t>
            </a:r>
            <a:r>
              <a:rPr sz="1100">
                <a:solidFill>
                  <a:srgbClr val="535C66"/>
                </a:solidFill>
                <a:latin typeface="Consolas"/>
              </a:rPr>
              <a:t>DER_*</a:t>
            </a:r>
            <a:r>
              <a:rPr sz="1100">
                <a:solidFill>
                  <a:srgbClr val="535C66"/>
                </a:solidFill>
              </a:rPr>
              <a:t> values — </a:t>
            </a:r>
            <a:r>
              <a:rPr sz="1100">
                <a:solidFill>
                  <a:srgbClr val="535C66"/>
                </a:solidFill>
                <a:latin typeface="Consolas"/>
              </a:rPr>
              <a:t>d_errstr(rc)</a:t>
            </a:r>
            <a:r>
              <a:rPr sz="1100">
                <a:solidFill>
                  <a:srgbClr val="535C66"/>
                </a:solidFill>
              </a:rPr>
              <a:t> for the text.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DAOS program's skeleton — and the CLI beside it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6751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535C66"/>
                </a:solidFill>
              </a:rPr>
              <a:t>C (any language binding looks the same)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6675120" cy="2153412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#include &lt;daos.h&gt;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daos_handle_t poh, coh;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daos_init();                                                    /* once per process */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daos_pool_connect("mypool", NULL, DAOS_PC_RW, &amp;poh, NULL, NULL);   /* label, system, mode */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daos_cont_open(poh, "results", DAOS_COO_RW, &amp;coh, NULL, NULL);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/* ... open objects by OID, read / write, close them (next slides) ... */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daos_cont_close(coh, NULL);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daos_pool_disconnect(poh, NULL);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daos_fini();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143000"/>
            <a:ext cx="44805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535C66"/>
                </a:solidFill>
              </a:rPr>
              <a:t>Shell: </a:t>
            </a:r>
            <a:r>
              <a:rPr sz="1100" b="1">
                <a:solidFill>
                  <a:srgbClr val="535C66"/>
                </a:solidFill>
                <a:latin typeface="Consolas"/>
              </a:rPr>
              <a:t>dmg</a:t>
            </a:r>
            <a:r>
              <a:rPr sz="1100" b="1">
                <a:solidFill>
                  <a:srgbClr val="535C66"/>
                </a:solidFill>
              </a:rPr>
              <a:t> for admins, </a:t>
            </a:r>
            <a:r>
              <a:rPr sz="1100" b="1">
                <a:solidFill>
                  <a:srgbClr val="535C66"/>
                </a:solidFill>
                <a:latin typeface="Consolas"/>
              </a:rPr>
              <a:t>daos</a:t>
            </a:r>
            <a:r>
              <a:rPr sz="1100" b="1">
                <a:solidFill>
                  <a:srgbClr val="535C66"/>
                </a:solidFill>
              </a:rPr>
              <a:t> for users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417320"/>
            <a:ext cx="4480560" cy="1673352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dmg pool create --size 100TB mypool      # admin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dmg pool list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 pool query mypool                   # user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 cont create mypool results \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--type PYTHON --properties rd_fac:1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 cont list mypool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 cont query mypool results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 cont get-prop mypool results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 cont destroy mypool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37418"/>
            <a:ext cx="11430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/>
              <a:t>Pool and container are addressed by </a:t>
            </a:r>
            <a:r>
              <a:rPr sz="1200" b="1" dirty="0"/>
              <a:t>label</a:t>
            </a:r>
            <a:r>
              <a:rPr sz="1200" dirty="0"/>
              <a:t> (or UUID); the system name (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NULL</a:t>
            </a:r>
            <a:r>
              <a:rPr sz="1200" dirty="0"/>
              <a:t>) comes from the agent's configuration</a:t>
            </a:r>
            <a:endParaRPr lang="en-US" sz="1200" dirty="0"/>
          </a:p>
          <a:p>
            <a:endParaRPr sz="1200" dirty="0"/>
          </a:p>
          <a:p>
            <a:r>
              <a:rPr sz="1200" dirty="0"/>
              <a:t>Mode flags: 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DAOS_PC_RO</a:t>
            </a:r>
            <a:r>
              <a:rPr sz="1200" dirty="0"/>
              <a:t> / 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RW</a:t>
            </a:r>
            <a:r>
              <a:rPr sz="1200" dirty="0"/>
              <a:t> / 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EX</a:t>
            </a:r>
            <a:r>
              <a:rPr sz="1200" dirty="0"/>
              <a:t> for pools, 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DAOS_COO_RO</a:t>
            </a:r>
            <a:r>
              <a:rPr sz="1200" dirty="0"/>
              <a:t> / 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RW</a:t>
            </a:r>
            <a:r>
              <a:rPr sz="1200" dirty="0"/>
              <a:t> / 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EX</a:t>
            </a:r>
            <a:r>
              <a:rPr sz="1200" dirty="0"/>
              <a:t> for containers — the ACL decides whether you get it</a:t>
            </a:r>
            <a:endParaRPr lang="en-US" sz="1200" dirty="0"/>
          </a:p>
          <a:p>
            <a:endParaRPr sz="1200" dirty="0"/>
          </a:p>
          <a:p>
            <a:r>
              <a:rPr sz="1200" dirty="0"/>
              <a:t>Every API call takes a trailing 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daos_event_t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 *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ev</a:t>
            </a:r>
            <a:r>
              <a:rPr sz="1200" dirty="0"/>
              <a:t>: 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NULL</a:t>
            </a:r>
            <a:r>
              <a:rPr sz="1200" dirty="0"/>
              <a:t> = blocking; an event on a 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daos_eq_create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()</a:t>
            </a:r>
            <a:r>
              <a:rPr sz="1200" dirty="0"/>
              <a:t> queue = asynchronous, poll with 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daos_eq_poll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()</a:t>
            </a:r>
            <a:r>
              <a:rPr sz="1200" dirty="0"/>
              <a:t>. That is how one process keeps hundreds of I/</a:t>
            </a:r>
            <a:r>
              <a:rPr sz="1200" dirty="0" err="1"/>
              <a:t>Os</a:t>
            </a:r>
            <a:r>
              <a:rPr sz="1200" dirty="0"/>
              <a:t> in flight</a:t>
            </a:r>
            <a:endParaRPr lang="en-US" sz="1200" dirty="0"/>
          </a:p>
          <a:p>
            <a:endParaRPr sz="1200" dirty="0"/>
          </a:p>
          <a:p>
            <a:r>
              <a:rPr sz="1200" dirty="0"/>
              <a:t>Creating a container from code: 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daos_cont_create_with_label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(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poh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, "results", props, NULL, NULL)</a:t>
            </a:r>
            <a:r>
              <a:rPr sz="1200" dirty="0"/>
              <a:t> — same properties as 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--properties</a:t>
            </a:r>
            <a:r>
              <a:rPr sz="1200" dirty="0"/>
              <a:t> on the CLI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object types — pick by how you address your data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3147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Key-value  (</a:t>
                      </a:r>
                      <a:r>
                        <a:rPr sz="1100" b="1">
                          <a:solidFill>
                            <a:srgbClr val="535C66"/>
                          </a:solidFill>
                          <a:latin typeface="Consolas"/>
                        </a:rPr>
                        <a:t>daos_kv_*</a:t>
                      </a:r>
                      <a:r>
                        <a:rPr sz="1100" b="1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Array  (</a:t>
                      </a:r>
                      <a:r>
                        <a:rPr sz="1100" b="1">
                          <a:solidFill>
                            <a:srgbClr val="535C66"/>
                          </a:solidFill>
                          <a:latin typeface="Consolas"/>
                        </a:rPr>
                        <a:t>daos_array_*</a:t>
                      </a:r>
                      <a:r>
                        <a:rPr sz="1100" b="1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Multi-level key-value  (</a:t>
                      </a:r>
                      <a:r>
                        <a:rPr sz="1100" b="1">
                          <a:solidFill>
                            <a:srgbClr val="535C66"/>
                          </a:solidFill>
                          <a:latin typeface="Consolas"/>
                        </a:rPr>
                        <a:t>daos_obj_*</a:t>
                      </a:r>
                      <a:r>
                        <a:rPr sz="1100" b="1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string key → opaque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1-D array of fixed-size cells, addressed by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distribution key → attribute key → value; a value is a single blob </a:t>
                      </a:r>
                      <a:r>
                        <a:rPr sz="1100" b="1"/>
                        <a:t>or</a:t>
                      </a:r>
                      <a:r>
                        <a:rPr sz="1100"/>
                        <a:t> an extent-addressable array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put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get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remove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list</a:t>
                      </a:r>
                      <a:r>
                        <a:rPr sz="1100"/>
                        <a:t> (paged enumeration)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read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write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punch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get_size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set_size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update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fetch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list_dkey</a:t>
                      </a:r>
                      <a:r>
                        <a:rPr sz="1100"/>
                        <a:t> /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list_akey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punch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035">
                <a:tc>
                  <a:txBody>
                    <a:bodyPr/>
                    <a:lstStyle/>
                    <a:p>
                      <a:r>
                        <a:rPr sz="1100"/>
                        <a:t>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each key hashed to one shard; a value lives entirely on one target → every put is atomic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chunk_size</a:t>
                      </a:r>
                      <a:r>
                        <a:rPr sz="1100"/>
                        <a:t> cells go to one shard, the next chunk to the next shard → striping across the object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all akeys under one dkey are co-located on one shard; extents under an akey are distributed like an array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035">
                <a:tc>
                  <a:txBody>
                    <a:bodyPr/>
                    <a:lstStyle/>
                    <a:p>
                      <a:r>
                        <a:rPr sz="1100"/>
                        <a:t>Use it 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metadata, configuration, results, anything you would put in a dictionary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bulk numeric data, file contents, anything indexed by 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you need both: a record with several fields, some of them large — what libdfs, the HDF5 VOL and pydaos are built 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Object type to generate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DAOS_OT_KV_HASHED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DAOS_OT_ARRAY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DAOS_OT_MULTI_HASHED</a:t>
                      </a:r>
                      <a:r>
                        <a:rPr sz="1100"/>
                        <a:t> and friends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564380"/>
            <a:ext cx="11430000" cy="174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All three are views of the same storage model — the engine only knows keys, values and extents. KV and Array are convenience APIs on top of multi-level KV</a:t>
            </a:r>
          </a:p>
          <a:p>
            <a:r>
              <a:rPr sz="1300"/>
              <a:t>Objects are not created or destroyed: generate an ID, open it, write — it exists. </a:t>
            </a:r>
            <a:r>
              <a:rPr sz="1300">
                <a:solidFill>
                  <a:srgbClr val="535C66"/>
                </a:solidFill>
                <a:latin typeface="Consolas"/>
              </a:rPr>
              <a:t>daos_obj_punch</a:t>
            </a:r>
            <a:r>
              <a:rPr sz="1300"/>
              <a:t> removes everything under an ID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KV and array in a few lines each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5778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535C66"/>
                </a:solidFill>
              </a:rPr>
              <a:t>Key-value: results of a run as a dictionary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77840" cy="2473452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daos_obj_id_t oid = { .lo = 1, .hi = 0 };      /* low 96 bits: yours */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daos_obj_generate_oid(coh, &amp;oid, DAOS_OT_KV_HASHED,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          0 /* class: container default */, 0, 0);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daos_kv_open(coh, oid, DAOS_OO_RW, &amp;oh, NULL);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float loss = 0.104f;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daos_kv_put(oh, DAOS_TX_NONE, 0, "epoch-1/loss",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sizeof(loss), &amp;loss, NULL);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daos_size_t size = sizeof(loss);               /* in: buffer, out: value */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daos_kv_get(oh, DAOS_TX_NONE, 0, "epoch-1/loss",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&amp;size, &amp;loss, NULL);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daos_kv_close(oh, NULL);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43000"/>
            <a:ext cx="55778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535C66"/>
                </a:solidFill>
              </a:rPr>
              <a:t>Array: each MPI rank writes its slice of a global float array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577840" cy="2473452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daos_obj_generate_oid(coh, &amp;oid, DAOS_OT_ARRAY, 0, 0, 0);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/* cell = 1 float; 1 Mi cells per shard before striping on */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daos_array_create(coh, oid, DAOS_TX_NONE, sizeof(float),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      1 &lt;&lt; 20, &amp;oh, NULL);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daos_range_t     rg  = { .rg_idx = rank * N, .rg_len = N };  /* cells */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daos_array_iod_t iod = { .arr_nr = 1, .arr_rgs = &amp;rg };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d_iov_t          iov;  d_iov_set(&amp;iov, buf, N * sizeof(float));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d_sg_list_t      sgl = { .sg_nr = 1, .sg_iovs = &amp;iov };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daos_array_write(oh, DAOS_TX_NONE, &amp;iod, &amp;sgl, NULL);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/* daos_array_read() takes the same iod / sgl */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daos_array_close(oh, NULL);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84632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35C66"/>
                </a:solidFill>
                <a:latin typeface="Consolas"/>
              </a:rPr>
              <a:t>generate_oid</a:t>
            </a:r>
            <a:r>
              <a:rPr sz="1200"/>
              <a:t> with class </a:t>
            </a:r>
            <a:r>
              <a:rPr sz="1200">
                <a:solidFill>
                  <a:srgbClr val="535C66"/>
                </a:solidFill>
                <a:latin typeface="Consolas"/>
              </a:rPr>
              <a:t>0</a:t>
            </a:r>
            <a:r>
              <a:rPr sz="1200"/>
              <a:t> applies the container default from the previous section — redundancy follows </a:t>
            </a:r>
            <a:r>
              <a:rPr sz="1200">
                <a:solidFill>
                  <a:srgbClr val="535C66"/>
                </a:solidFill>
                <a:latin typeface="Consolas"/>
              </a:rPr>
              <a:t>rd_fac</a:t>
            </a:r>
            <a:r>
              <a:rPr sz="1200"/>
              <a:t> without the program knowing</a:t>
            </a:r>
          </a:p>
          <a:p>
            <a:r>
              <a:rPr sz="1200"/>
              <a:t>No locks, no collective open: N ranks writing disjoint ranges of one array object scale because each range goes straight to its shard</a:t>
            </a:r>
          </a:p>
          <a:p>
            <a:r>
              <a:rPr sz="1200"/>
              <a:t>Memory is described with </a:t>
            </a:r>
            <a:r>
              <a:rPr sz="1200">
                <a:solidFill>
                  <a:srgbClr val="535C66"/>
                </a:solidFill>
                <a:latin typeface="Consolas"/>
              </a:rPr>
              <a:t>d_sg_list_t</a:t>
            </a:r>
            <a:r>
              <a:rPr sz="1200"/>
              <a:t> (iovecs) and the storage side with </a:t>
            </a:r>
            <a:r>
              <a:rPr sz="1200">
                <a:solidFill>
                  <a:srgbClr val="535C66"/>
                </a:solidFill>
                <a:latin typeface="Consolas"/>
              </a:rPr>
              <a:t>daos_range_t</a:t>
            </a:r>
            <a:r>
              <a:rPr sz="1200"/>
              <a:t> / </a:t>
            </a:r>
            <a:r>
              <a:rPr sz="1200">
                <a:solidFill>
                  <a:srgbClr val="535C66"/>
                </a:solidFill>
                <a:latin typeface="Consolas"/>
              </a:rPr>
              <a:t>daos_array_iod_t</a:t>
            </a:r>
            <a:r>
              <a:rPr sz="1200"/>
              <a:t>, so one call can scatter many ranges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Python — and where to look next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5778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535C66"/>
                </a:solidFill>
              </a:rPr>
              <a:t>pydaos: a container as a namespace of dictionaries and arrays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77840" cy="2313432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import pydaos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cont = pydaos.DCont("mypool", "results")        # type PYTHON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metrics = cont.dict("run-17/metrics")           # a KV object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metrics["epoch-1/loss"] = b"0.104"              # put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print(metrics["epoch-1/loss"])                  # get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for key in metrics:                             # list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...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metrics.bput({"epoch-2/loss": b"0.012",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  "epoch-2/acc":  b"0.998"})        # batched puts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same = cont.get("run-17/metrics")               # reopen by name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cont.destroy("run-17/metrics")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43000"/>
            <a:ext cx="55778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535C66"/>
                </a:solidFill>
              </a:rPr>
              <a:t>Where to look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55778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/>
              <a:t>Hands-on exercises in this repository, </a:t>
            </a:r>
            <a:endParaRPr lang="en-US" sz="1200" dirty="0"/>
          </a:p>
          <a:p>
            <a:endParaRPr lang="en-US" sz="1200" dirty="0">
              <a:solidFill>
                <a:srgbClr val="535C66"/>
              </a:solidFill>
              <a:latin typeface="Consolas"/>
            </a:endParaRPr>
          </a:p>
          <a:p>
            <a:r>
              <a:rPr sz="1200" dirty="0">
                <a:solidFill>
                  <a:srgbClr val="535C66"/>
                </a:solidFill>
                <a:latin typeface="Consolas"/>
              </a:rPr>
              <a:t>Exercises/DAOS/Exercise/</a:t>
            </a:r>
            <a:r>
              <a:rPr sz="1200" dirty="0"/>
              <a:t>: </a:t>
            </a:r>
            <a:endParaRPr lang="en-US" sz="1200" dirty="0"/>
          </a:p>
          <a:p>
            <a:r>
              <a:rPr sz="1200" dirty="0">
                <a:solidFill>
                  <a:srgbClr val="535C66"/>
                </a:solidFill>
                <a:latin typeface="Consolas"/>
              </a:rPr>
              <a:t>kv1.c</a:t>
            </a:r>
            <a:r>
              <a:rPr sz="1200" dirty="0"/>
              <a:t> → 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kv3.c</a:t>
            </a:r>
            <a:r>
              <a:rPr sz="1200" dirty="0"/>
              <a:t> (put / get / list) </a:t>
            </a:r>
            <a:endParaRPr lang="en-US" sz="1200" dirty="0"/>
          </a:p>
          <a:p>
            <a:r>
              <a:rPr sz="1200" dirty="0">
                <a:solidFill>
                  <a:srgbClr val="535C66"/>
                </a:solidFill>
                <a:latin typeface="Consolas"/>
              </a:rPr>
              <a:t>array1.c</a:t>
            </a:r>
            <a:r>
              <a:rPr sz="1200" dirty="0"/>
              <a:t> (read / write)</a:t>
            </a:r>
            <a:endParaRPr lang="en-US" sz="1200" dirty="0"/>
          </a:p>
          <a:p>
            <a:r>
              <a:rPr sz="1200" dirty="0">
                <a:solidFill>
                  <a:srgbClr val="535C66"/>
                </a:solidFill>
                <a:latin typeface="Consolas"/>
              </a:rPr>
              <a:t>mkv1.c</a:t>
            </a:r>
            <a:r>
              <a:rPr sz="1200" dirty="0"/>
              <a:t> (multi-level KV) </a:t>
            </a:r>
            <a:endParaRPr lang="en-US" sz="1200" dirty="0"/>
          </a:p>
          <a:p>
            <a:r>
              <a:rPr lang="en-US" sz="1200" dirty="0"/>
              <a:t>       </a:t>
            </a:r>
            <a:r>
              <a:rPr sz="1200" dirty="0"/>
              <a:t>each with an 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_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answer.c</a:t>
            </a:r>
            <a:r>
              <a:rPr sz="1200" dirty="0"/>
              <a:t>, plus 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build.sh</a:t>
            </a:r>
            <a:r>
              <a:rPr sz="1200" dirty="0"/>
              <a:t> / 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run.sh</a:t>
            </a:r>
            <a:endParaRPr sz="1200" dirty="0">
              <a:solidFill>
                <a:srgbClr val="535C66"/>
              </a:solidFill>
              <a:latin typeface="Consolas"/>
            </a:endParaRPr>
          </a:p>
          <a:p>
            <a:endParaRPr lang="en-US" sz="1200" dirty="0"/>
          </a:p>
          <a:p>
            <a:r>
              <a:rPr sz="1200" dirty="0"/>
              <a:t>Complete programs in the DAOS tree: </a:t>
            </a:r>
            <a:endParaRPr lang="en-US" sz="1200" dirty="0"/>
          </a:p>
          <a:p>
            <a:r>
              <a:rPr sz="1200" dirty="0" err="1">
                <a:solidFill>
                  <a:srgbClr val="535C66"/>
                </a:solidFill>
                <a:latin typeface="Consolas"/>
              </a:rPr>
              <a:t>src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/tests/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simple_obj.c</a:t>
            </a:r>
            <a:endParaRPr lang="en-US" sz="1200" dirty="0">
              <a:solidFill>
                <a:srgbClr val="535C66"/>
              </a:solidFill>
              <a:latin typeface="Consolas"/>
            </a:endParaRPr>
          </a:p>
          <a:p>
            <a:r>
              <a:rPr sz="1200" dirty="0" err="1">
                <a:solidFill>
                  <a:srgbClr val="535C66"/>
                </a:solidFill>
                <a:latin typeface="Consolas"/>
              </a:rPr>
              <a:t>src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/tests/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simple_dfs.c</a:t>
            </a:r>
            <a:endParaRPr lang="en-US" sz="1200" dirty="0">
              <a:solidFill>
                <a:srgbClr val="535C66"/>
              </a:solidFill>
              <a:latin typeface="Consolas"/>
            </a:endParaRPr>
          </a:p>
          <a:p>
            <a:r>
              <a:rPr sz="1200" dirty="0" err="1">
                <a:solidFill>
                  <a:srgbClr val="535C66"/>
                </a:solidFill>
                <a:latin typeface="Consolas"/>
              </a:rPr>
              <a:t>src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/tests/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simple_array.c</a:t>
            </a:r>
            <a:endParaRPr sz="1200" dirty="0">
              <a:solidFill>
                <a:srgbClr val="535C66"/>
              </a:solidFill>
              <a:latin typeface="Consolas"/>
            </a:endParaRPr>
          </a:p>
          <a:p>
            <a:endParaRPr lang="en-US" sz="1200" dirty="0"/>
          </a:p>
          <a:p>
            <a:r>
              <a:rPr sz="1200" dirty="0">
                <a:solidFill>
                  <a:srgbClr val="535C66"/>
                </a:solidFill>
                <a:latin typeface="Consolas"/>
              </a:rPr>
              <a:t>https://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docs.daos.io</a:t>
            </a:r>
            <a:r>
              <a:rPr sz="1200" dirty="0"/>
              <a:t> → *User Guide* for the CLI, container properties and the Python / </a:t>
            </a:r>
            <a:r>
              <a:rPr sz="1200" dirty="0" err="1"/>
              <a:t>PyTorch</a:t>
            </a:r>
            <a:r>
              <a:rPr sz="1200" dirty="0"/>
              <a:t>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882" y="45262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 err="1"/>
              <a:t>pydaos</a:t>
            </a:r>
            <a:r>
              <a:rPr sz="1200" dirty="0"/>
              <a:t> names objects inside the container (the name → OID map is itself a KV object), so there are no OIDs to manage from Python; values are bytes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POSIX on DAOS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libdfs, dfuse, interception, and setting up a POSIX container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B0ABB62-7FB2-A10A-FB79-640977444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635856C-2B0D-382A-9CEF-CEA187763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ways to reach a POSIX container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1"/>
              <a:t>A. Link libdfs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35661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535C66"/>
                </a:solidFill>
              </a:rPr>
              <a:t>modified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828800"/>
            <a:ext cx="3566160" cy="548640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application</a:t>
            </a:r>
          </a:p>
          <a:p>
            <a:pPr algn="ctr"/>
            <a:r>
              <a:rPr sz="1000" b="1">
                <a:solidFill>
                  <a:srgbClr val="535C66"/>
                </a:solidFill>
                <a:latin typeface="Consolas"/>
              </a:rPr>
              <a:t>dfs_open()</a:t>
            </a:r>
            <a:r>
              <a:rPr sz="1000" b="1">
                <a:solidFill>
                  <a:srgbClr val="FFFFFF"/>
                </a:solidFill>
              </a:rPr>
              <a:t>, </a:t>
            </a:r>
            <a:r>
              <a:rPr sz="1000" b="1">
                <a:solidFill>
                  <a:srgbClr val="535C66"/>
                </a:solidFill>
                <a:latin typeface="Consolas"/>
              </a:rPr>
              <a:t>dfs_read()</a:t>
            </a:r>
            <a:r>
              <a:rPr sz="1000" b="1">
                <a:solidFill>
                  <a:srgbClr val="FFFFFF"/>
                </a:solidFill>
              </a:rPr>
              <a:t> 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48840" y="2377440"/>
            <a:ext cx="0" cy="164592"/>
          </a:xfrm>
          <a:prstGeom prst="line">
            <a:avLst/>
          </a:prstGeom>
          <a:ln w="190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5760" y="2560320"/>
            <a:ext cx="3566160" cy="54864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libdfs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3108960"/>
            <a:ext cx="0" cy="164592"/>
          </a:xfrm>
          <a:prstGeom prst="line">
            <a:avLst/>
          </a:prstGeom>
          <a:ln w="190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" y="3291840"/>
            <a:ext cx="3566160" cy="54864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libdaos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48840" y="3840480"/>
            <a:ext cx="0" cy="164592"/>
          </a:xfrm>
          <a:prstGeom prst="line">
            <a:avLst/>
          </a:prstGeom>
          <a:ln w="190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65760" y="4023360"/>
            <a:ext cx="3566160" cy="411480"/>
          </a:xfrm>
          <a:prstGeom prst="rect">
            <a:avLst/>
          </a:prstGeom>
          <a:solidFill>
            <a:srgbClr val="E8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>
                <a:solidFill>
                  <a:srgbClr val="292D3A"/>
                </a:solidFill>
              </a:rPr>
              <a:t>fabric → daos_engine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26280"/>
            <a:ext cx="356616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dirty="0">
                <a:solidFill>
                  <a:srgbClr val="535C66"/>
                </a:solidFill>
              </a:rPr>
              <a:t>Code change, no mount point. Fastest path: what DAOS-ROMIO (MPI-IO)</a:t>
            </a:r>
            <a:r>
              <a:rPr lang="en-US" sz="1000" dirty="0">
                <a:solidFill>
                  <a:srgbClr val="535C66"/>
                </a:solidFill>
              </a:rPr>
              <a:t> </a:t>
            </a:r>
            <a:r>
              <a:rPr sz="1000" dirty="0">
                <a:solidFill>
                  <a:srgbClr val="535C66"/>
                </a:solidFill>
              </a:rPr>
              <a:t>and </a:t>
            </a:r>
            <a:r>
              <a:rPr sz="1000" dirty="0" err="1">
                <a:solidFill>
                  <a:srgbClr val="535C66"/>
                </a:solidFill>
                <a:latin typeface="Consolas"/>
              </a:rPr>
              <a:t>pydaos.torch</a:t>
            </a:r>
            <a:r>
              <a:rPr sz="1000" dirty="0">
                <a:solidFill>
                  <a:srgbClr val="535C66"/>
                </a:solidFill>
              </a:rPr>
              <a:t>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18872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1"/>
              <a:t>B. dfuse mount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463040"/>
            <a:ext cx="35661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535C66"/>
                </a:solidFill>
              </a:rPr>
              <a:t>unmodified application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828800"/>
            <a:ext cx="3566160" cy="548640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application</a:t>
            </a:r>
          </a:p>
          <a:p>
            <a:pPr algn="ctr"/>
            <a:r>
              <a:rPr sz="1000" b="1">
                <a:solidFill>
                  <a:srgbClr val="535C66"/>
                </a:solidFill>
                <a:latin typeface="Consolas"/>
              </a:rPr>
              <a:t>open()</a:t>
            </a:r>
            <a:r>
              <a:rPr sz="1000" b="1">
                <a:solidFill>
                  <a:srgbClr val="FFFFFF"/>
                </a:solidFill>
              </a:rPr>
              <a:t>, </a:t>
            </a:r>
            <a:r>
              <a:rPr sz="1000" b="1">
                <a:solidFill>
                  <a:srgbClr val="535C66"/>
                </a:solidFill>
                <a:latin typeface="Consolas"/>
              </a:rPr>
              <a:t>read()</a:t>
            </a:r>
            <a:r>
              <a:rPr sz="1000" b="1">
                <a:solidFill>
                  <a:srgbClr val="FFFFFF"/>
                </a:solidFill>
              </a:rPr>
              <a:t> … (libc)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2377440"/>
            <a:ext cx="0" cy="164592"/>
          </a:xfrm>
          <a:prstGeom prst="line">
            <a:avLst/>
          </a:prstGeom>
          <a:ln w="190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297680" y="2560320"/>
            <a:ext cx="3566160" cy="548640"/>
          </a:xfrm>
          <a:prstGeom prst="roundRect">
            <a:avLst/>
          </a:prstGeom>
          <a:solidFill>
            <a:schemeClr val="dk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kernel: VFS → FUSE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3108960"/>
            <a:ext cx="0" cy="164592"/>
          </a:xfrm>
          <a:prstGeom prst="line">
            <a:avLst/>
          </a:prstGeom>
          <a:ln w="190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297680" y="3291840"/>
            <a:ext cx="3566160" cy="54864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dfuse daemon → libdfs → libdaos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3840480"/>
            <a:ext cx="0" cy="164592"/>
          </a:xfrm>
          <a:prstGeom prst="line">
            <a:avLst/>
          </a:prstGeom>
          <a:ln w="190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297680" y="4023360"/>
            <a:ext cx="3566160" cy="411480"/>
          </a:xfrm>
          <a:prstGeom prst="rect">
            <a:avLst/>
          </a:prstGeom>
          <a:solidFill>
            <a:srgbClr val="E8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>
                <a:solidFill>
                  <a:srgbClr val="292D3A"/>
                </a:solidFill>
              </a:rPr>
              <a:t>fabric → daos_engine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526280"/>
            <a:ext cx="356616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>
                <a:solidFill>
                  <a:srgbClr val="535C66"/>
                </a:solidFill>
              </a:rPr>
              <a:t>No change at all. Every call crosses the kernel twice; the kernel page cache is available; one dfuse daemon per node is shared by all processes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18872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1"/>
              <a:t>C. dfuse + interception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463040"/>
            <a:ext cx="35661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>
                <a:solidFill>
                  <a:srgbClr val="535C66"/>
                </a:solidFill>
              </a:rPr>
              <a:t>unmodified, </a:t>
            </a:r>
            <a:r>
              <a:rPr sz="1000">
                <a:solidFill>
                  <a:srgbClr val="535C66"/>
                </a:solidFill>
                <a:latin typeface="Consolas"/>
              </a:rPr>
              <a:t>LD_PRELOAD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1828800"/>
            <a:ext cx="3566160" cy="548640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application + </a:t>
            </a:r>
            <a:r>
              <a:rPr lang="en-US" sz="1000" b="1" dirty="0" err="1">
                <a:solidFill>
                  <a:srgbClr val="535C66"/>
                </a:solidFill>
                <a:latin typeface="Consolas"/>
              </a:rPr>
              <a:t>libioil</a:t>
            </a:r>
            <a:r>
              <a:rPr lang="en-US" sz="1000" b="1" dirty="0">
                <a:solidFill>
                  <a:srgbClr val="FFFFFF"/>
                </a:solidFill>
              </a:rPr>
              <a:t> /</a:t>
            </a:r>
            <a:r>
              <a:rPr sz="1000" b="1" dirty="0">
                <a:solidFill>
                  <a:srgbClr val="FFFFFF"/>
                </a:solidFill>
              </a:rPr>
              <a:t> </a:t>
            </a:r>
            <a:r>
              <a:rPr sz="1000" b="1" dirty="0">
                <a:solidFill>
                  <a:srgbClr val="535C66"/>
                </a:solidFill>
                <a:latin typeface="Consolas"/>
              </a:rPr>
              <a:t>libpil4dfs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12680" y="2377440"/>
            <a:ext cx="0" cy="164592"/>
          </a:xfrm>
          <a:prstGeom prst="line">
            <a:avLst/>
          </a:prstGeom>
          <a:ln w="190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229600" y="2560320"/>
            <a:ext cx="3566160" cy="54864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libdfs → libdaos  (direct, in-process)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12680" y="3108960"/>
            <a:ext cx="0" cy="164592"/>
          </a:xfrm>
          <a:prstGeom prst="line">
            <a:avLst/>
          </a:prstGeom>
          <a:ln w="190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229600" y="3291840"/>
            <a:ext cx="3566160" cy="548640"/>
          </a:xfrm>
          <a:prstGeom prst="roundRect">
            <a:avLst/>
          </a:prstGeom>
          <a:solidFill>
            <a:schemeClr val="dk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dfuse only for what is not intercepted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012680" y="3840480"/>
            <a:ext cx="0" cy="164592"/>
          </a:xfrm>
          <a:prstGeom prst="line">
            <a:avLst/>
          </a:prstGeom>
          <a:ln w="190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229600" y="4023360"/>
            <a:ext cx="3566160" cy="411480"/>
          </a:xfrm>
          <a:prstGeom prst="rect">
            <a:avLst/>
          </a:prstGeom>
          <a:solidFill>
            <a:srgbClr val="E8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>
                <a:solidFill>
                  <a:srgbClr val="292D3A"/>
                </a:solidFill>
              </a:rPr>
              <a:t>fabric → daos_engine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526280"/>
            <a:ext cx="356616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>
                <a:solidFill>
                  <a:srgbClr val="535C66"/>
                </a:solidFill>
                <a:latin typeface="Consolas"/>
              </a:rPr>
              <a:t>libioil</a:t>
            </a:r>
            <a:r>
              <a:rPr sz="1000">
                <a:solidFill>
                  <a:srgbClr val="535C66"/>
                </a:solidFill>
              </a:rPr>
              <a:t>: read / write bypass the kernel, open / stat / readdir still via FUSE.  </a:t>
            </a:r>
            <a:r>
              <a:rPr sz="1000">
                <a:solidFill>
                  <a:srgbClr val="535C66"/>
                </a:solidFill>
                <a:latin typeface="Consolas"/>
              </a:rPr>
              <a:t>libpil4dfs</a:t>
            </a:r>
            <a:r>
              <a:rPr sz="1000">
                <a:solidFill>
                  <a:srgbClr val="535C66"/>
                </a:solidFill>
              </a:rPr>
              <a:t>: everything intercepted, dfuse only used to discover the mount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6692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/>
              <a:t>Same container, same data, same object layout in all three — choose by how much you can change the application and how many processes per node will do I/O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libdfs maps POSIX onto objects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3026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POSIX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DAOS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So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035">
                <a:tc>
                  <a:txBody>
                    <a:bodyPr/>
                    <a:lstStyle/>
                    <a:p>
                      <a:r>
                        <a:rPr sz="1100"/>
                        <a:t>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one </a:t>
                      </a:r>
                      <a:r>
                        <a:rPr sz="1100" b="1"/>
                        <a:t>KV object</a:t>
                      </a:r>
                      <a:r>
                        <a:rPr sz="1100"/>
                        <a:t>: key = entry name; value = mode, OID, mtime, uid/gid, and for directories the default chunk size / object class for files created inside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create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stat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unlink</a:t>
                      </a:r>
                      <a:r>
                        <a:rPr sz="1100"/>
                        <a:t> = one KV operation on the parent, no metadata server;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readdir</a:t>
                      </a:r>
                      <a:r>
                        <a:rPr sz="1100"/>
                        <a:t> = enumerate the KV — in hash order, and in parallel if the directory object is sharded (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SX</a:t>
                      </a:r>
                      <a:r>
                        <a:rPr sz="110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035">
                <a:tc>
                  <a:txBody>
                    <a:bodyPr/>
                    <a:lstStyle/>
                    <a:p>
                      <a:r>
                        <a:rPr sz="1100"/>
                        <a:t>Regular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one </a:t>
                      </a:r>
                      <a:r>
                        <a:rPr sz="1100" b="1"/>
                        <a:t>array object</a:t>
                      </a:r>
                      <a:r>
                        <a:rPr sz="1100"/>
                        <a:t> of 1-byte cells;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chunk_size</a:t>
                      </a:r>
                      <a:r>
                        <a:rPr sz="1100"/>
                        <a:t> consecutive bytes live on one shard, the next chunk on the next shard of the file's object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size is a property of the array, not of the entry: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stat</a:t>
                      </a:r>
                      <a:r>
                        <a:rPr sz="1100"/>
                        <a:t> = KV fetch + array-size query; large files stripe over as many engines as their class says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Symbolic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 object — the target string is stored in the entry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cheap; follows normal POSIX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Superblock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one KV object at a reserved OID holding the container's DFS defaults (chunk size, dir/file object class, …)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read once at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dfs_mount</a:t>
                      </a:r>
                      <a:r>
                        <a:rPr sz="1100"/>
                        <a:t>; changed with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daos fs set-attr</a:t>
                      </a:r>
                      <a:r>
                        <a:rPr sz="1100"/>
                        <a:t> for a directory or the whole container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rename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update of one entry (same directory) or two entries in a DAOS transaction (across directories)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atomic, but a cross-directory rename is two KV ops; the file object is untouched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443730"/>
            <a:ext cx="11430000" cy="186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There is no inode table and no lock manager: the POSIX namespace is just more objects in the same pool, protected by the same object classes</a:t>
            </a:r>
          </a:p>
          <a:p>
            <a:r>
              <a:rPr sz="1200"/>
              <a:t>Consequence for workloads: millions of small files cost millions of KV entries plus millions of small array objects — directory and file object classes decide how that spreads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it: container, mount, interception, API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5778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535C66"/>
                </a:solidFill>
              </a:rPr>
              <a:t>Create and mount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77840" cy="2153412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# POSIX container, protection inherited from the pool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 cont create mypool mycont --type POSIX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 cont create mypool scratch --type POSIX \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--properties rd_fac:0 --dir-oclass SX --file-oclass S1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# mount for unmodified programs (one daemon per node)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dfuse --pool mypool --container mycont /mnt/daos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dfuse ... --disable-caching            # shared writers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dfuse ... --enable-wb-cache            # write-behind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fusermount3 -u /mnt/daos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 fs scan     mypool mycont                     # files, dirs, sizes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daos fs get-attr mypool mycont --dfs-path /ckpt    # class, chunk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43000"/>
            <a:ext cx="55778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535C66"/>
                </a:solidFill>
              </a:rPr>
              <a:t>Interception: bypass the kernel without touching the program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577840" cy="1193292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# data calls direct, metadata via dfuse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LD_PRELOAD=$DAOS/lib64/libioil.so   D_IL_REPORT=1   ./app /mnt/daos/...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# everything direct; dfuse only to find the container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LD_PRELOAD=$DAOS/lib64/libpil4dfs.so                ./app /mnt/daos/...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D_IL_MOUNT_POINT, D_IL_POOL, D_IL_CONTAINER   # use without a mount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D_IL_MAX_EQ, D_IL_BYPASS_LIST                 # tuning / exclusions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429000"/>
            <a:ext cx="55778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535C66"/>
                </a:solidFill>
              </a:rPr>
              <a:t>The DFS API from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703320"/>
            <a:ext cx="5577840" cy="1673352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dfs_init();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dfs_connect("mypool", NULL, "mycont", O_RDWR, NULL, &amp;dfs);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dfs_open(dfs, NULL /* root */, "hello.txt", S_IFREG | 0644,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O_CREAT | O_RDWR, 0 /* class */, 0 /* chunk */, NULL, &amp;file);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d_iov_set(&amp;iov, buf, len);  sgl = (d_sg_list_t){ .sg_nr = 1, .sg_iovs = &amp;iov };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dfs_write(dfs, file, &amp;sgl, 0 /* offset */, NULL);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dfs_release(file);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dfs_disconnect(dfs);  dfs_fini();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49039"/>
            <a:ext cx="55778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 err="1">
                <a:solidFill>
                  <a:srgbClr val="535C66"/>
                </a:solidFill>
                <a:latin typeface="Consolas"/>
              </a:rPr>
              <a:t>dfs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_*</a:t>
            </a:r>
            <a:r>
              <a:rPr sz="1200" dirty="0"/>
              <a:t> mirrors POSIX one-to-one (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dfs_mkdir</a:t>
            </a:r>
            <a:r>
              <a:rPr sz="1200" dirty="0"/>
              <a:t>, 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dfs_lookup</a:t>
            </a:r>
            <a:r>
              <a:rPr sz="1200" dirty="0"/>
              <a:t>, 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dfs_stat</a:t>
            </a:r>
            <a:r>
              <a:rPr sz="1200" dirty="0"/>
              <a:t>, 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dfs_readdir</a:t>
            </a:r>
            <a:r>
              <a:rPr sz="1200" dirty="0"/>
              <a:t>, 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dfs_punch</a:t>
            </a:r>
            <a:r>
              <a:rPr sz="1200" dirty="0"/>
              <a:t> …) with a </a:t>
            </a:r>
            <a:r>
              <a:rPr sz="1200" dirty="0" err="1">
                <a:solidFill>
                  <a:srgbClr val="535C66"/>
                </a:solidFill>
                <a:latin typeface="Consolas"/>
              </a:rPr>
              <a:t>dfs_obj_t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 *</a:t>
            </a:r>
            <a:r>
              <a:rPr sz="1200" dirty="0"/>
              <a:t> where POSIX has a descriptor; 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0</a:t>
            </a:r>
            <a:r>
              <a:rPr sz="1200" dirty="0"/>
              <a:t> for class and chunk size means "the directory's defaults"</a:t>
            </a:r>
          </a:p>
          <a:p>
            <a:endParaRPr lang="en-US" sz="1200" dirty="0"/>
          </a:p>
          <a:p>
            <a:r>
              <a:rPr sz="1200" dirty="0"/>
              <a:t>Interception libraries need the container's ACL like any other client; </a:t>
            </a:r>
            <a:r>
              <a:rPr sz="1200" dirty="0">
                <a:solidFill>
                  <a:srgbClr val="535C66"/>
                </a:solidFill>
                <a:latin typeface="Consolas"/>
              </a:rPr>
              <a:t>D_IL_REPORT=1</a:t>
            </a:r>
            <a:r>
              <a:rPr sz="1200" dirty="0"/>
              <a:t> prints at exit how many calls were intercepted vs. passed to the kernel — the first thing to check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directory / file object class and chunk size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3670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What you 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Directory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File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Chunk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Why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Few directories, each &lt; ~10⁴ entries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S1</a:t>
                      </a:r>
                      <a:r>
                        <a:rPr sz="1100"/>
                        <a:t> (rd_fac 0) ·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RP_2G1</a:t>
                      </a:r>
                      <a:r>
                        <a:rPr sz="1100"/>
                        <a:t> (rd_fac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one shard per directory: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readdir</a:t>
                      </a:r>
                      <a:r>
                        <a:rPr sz="1100"/>
                        <a:t> and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create</a:t>
                      </a:r>
                      <a:r>
                        <a:rPr sz="1100"/>
                        <a:t> touch one 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660">
                <a:tc>
                  <a:txBody>
                    <a:bodyPr/>
                    <a:lstStyle/>
                    <a:p>
                      <a:r>
                        <a:rPr sz="1100"/>
                        <a:t>Huge directories, 10⁵–10⁶ entries, scanned often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SX</a:t>
                      </a:r>
                      <a:r>
                        <a:rPr sz="1100"/>
                        <a:t> ·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RP_2GX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entries hashed over all shards: parallel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readdir</a:t>
                      </a:r>
                      <a:r>
                        <a:rPr sz="1100"/>
                        <a:t> by anchor (what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pydaos.torch</a:t>
                      </a:r>
                      <a:r>
                        <a:rPr sz="1100"/>
                        <a:t> exploits); creates spread over engines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Many small files (KB–MB, ≤ chunk size)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S1</a:t>
                      </a:r>
                      <a:r>
                        <a:rPr sz="1100"/>
                        <a:t> ·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RP_2G1</a:t>
                      </a:r>
                      <a:r>
                        <a:rPr sz="1100"/>
                        <a:t> /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EC_2P1G1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≥ file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one shard per file; EC on tiny files costs like replication anyway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035">
                <a:tc>
                  <a:txBody>
                    <a:bodyPr/>
                    <a:lstStyle/>
                    <a:p>
                      <a:r>
                        <a:rPr sz="1100"/>
                        <a:t>Large files, large aligned writes (checkpoints)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SX</a:t>
                      </a:r>
                      <a:r>
                        <a:rPr sz="1100"/>
                        <a:t> ·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EC_8P2GX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EC_16P2GX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typical write size, multiple of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ec_cell_sz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full-stripe writes, bandwidth of every engine; partial stripes fall back to 1+P copies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5660">
                <a:tc>
                  <a:txBody>
                    <a:bodyPr/>
                    <a:lstStyle/>
                    <a:p>
                      <a:r>
                        <a:rPr sz="1100"/>
                        <a:t>Both in one container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default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S1</a:t>
                      </a:r>
                      <a:r>
                        <a:rPr sz="1100"/>
                        <a:t>-class, override per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per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daos fs set-attr mypool mycont --dfs-path /ckpt --oclass EC_16P2GX --chunk-size 4MiB</a:t>
                      </a:r>
                      <a:r>
                        <a:rPr sz="1100"/>
                        <a:t> — new files under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/ckpt</a:t>
                      </a:r>
                      <a:r>
                        <a:rPr sz="1100"/>
                        <a:t> inherit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088255"/>
            <a:ext cx="11430000" cy="1221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Classes are per object and fixed at creation; the container flags set the *defaults*, a directory's attributes override them for files created inside, and an API caller can override per file (</a:t>
            </a:r>
            <a:r>
              <a:rPr sz="1200">
                <a:solidFill>
                  <a:srgbClr val="535C66"/>
                </a:solidFill>
                <a:latin typeface="Consolas"/>
              </a:rPr>
              <a:t>dfs_open(..., cid, chunk_size, ...)</a:t>
            </a:r>
            <a:r>
              <a:rPr sz="1200"/>
              <a:t>)</a:t>
            </a:r>
          </a:p>
          <a:p>
            <a:r>
              <a:rPr sz="1200"/>
              <a:t>Worked example from the next tutorial: </a:t>
            </a:r>
            <a:r>
              <a:rPr sz="1200">
                <a:solidFill>
                  <a:srgbClr val="535C66"/>
                </a:solidFill>
                <a:latin typeface="Consolas"/>
              </a:rPr>
              <a:t>--dir-oclass SX --file-oclass S1</a:t>
            </a:r>
            <a:r>
              <a:rPr sz="1200"/>
              <a:t> for 10⁴ × 12 KB samples, checkpoints written with class </a:t>
            </a:r>
            <a:r>
              <a:rPr sz="1200">
                <a:solidFill>
                  <a:srgbClr val="535C66"/>
                </a:solidFill>
                <a:latin typeface="Consolas"/>
              </a:rPr>
              <a:t>SX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dfuse caching: what is cached, and when it can be stale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2972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Lives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Container 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Stale when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Attributes (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stat</a:t>
                      </a:r>
                      <a:r>
                        <a:rPr sz="11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kernel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dfuse-attr-time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on, timed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another node changes size / mtime within the timeout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Directory entries (positive / negative)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kernel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dfuse-dentry-time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dfuse-dentry-dir-time</a:t>
                      </a:r>
                      <a:r>
                        <a:rPr sz="1100"/>
                        <a:t>,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dfuse-ndentry-time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on, timed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another node creates, renames or deletes within the timeout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File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kernel page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dfuse-data-cache</a:t>
                      </a:r>
                      <a:r>
                        <a:rPr sz="1100"/>
                        <a:t> (on / off / 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on, write-through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another node writes the same file; disable for shared-write workloads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035">
                <a:tc>
                  <a:txBody>
                    <a:bodyPr/>
                    <a:lstStyle/>
                    <a:p>
                      <a:r>
                        <a:rPr sz="1100"/>
                        <a:t>Write-behind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kernel page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--enable-wb-cache</a:t>
                      </a:r>
                      <a:r>
                        <a:rPr sz="1100"/>
                        <a:t> /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--disable-wb-cache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write()</a:t>
                      </a:r>
                      <a:r>
                        <a:rPr sz="1100"/>
                        <a:t> returns before DAOS has the data;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fsync</a:t>
                      </a:r>
                      <a:r>
                        <a:rPr sz="1100"/>
                        <a:t> returns 0; a late I/O error cannot reach the caller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410">
                <a:tc>
                  <a:txBody>
                    <a:bodyPr/>
                    <a:lstStyle/>
                    <a:p>
                      <a:r>
                        <a:rPr sz="1100"/>
                        <a:t>Everything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--disable-caching</a:t>
                      </a:r>
                      <a:r>
                        <a:rPr sz="1100"/>
                        <a:t> (mount) / </a:t>
                      </a:r>
                      <a:r>
                        <a:rPr sz="1100">
                          <a:solidFill>
                            <a:srgbClr val="535C66"/>
                          </a:solidFill>
                          <a:latin typeface="Consolas"/>
                        </a:rPr>
                        <a:t>daos fs evict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use when several nodes read and write the same files concurrently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389755"/>
            <a:ext cx="11430000" cy="191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Set per container: </a:t>
            </a:r>
            <a:r>
              <a:rPr sz="1200">
                <a:solidFill>
                  <a:srgbClr val="535C66"/>
                </a:solidFill>
                <a:latin typeface="Consolas"/>
              </a:rPr>
              <a:t>daos cont set-attr mypool mycont dfuse-data-cache off</a:t>
            </a:r>
            <a:r>
              <a:rPr sz="1200"/>
              <a:t>, </a:t>
            </a:r>
            <a:r>
              <a:rPr sz="1200">
                <a:solidFill>
                  <a:srgbClr val="535C66"/>
                </a:solidFill>
                <a:latin typeface="Consolas"/>
              </a:rPr>
              <a:t>… dfuse-attr-time 5s</a:t>
            </a:r>
            <a:r>
              <a:rPr sz="1200"/>
              <a:t> — every dfuse that mounts it picks them up; mount flags override</a:t>
            </a:r>
          </a:p>
          <a:p>
            <a:r>
              <a:rPr sz="1200"/>
              <a:t>The caches exist because FUSE makes every miss a round trip; the interception libraries (path C) avoid the round trips and therefore most of the caching questions</a:t>
            </a:r>
          </a:p>
          <a:p>
            <a:r>
              <a:rPr sz="1200"/>
              <a:t>Single-writer or read-only datasets (training data!): defaults are right. Shared-write files: turn caching off or use interception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feeding PyTorch from DAOS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A training job needs two things from storage: a tree of sample files read at random every epoch, and a directory of large checkpoint files written in bulk — both live in one POSIX container</a:t>
            </a:r>
          </a:p>
          <a:p>
            <a:r>
              <a:rPr sz="1600"/>
              <a:t>Everything from today carries over: pool and container labels and ACLs, </a:t>
            </a:r>
            <a:r>
              <a:rPr sz="1600">
                <a:solidFill>
                  <a:srgbClr val="535C66"/>
                </a:solidFill>
                <a:latin typeface="Consolas"/>
              </a:rPr>
              <a:t>rd_fac</a:t>
            </a:r>
            <a:r>
              <a:rPr sz="1600"/>
              <a:t> and object classes (directories </a:t>
            </a:r>
            <a:r>
              <a:rPr sz="1600">
                <a:solidFill>
                  <a:srgbClr val="535C66"/>
                </a:solidFill>
                <a:latin typeface="Consolas"/>
              </a:rPr>
              <a:t>SX</a:t>
            </a:r>
            <a:r>
              <a:rPr sz="1600"/>
              <a:t>, small samples </a:t>
            </a:r>
            <a:r>
              <a:rPr sz="1600">
                <a:solidFill>
                  <a:srgbClr val="535C66"/>
                </a:solidFill>
                <a:latin typeface="Consolas"/>
              </a:rPr>
              <a:t>S1</a:t>
            </a:r>
            <a:r>
              <a:rPr sz="1600"/>
              <a:t>, checkpoints striped), chunk size, the handle-sharing pattern for forked workers</a:t>
            </a:r>
          </a:p>
          <a:p>
            <a:r>
              <a:rPr sz="1600"/>
              <a:t>Of the three POSIX paths, the PyTorch module takes path A: </a:t>
            </a:r>
            <a:r>
              <a:rPr sz="1600">
                <a:solidFill>
                  <a:srgbClr val="535C66"/>
                </a:solidFill>
                <a:latin typeface="Consolas"/>
              </a:rPr>
              <a:t>pydaos.torch</a:t>
            </a:r>
            <a:r>
              <a:rPr sz="1600"/>
              <a:t> links libdfs directly, so a batch of 64 sample files is one asynchronous burst and checkpoints stream to DAOS from </a:t>
            </a:r>
            <a:r>
              <a:rPr sz="1600">
                <a:solidFill>
                  <a:srgbClr val="535C66"/>
                </a:solidFill>
                <a:latin typeface="Consolas"/>
              </a:rPr>
              <a:t>torch.save</a:t>
            </a:r>
          </a:p>
          <a:p>
            <a:r>
              <a:rPr sz="1600"/>
              <a:t>What is new there: </a:t>
            </a:r>
            <a:r>
              <a:rPr sz="1600">
                <a:solidFill>
                  <a:srgbClr val="535C66"/>
                </a:solidFill>
                <a:latin typeface="Consolas"/>
              </a:rPr>
              <a:t>Dataset</a:t>
            </a:r>
            <a:r>
              <a:rPr sz="1600"/>
              <a:t> / </a:t>
            </a:r>
            <a:r>
              <a:rPr sz="1600">
                <a:solidFill>
                  <a:srgbClr val="535C66"/>
                </a:solidFill>
                <a:latin typeface="Consolas"/>
              </a:rPr>
              <a:t>IterableDataset</a:t>
            </a:r>
            <a:r>
              <a:rPr sz="1600"/>
              <a:t> replace the file-reading class, </a:t>
            </a:r>
            <a:r>
              <a:rPr sz="1600">
                <a:solidFill>
                  <a:srgbClr val="535C66"/>
                </a:solidFill>
                <a:latin typeface="Consolas"/>
              </a:rPr>
              <a:t>Checkpoint</a:t>
            </a:r>
            <a:r>
              <a:rPr sz="1600"/>
              <a:t> replaces the path given to </a:t>
            </a:r>
            <a:r>
              <a:rPr sz="1600">
                <a:solidFill>
                  <a:srgbClr val="535C66"/>
                </a:solidFill>
                <a:latin typeface="Consolas"/>
              </a:rPr>
              <a:t>torch.save</a:t>
            </a:r>
            <a:r>
              <a:rPr sz="1600"/>
              <a:t> / </a:t>
            </a:r>
            <a:r>
              <a:rPr sz="1600">
                <a:solidFill>
                  <a:srgbClr val="535C66"/>
                </a:solidFill>
                <a:latin typeface="Consolas"/>
              </a:rPr>
              <a:t>torch.load</a:t>
            </a:r>
            <a:r>
              <a:rPr sz="1600"/>
              <a:t> — two changes to a standard training script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F29566-5470-D3D8-0F61-D70F81B7E5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>
          <a:xfrm>
            <a:off x="5592973" y="6192760"/>
            <a:ext cx="6217666" cy="1905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PE Light Theme">
  <a:themeElements>
    <a:clrScheme name="HPE Light">
      <a:dk1>
        <a:srgbClr val="292D3A"/>
      </a:dk1>
      <a:lt1>
        <a:sysClr val="window" lastClr="FFFFFF"/>
      </a:lt1>
      <a:dk2>
        <a:srgbClr val="B1B9BE"/>
      </a:dk2>
      <a:lt2>
        <a:srgbClr val="535C66"/>
      </a:lt2>
      <a:accent1>
        <a:srgbClr val="01A982"/>
      </a:accent1>
      <a:accent2>
        <a:srgbClr val="7764FC"/>
      </a:accent2>
      <a:accent3>
        <a:srgbClr val="0070F8"/>
      </a:accent3>
      <a:accent4>
        <a:srgbClr val="00DBE4"/>
      </a:accent4>
      <a:accent5>
        <a:srgbClr val="873492"/>
      </a:accent5>
      <a:accent6>
        <a:srgbClr val="CC54A4"/>
      </a:accent6>
      <a:hlink>
        <a:srgbClr val="01A982"/>
      </a:hlink>
      <a:folHlink>
        <a:srgbClr val="7764FC"/>
      </a:folHlink>
    </a:clrScheme>
    <a:fontScheme name="HPE Graphik">
      <a:majorFont>
        <a:latin typeface="HPE Graphik Semibold"/>
        <a:ea typeface=""/>
        <a:cs typeface=""/>
      </a:majorFont>
      <a:minorFont>
        <a:latin typeface="HPE 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47625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 w="38100">
          <a:noFill/>
        </a:ln>
      </a:spPr>
      <a:bodyPr wrap="square" lIns="90170" tIns="90170" rIns="90170" bIns="9017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HPE Gold">
      <a:srgbClr val="DEB146"/>
    </a:custClr>
    <a:custClr name="HPE Red">
      <a:srgbClr val="C64F3A"/>
    </a:custClr>
    <a:custClr name="HPE Green">
      <a:srgbClr val="01A982"/>
    </a:custClr>
    <a:custClr name="Primary Green">
      <a:srgbClr val="05CC93"/>
    </a:custClr>
    <a:custClr name="Secondary Green">
      <a:srgbClr val="00E0AF"/>
    </a:custClr>
    <a:custClr name="Blue">
      <a:srgbClr val="0070F8"/>
    </a:custClr>
    <a:custClr name="Light Gray 1">
      <a:srgbClr val="F7F7F7"/>
    </a:custClr>
    <a:custClr name="Light Gray 2">
      <a:srgbClr val="E6E8E9"/>
    </a:custClr>
  </a:custClrLst>
  <a:extLst>
    <a:ext uri="{05A4C25C-085E-4340-85A3-A5531E510DB2}">
      <thm15:themeFamily xmlns:thm15="http://schemas.microsoft.com/office/thememl/2012/main" name="Presentation25" id="{4CE7F4F9-8FD3-8F41-8DF4-2DB2B1B59F38}" vid="{8081B760-5CD2-A04E-9FBC-BBB3AA433A4F}"/>
    </a:ext>
  </a:extLst>
</a:theme>
</file>

<file path=ppt/theme/theme2.xml><?xml version="1.0" encoding="utf-8"?>
<a:theme xmlns:a="http://schemas.openxmlformats.org/drawingml/2006/main" name="Office Theme">
  <a:themeElements>
    <a:clrScheme name="HPE Light">
      <a:dk1>
        <a:srgbClr val="292D3A"/>
      </a:dk1>
      <a:lt1>
        <a:sysClr val="window" lastClr="FFFFFF"/>
      </a:lt1>
      <a:dk2>
        <a:srgbClr val="B1B9BE"/>
      </a:dk2>
      <a:lt2>
        <a:srgbClr val="535C66"/>
      </a:lt2>
      <a:accent1>
        <a:srgbClr val="01A982"/>
      </a:accent1>
      <a:accent2>
        <a:srgbClr val="7764FC"/>
      </a:accent2>
      <a:accent3>
        <a:srgbClr val="0070F8"/>
      </a:accent3>
      <a:accent4>
        <a:srgbClr val="00DBE4"/>
      </a:accent4>
      <a:accent5>
        <a:srgbClr val="873492"/>
      </a:accent5>
      <a:accent6>
        <a:srgbClr val="CC54A4"/>
      </a:accent6>
      <a:hlink>
        <a:srgbClr val="01A982"/>
      </a:hlink>
      <a:folHlink>
        <a:srgbClr val="7764FC"/>
      </a:folHlink>
    </a:clrScheme>
    <a:fontScheme name="HPE Graphik">
      <a:majorFont>
        <a:latin typeface="HPE Graphik Semibold"/>
        <a:ea typeface=""/>
        <a:cs typeface=""/>
      </a:majorFont>
      <a:minorFont>
        <a:latin typeface="HPE 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C8B5AF8736FD429803BF95C30EE0A8" ma:contentTypeVersion="16" ma:contentTypeDescription="Create a new document." ma:contentTypeScope="" ma:versionID="3630763228e35b79a7d6708e3ded5231">
  <xsd:schema xmlns:xsd="http://www.w3.org/2001/XMLSchema" xmlns:xs="http://www.w3.org/2001/XMLSchema" xmlns:p="http://schemas.microsoft.com/office/2006/metadata/properties" xmlns:ns2="e907fd0c-347a-41a1-b4a4-4193fd2c5eaf" xmlns:ns3="528dc42b-a8a9-4871-b1aa-61453096122c" targetNamespace="http://schemas.microsoft.com/office/2006/metadata/properties" ma:root="true" ma:fieldsID="13f90c602dbe650ec76b5298947a097b" ns2:_="" ns3:_="">
    <xsd:import namespace="e907fd0c-347a-41a1-b4a4-4193fd2c5eaf"/>
    <xsd:import namespace="528dc42b-a8a9-4871-b1aa-61453096122c"/>
    <xsd:element name="properties">
      <xsd:complexType>
        <xsd:sequence>
          <xsd:element name="documentManagement">
            <xsd:complexType>
              <xsd:all>
                <xsd:element ref="ns2:Comments" minOccurs="0"/>
                <xsd:element ref="ns2:Status" minOccurs="0"/>
                <xsd:element ref="ns2:_Flow_SignoffStatu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07fd0c-347a-41a1-b4a4-4193fd2c5eaf" elementFormDefault="qualified">
    <xsd:import namespace="http://schemas.microsoft.com/office/2006/documentManagement/types"/>
    <xsd:import namespace="http://schemas.microsoft.com/office/infopath/2007/PartnerControls"/>
    <xsd:element name="Comments" ma:index="8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Status" ma:index="9" nillable="true" ma:displayName="Status" ma:description="Status of document" ma:format="RadioButtons" ma:internalName="Status">
      <xsd:simpleType>
        <xsd:restriction base="dms:Choice">
          <xsd:enumeration value="Draft"/>
          <xsd:enumeration value="In review"/>
          <xsd:enumeration value="Approved"/>
          <xsd:enumeration value="Final"/>
        </xsd:restriction>
      </xsd:simpleType>
    </xsd:element>
    <xsd:element name="_Flow_SignoffStatus" ma:index="10" nillable="true" ma:displayName="Sign-off status" ma:internalName="_x0024_Resources_x003a_core_x002c_Signoff_Status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25aa102e-2e4d-4f82-9951-c6a7f8de6b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8dc42b-a8a9-4871-b1aa-61453096122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2cf5ac5e-b5f7-4729-afe9-54e135210c0c" ma:internalName="TaxCatchAll" ma:showField="CatchAllData" ma:web="906e8691-28cc-464f-83ae-7aca97663a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8dc42b-a8a9-4871-b1aa-61453096122c" xsi:nil="true"/>
    <lcf76f155ced4ddcb4097134ff3c332f xmlns="e907fd0c-347a-41a1-b4a4-4193fd2c5eaf">
      <Terms xmlns="http://schemas.microsoft.com/office/infopath/2007/PartnerControls"/>
    </lcf76f155ced4ddcb4097134ff3c332f>
    <_Flow_SignoffStatus xmlns="e907fd0c-347a-41a1-b4a4-4193fd2c5eaf" xsi:nil="true"/>
    <Comments xmlns="e907fd0c-347a-41a1-b4a4-4193fd2c5eaf" xsi:nil="true"/>
    <Status xmlns="e907fd0c-347a-41a1-b4a4-4193fd2c5eaf" xsi:nil="true"/>
  </documentManagement>
</p:properties>
</file>

<file path=customXml/itemProps1.xml><?xml version="1.0" encoding="utf-8"?>
<ds:datastoreItem xmlns:ds="http://schemas.openxmlformats.org/officeDocument/2006/customXml" ds:itemID="{9CC0593A-7F70-4F4D-8531-3B3C40A63B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3662C8-3498-462B-8965-E6E4E183D6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07fd0c-347a-41a1-b4a4-4193fd2c5eaf"/>
    <ds:schemaRef ds:uri="528dc42b-a8a9-4871-b1aa-6145309612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3958DC6-5C23-4AE0-B6AA-A4452D5FB2AB}">
  <ds:schemaRefs>
    <ds:schemaRef ds:uri="532052c0-6831-4539-9e85-59033aa6fde4"/>
    <ds:schemaRef ds:uri="2c4f9367-3b51-4014-9ae2-ef6cf04436b5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528dc42b-a8a9-4871-b1aa-61453096122c"/>
    <ds:schemaRef ds:uri="e907fd0c-347a-41a1-b4a4-4193fd2c5eaf"/>
  </ds:schemaRefs>
</ds:datastoreItem>
</file>

<file path=docMetadata/LabelInfo.xml><?xml version="1.0" encoding="utf-8"?>
<clbl:labelList xmlns:clbl="http://schemas.microsoft.com/office/2020/mipLabelMetadata">
  <clbl:label id="{00cb3a2a-097e-4f70-bb56-399878dd3351}" enabled="0" method="" siteId="{00cb3a2a-097e-4f70-bb56-399878dd335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HPE Discover 2026_Powerpoint_Light_Standard_02</Template>
  <TotalTime>458</TotalTime>
  <Words>5951</Words>
  <Application>Microsoft Macintosh PowerPoint</Application>
  <PresentationFormat>Widescreen</PresentationFormat>
  <Paragraphs>633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HPE Graphik Semibold</vt:lpstr>
      <vt:lpstr>HPE Graphik Light</vt:lpstr>
      <vt:lpstr>Consolas</vt:lpstr>
      <vt:lpstr>Aptos</vt:lpstr>
      <vt:lpstr>HPE Graphik</vt:lpstr>
      <vt:lpstr>HPE Light Theme</vt:lpstr>
      <vt:lpstr>DAOS for Users</vt:lpstr>
      <vt:lpstr>Agenda</vt:lpstr>
      <vt:lpstr>Why DAOS</vt:lpstr>
      <vt:lpstr>DAOS Overview</vt:lpstr>
      <vt:lpstr>Use Cases</vt:lpstr>
      <vt:lpstr>Common PFS struggles: semantics, not hardware</vt:lpstr>
      <vt:lpstr>How DAOS sidesteps each of those</vt:lpstr>
      <vt:lpstr>You still get files — and everything built on them</vt:lpstr>
      <vt:lpstr>DAOS Concepts</vt:lpstr>
      <vt:lpstr>Pool → container → object</vt:lpstr>
      <vt:lpstr>Redundancy: replication or erasure coding, chosen per object</vt:lpstr>
      <vt:lpstr>Reasonable defaults: set once at the top, inherited downwards</vt:lpstr>
      <vt:lpstr>Container properties</vt:lpstr>
      <vt:lpstr>Getting Started with the DAOS API</vt:lpstr>
      <vt:lpstr>What a DAOS client process looks like</vt:lpstr>
      <vt:lpstr>Every DAOS program's skeleton — and the CLI beside it</vt:lpstr>
      <vt:lpstr>Three object types — pick by how you address your data</vt:lpstr>
      <vt:lpstr>KV and array in a few lines each</vt:lpstr>
      <vt:lpstr>From Python — and where to look next</vt:lpstr>
      <vt:lpstr>POSIX on DAOS</vt:lpstr>
      <vt:lpstr>Three ways to reach a POSIX container</vt:lpstr>
      <vt:lpstr>How libdfs maps POSIX onto objects</vt:lpstr>
      <vt:lpstr>Using it: container, mount, interception, API</vt:lpstr>
      <vt:lpstr>Choosing directory / file object class and chunk size</vt:lpstr>
      <vt:lpstr>dfuse caching: what is cached, and when it can be stale</vt:lpstr>
      <vt:lpstr>Next: feeding PyTorch from DAOS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Lisa Malmquist</dc:creator>
  <cp:lastModifiedBy>Chaarawi, Mohamad</cp:lastModifiedBy>
  <cp:revision>13</cp:revision>
  <dcterms:created xsi:type="dcterms:W3CDTF">2026-03-25T12:38:37Z</dcterms:created>
  <dcterms:modified xsi:type="dcterms:W3CDTF">2026-10-19T18:25:54Z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0x010100EDC8B5AF8736FD429803BF95C30EE0A8</vt:lpwstr>
  </property>
  <property fmtid="{D5CDD505-2E9C-101B-9397-08002B2CF9AE}" pid="3" name="MediaServiceImageTags">
    <vt:lpwstr/>
  </property>
</Properties>
</file>