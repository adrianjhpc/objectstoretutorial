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8" r:id="rId1"/>
  </p:sldMasterIdLst>
  <p:notesMasterIdLst>
    <p:notesMasterId r:id="rId16"/>
  </p:notesMasterIdLst>
  <p:sldIdLst>
    <p:sldId id="264" r:id="rId2"/>
    <p:sldId id="2147481882" r:id="rId3"/>
    <p:sldId id="2134096492" r:id="rId4"/>
    <p:sldId id="2134096493" r:id="rId5"/>
    <p:sldId id="2147481883" r:id="rId6"/>
    <p:sldId id="2134096497" r:id="rId7"/>
    <p:sldId id="2147481884" r:id="rId8"/>
    <p:sldId id="2134096498" r:id="rId9"/>
    <p:sldId id="2147481885" r:id="rId10"/>
    <p:sldId id="2134096502" r:id="rId11"/>
    <p:sldId id="2147481886" r:id="rId12"/>
    <p:sldId id="2147481887" r:id="rId13"/>
    <p:sldId id="2147481888" r:id="rId14"/>
    <p:sldId id="2147481889" r:id="rId15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B2803F6-9E7F-4707-87E4-3FB8C6453A8A}">
          <p14:sldIdLst>
            <p14:sldId id="264"/>
            <p14:sldId id="2147481882"/>
            <p14:sldId id="2134096492"/>
            <p14:sldId id="2134096493"/>
            <p14:sldId id="2147481883"/>
            <p14:sldId id="2134096497"/>
            <p14:sldId id="2147481884"/>
            <p14:sldId id="2134096498"/>
            <p14:sldId id="2147481885"/>
            <p14:sldId id="2134096502"/>
            <p14:sldId id="2147481886"/>
            <p14:sldId id="2147481887"/>
            <p14:sldId id="2147481888"/>
            <p14:sldId id="21474818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16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6" autoAdjust="0"/>
    <p:restoredTop sz="94641"/>
  </p:normalViewPr>
  <p:slideViewPr>
    <p:cSldViewPr snapToGrid="0">
      <p:cViewPr varScale="1">
        <p:scale>
          <a:sx n="121" d="100"/>
          <a:sy n="121" d="100"/>
        </p:scale>
        <p:origin x="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6C3814-EC09-E946-AC17-FF755F7A99BE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914D2-5718-6741-BC16-AD4D48F01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0964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2618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182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file:////Users/toddszymanski/Documents/01%20Work/SC25/ppt/presenter%20ppt/4x/sc25_presenter_title@4x.png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 r:link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FE66A-3EEE-08DD-08EB-F92C3D1D938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1556238"/>
            <a:ext cx="10515600" cy="1395748"/>
          </a:xfrm>
        </p:spPr>
        <p:txBody>
          <a:bodyPr anchor="b">
            <a:noAutofit/>
          </a:bodyPr>
          <a:lstStyle>
            <a:lvl1pPr algn="l">
              <a:defRPr sz="2800" cap="none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Session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E6F5B3-5592-F7B8-CEE2-18385BD1C90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38199" y="3063875"/>
            <a:ext cx="10515599" cy="2237887"/>
          </a:xfrm>
        </p:spPr>
        <p:txBody>
          <a:bodyPr>
            <a:normAutofit/>
          </a:bodyPr>
          <a:lstStyle>
            <a:lvl1pPr marL="0" indent="0" algn="l">
              <a:buNone/>
              <a:defRPr sz="2000" baseline="0">
                <a:solidFill>
                  <a:schemeClr val="bg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 dirty="0"/>
              <a:t>Click to add presenter(s), speaker(s), or contributor(s) &amp; affiliation(s)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D10F96-8687-18F5-AEE0-7B430C8A0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baseline="0">
                <a:solidFill>
                  <a:schemeClr val="bg1"/>
                </a:solidFill>
              </a:defRPr>
            </a:lvl1pPr>
          </a:lstStyle>
          <a:p>
            <a:fld id="{9CF76826-5B84-3741-AD42-3736339E2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39E5BAE-47A5-6336-F130-D5869F4651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821204"/>
            <a:ext cx="10515598" cy="61298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8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program area</a:t>
            </a:r>
          </a:p>
        </p:txBody>
      </p:sp>
    </p:spTree>
    <p:extLst>
      <p:ext uri="{BB962C8B-B14F-4D97-AF65-F5344CB8AC3E}">
        <p14:creationId xmlns:p14="http://schemas.microsoft.com/office/powerpoint/2010/main" val="337030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A392D-30C6-3E39-A4B1-901ED6CF5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8049"/>
            <a:ext cx="10515600" cy="5659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E82EA-9EF1-C952-5622-6B71F1258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4A46F4-55F4-FCF0-C215-231D39096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baseline="0"/>
            </a:lvl1pPr>
          </a:lstStyle>
          <a:p>
            <a:fld id="{9CF76826-5B84-3741-AD42-3736339E2B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65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2B049-04EB-1AD1-D703-0277DD605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17EC9E-0222-223B-75CD-ACFED6434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49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8FC5F-42D6-A7EF-06D2-4E620872A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76826-5B84-3741-AD42-3736339E2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17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975CC-AC2B-088F-9713-3391EDD03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8049"/>
            <a:ext cx="10515600" cy="565976"/>
          </a:xfrm>
        </p:spPr>
        <p:txBody>
          <a:bodyPr>
            <a:normAutofit/>
          </a:bodyPr>
          <a:lstStyle>
            <a:lvl1pPr>
              <a:defRPr sz="2400" cap="none" baseline="0">
                <a:solidFill>
                  <a:srgbClr val="50164A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061F0-37DC-FD13-49CA-7CACEF188F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43414"/>
            <a:ext cx="5181600" cy="50335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0FB15B-04C9-6070-5EB0-1D477E26AA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43412"/>
            <a:ext cx="5181600" cy="50335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64CB93-A9C5-85F9-CED5-FF00398E5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76826-5B84-3741-AD42-3736339E2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571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671EC-BFD5-0724-7369-49AEE7D88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14251"/>
            <a:ext cx="10515600" cy="63912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C3E6DF-CDA4-9040-88F6-85F47BF57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220067"/>
            <a:ext cx="5157787" cy="128500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38DC19-8626-73C5-9726-A910A4104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6514F6-FE55-B2DE-2D2C-C1BD8AD8BE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220067"/>
            <a:ext cx="5183188" cy="128500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63AD46-2996-29FA-D3EC-8F3960789A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7A18F3-FB7B-4DEF-C6C7-06362A85B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76826-5B84-3741-AD42-3736339E2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940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67822-D667-3B77-E6AD-98460F23C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42B71D-9A5E-51B5-0DBC-6ACFE9602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76826-5B84-3741-AD42-3736339E2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472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6A16F-460A-6464-CDCD-0CA1589A2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76826-5B84-3741-AD42-3736339E2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120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C3E28-9E86-FBA2-8FF4-BC6BE54C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6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B0263F-4544-9B34-9A95-2706F6CA0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32EBE3-D3F0-0C71-BC39-E4CB1E37D7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8CBEFF-5D34-C674-BA78-3C060145D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76826-5B84-3741-AD42-3736339E2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615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F47DD-9B77-725C-4CE4-8EF44E137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6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BC090B-385B-41B6-F7D7-2CC4C1A0D2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BF9FD0-2175-8C94-9D5C-90F85D2D58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331113-AC4A-BBDA-845E-8CA44F757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76826-5B84-3741-AD42-3736339E2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605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file:////Users/toddszymanski/Documents/01%20Work/SC25/ppt/presenter%20ppt/4x/sc25_presenter_page@4x.png" TargetMode="Externa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 r:link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40E76E-3A22-A041-781E-4467A538E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8049"/>
            <a:ext cx="10515600" cy="5659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248A02-15D9-C7BB-D3DA-50842B34F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154546"/>
            <a:ext cx="10515600" cy="5022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99661-2CA7-BF8A-01DB-1E20DD27A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1"/>
            <a:ext cx="489528" cy="4849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 baseline="0">
                <a:solidFill>
                  <a:schemeClr val="bg1"/>
                </a:solidFill>
              </a:defRPr>
            </a:lvl1pPr>
          </a:lstStyle>
          <a:p>
            <a:fld id="{9CF76826-5B84-3741-AD42-3736339E2B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303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2400" b="1" i="0" kern="1200" cap="none" baseline="0">
          <a:solidFill>
            <a:srgbClr val="50164A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GIOproject/PMTutorial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69C71-8597-490B-F41D-18E3F2592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Tutorial on the DAOS API - Exercises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EEA7FE-E7B0-87E2-11DC-AB99F30BF7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Mohamad Chaarawi, HPE (mohamad.chaarawi@hpe.com)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6EBBF3-E61D-B8B2-B6A5-AC99A4A837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TUTORIALS</a:t>
            </a:r>
          </a:p>
        </p:txBody>
      </p:sp>
    </p:spTree>
    <p:extLst>
      <p:ext uri="{BB962C8B-B14F-4D97-AF65-F5344CB8AC3E}">
        <p14:creationId xmlns:p14="http://schemas.microsoft.com/office/powerpoint/2010/main" val="143813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2C53C-0CDD-F044-9AC7-B9DE3A4A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on </a:t>
            </a:r>
            <a:r>
              <a:rPr lang="en-US" dirty="0" err="1"/>
              <a:t>NEXTGenIO</a:t>
            </a:r>
            <a:r>
              <a:rPr lang="en-US" dirty="0"/>
              <a:t>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EFBFA-737B-6841-9C43-38387D7EE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DAOS </a:t>
            </a:r>
            <a:r>
              <a:rPr lang="en-US" dirty="0" err="1"/>
              <a:t>practicals</a:t>
            </a:r>
            <a:r>
              <a:rPr lang="en-US" dirty="0"/>
              <a:t> are in the </a:t>
            </a:r>
            <a:r>
              <a:rPr lang="en-US" dirty="0" err="1"/>
              <a:t>github</a:t>
            </a:r>
            <a:r>
              <a:rPr lang="en-US" dirty="0"/>
              <a:t> </a:t>
            </a:r>
          </a:p>
          <a:p>
            <a:r>
              <a:rPr lang="en-US" dirty="0"/>
              <a:t>DAOS is installed on the </a:t>
            </a:r>
            <a:r>
              <a:rPr lang="en-US" dirty="0" err="1"/>
              <a:t>NEXTGenIO</a:t>
            </a:r>
            <a:r>
              <a:rPr lang="en-US" dirty="0"/>
              <a:t> compute nodes but not the login node</a:t>
            </a:r>
          </a:p>
          <a:p>
            <a:pPr lvl="1"/>
            <a:r>
              <a:rPr lang="en-US" dirty="0"/>
              <a:t>This means compilation and running needs to be done on the compute nodes</a:t>
            </a:r>
          </a:p>
          <a:p>
            <a:r>
              <a:rPr lang="en-US" dirty="0"/>
              <a:t>We provide a batch script to compile all the examples in this practical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run_compile.sh</a:t>
            </a:r>
          </a:p>
          <a:p>
            <a:r>
              <a:rPr lang="en-US" dirty="0"/>
              <a:t> We provide a batch script to run all the compiled examples in this practical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run_examples.sh</a:t>
            </a:r>
          </a:p>
          <a:p>
            <a:r>
              <a:rPr lang="en-US" dirty="0">
                <a:latin typeface="+mn-lt"/>
                <a:cs typeface="Courier New" panose="02070309020205020404" pitchFamily="49" charset="0"/>
              </a:rPr>
              <a:t>Results will be provided in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slurm-XXXXXX.out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file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28171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2C53C-0CDD-F044-9AC7-B9DE3A4A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EFBFA-737B-6841-9C43-38387D7EE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kv1.c</a:t>
            </a:r>
          </a:p>
          <a:p>
            <a:pPr lvl="1"/>
            <a:r>
              <a:rPr lang="en-US" dirty="0"/>
              <a:t>Program to insert some keys in KV object</a:t>
            </a:r>
          </a:p>
          <a:p>
            <a:pPr lvl="1"/>
            <a:r>
              <a:rPr lang="en-US" dirty="0"/>
              <a:t>Run with ./</a:t>
            </a:r>
            <a:r>
              <a:rPr lang="en-US" dirty="0" err="1"/>
              <a:t>a.out</a:t>
            </a:r>
            <a:r>
              <a:rPr lang="en-US" dirty="0"/>
              <a:t> </a:t>
            </a:r>
            <a:r>
              <a:rPr lang="en-US" dirty="0" err="1"/>
              <a:t>pool_name</a:t>
            </a:r>
            <a:endParaRPr lang="en-US" dirty="0"/>
          </a:p>
          <a:p>
            <a:r>
              <a:rPr lang="en-US" dirty="0"/>
              <a:t>Will fail with: </a:t>
            </a:r>
          </a:p>
          <a:p>
            <a:pPr marL="228600" lvl="1" indent="0">
              <a:buNone/>
            </a:pP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container open failed: DER_NONEXIST (-1005) aborting</a:t>
            </a:r>
          </a:p>
          <a:p>
            <a:r>
              <a:rPr lang="en-US" dirty="0"/>
              <a:t>Modify to create the container “cont1”</a:t>
            </a:r>
          </a:p>
          <a:p>
            <a:r>
              <a:rPr lang="en-US" dirty="0"/>
              <a:t>Answer in kv1_answer.c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DF606D09-E497-6245-84D2-192E1B411399}"/>
              </a:ext>
            </a:extLst>
          </p:cNvPr>
          <p:cNvSpPr txBox="1">
            <a:spLocks/>
          </p:cNvSpPr>
          <p:nvPr/>
        </p:nvSpPr>
        <p:spPr>
          <a:xfrm>
            <a:off x="321633" y="5334000"/>
            <a:ext cx="11244083" cy="989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fontScale="92500" lnSpcReduction="10000"/>
          </a:bodyPr>
          <a:lstStyle>
            <a:lvl1pPr marL="228600" marR="0" indent="-228600" algn="l" defTabSz="609600" latinLnBrk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sz="2800" b="0" i="0" u="none" strike="noStrike" cap="none" spc="0" baseline="0">
                <a:solidFill>
                  <a:schemeClr val="bg2"/>
                </a:solidFill>
                <a:uFillTx/>
                <a:latin typeface="Intel Clear Light" panose="020B0404020203020204" pitchFamily="34" charset="0"/>
                <a:ea typeface="Intel Clear Light" panose="020B0404020203020204" pitchFamily="34" charset="0"/>
                <a:cs typeface="Intel Clear Light" panose="020B0404020203020204" pitchFamily="34" charset="0"/>
                <a:sym typeface="Helvetica"/>
              </a:defRPr>
            </a:lvl1pPr>
            <a:lvl2pPr marL="431800" marR="0" indent="-203200" algn="l" defTabSz="609600" latinLnBrk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400" b="0" i="0" u="none" strike="noStrike" cap="none" spc="0" baseline="0">
                <a:solidFill>
                  <a:schemeClr val="bg2"/>
                </a:solidFill>
                <a:uFillTx/>
                <a:latin typeface="Intel Clear Light" panose="020B0404020203020204" pitchFamily="34" charset="0"/>
                <a:ea typeface="Intel Clear Light" panose="020B0404020203020204" pitchFamily="34" charset="0"/>
                <a:cs typeface="Intel Clear Light" panose="020B0404020203020204" pitchFamily="34" charset="0"/>
                <a:sym typeface="Helvetica"/>
              </a:defRPr>
            </a:lvl2pPr>
            <a:lvl3pPr marL="686594" marR="0" indent="-197644" algn="l" defTabSz="609600" latinLnBrk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 b="0" i="0" u="none" strike="noStrike" cap="none" spc="0" baseline="0">
                <a:solidFill>
                  <a:schemeClr val="bg2"/>
                </a:solidFill>
                <a:uFillTx/>
                <a:latin typeface="Intel Clear Light" panose="020B0404020203020204" pitchFamily="34" charset="0"/>
                <a:ea typeface="Intel Clear Light" panose="020B0404020203020204" pitchFamily="34" charset="0"/>
                <a:cs typeface="Intel Clear Light" panose="020B0404020203020204" pitchFamily="34" charset="0"/>
                <a:sym typeface="Helvetica"/>
              </a:defRPr>
            </a:lvl3pPr>
            <a:lvl4pPr marL="919957" marR="0" indent="-228600" algn="l" defTabSz="609600" latinLnBrk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 b="0" i="0" u="none" strike="noStrike" cap="none" spc="0" baseline="0">
                <a:solidFill>
                  <a:schemeClr val="bg2"/>
                </a:solidFill>
                <a:uFillTx/>
                <a:latin typeface="Intel Clear Light" panose="020B0404020203020204" pitchFamily="34" charset="0"/>
                <a:ea typeface="Intel Clear Light" panose="020B0404020203020204" pitchFamily="34" charset="0"/>
                <a:cs typeface="Intel Clear Light" panose="020B0404020203020204" pitchFamily="34" charset="0"/>
                <a:sym typeface="Helvetica"/>
              </a:defRPr>
            </a:lvl4pPr>
            <a:lvl5pPr marL="1148557" marR="0" indent="-228600" algn="l" defTabSz="609600" latinLnBrk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600" b="0" i="0" u="none" strike="noStrike" cap="none" spc="0" baseline="0">
                <a:solidFill>
                  <a:schemeClr val="bg2"/>
                </a:solidFill>
                <a:uFillTx/>
                <a:latin typeface="Intel Clear Light" panose="020B0404020203020204" pitchFamily="34" charset="0"/>
                <a:ea typeface="Intel Clear Light" panose="020B0404020203020204" pitchFamily="34" charset="0"/>
                <a:cs typeface="Intel Clear Light" panose="020B0404020203020204" pitchFamily="34" charset="0"/>
                <a:sym typeface="Helvetica"/>
              </a:defRPr>
            </a:lvl5pPr>
            <a:lvl6pPr marL="0" marR="0" indent="571500" algn="l" defTabSz="6096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 u="none" strike="noStrike" cap="none" spc="0" baseline="0">
                <a:solidFill>
                  <a:srgbClr val="5E5E5E"/>
                </a:solidFill>
                <a:uFillTx/>
                <a:latin typeface="Helvetica"/>
                <a:ea typeface="Helvetica"/>
                <a:cs typeface="Helvetica"/>
                <a:sym typeface="Helvetica"/>
              </a:defRPr>
            </a:lvl6pPr>
            <a:lvl7pPr marL="0" marR="0" indent="685800" algn="l" defTabSz="6096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 u="none" strike="noStrike" cap="none" spc="0" baseline="0">
                <a:solidFill>
                  <a:srgbClr val="5E5E5E"/>
                </a:solidFill>
                <a:uFillTx/>
                <a:latin typeface="Helvetica"/>
                <a:ea typeface="Helvetica"/>
                <a:cs typeface="Helvetica"/>
                <a:sym typeface="Helvetica"/>
              </a:defRPr>
            </a:lvl7pPr>
            <a:lvl8pPr marL="0" marR="0" indent="800100" algn="l" defTabSz="6096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 u="none" strike="noStrike" cap="none" spc="0" baseline="0">
                <a:solidFill>
                  <a:srgbClr val="5E5E5E"/>
                </a:solidFill>
                <a:uFillTx/>
                <a:latin typeface="Helvetica"/>
                <a:ea typeface="Helvetica"/>
                <a:cs typeface="Helvetica"/>
                <a:sym typeface="Helvetica"/>
              </a:defRPr>
            </a:lvl8pPr>
            <a:lvl9pPr marL="0" marR="0" indent="914400" algn="l" defTabSz="60960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 u="none" strike="noStrike" cap="none" spc="0" baseline="0">
                <a:solidFill>
                  <a:srgbClr val="5E5E5E"/>
                </a:solidFill>
                <a:uFillTx/>
                <a:latin typeface="Helvetica"/>
                <a:ea typeface="Helvetica"/>
                <a:cs typeface="Helvetica"/>
                <a:sym typeface="Helvetica"/>
              </a:defRPr>
            </a:lvl9pPr>
          </a:lstStyle>
          <a:p>
            <a:pPr hangingPunct="1"/>
            <a:r>
              <a:rPr lang="en-US" sz="2000" dirty="0">
                <a:solidFill>
                  <a:srgbClr val="2D961E"/>
                </a:solidFill>
                <a:latin typeface="Menlo" panose="020B0609030804020204" pitchFamily="49" charset="0"/>
              </a:rPr>
              <a:t>int </a:t>
            </a:r>
            <a:r>
              <a:rPr lang="en-US" sz="2000" dirty="0" err="1">
                <a:solidFill>
                  <a:srgbClr val="4A00FF"/>
                </a:solidFill>
                <a:latin typeface="Menlo" panose="020B0609030804020204" pitchFamily="49" charset="0"/>
              </a:rPr>
              <a:t>daos_cont_create_with_label</a:t>
            </a:r>
            <a:r>
              <a:rPr lang="en-US" sz="2000" dirty="0">
                <a:solidFill>
                  <a:srgbClr val="4A00FF"/>
                </a:solidFill>
                <a:latin typeface="Menlo" panose="020B06090308040202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2000" dirty="0" err="1">
                <a:solidFill>
                  <a:srgbClr val="107702"/>
                </a:solidFill>
                <a:latin typeface="Menlo" panose="020B0609030804020204" pitchFamily="49" charset="0"/>
              </a:rPr>
              <a:t>daos_handle_t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2000" dirty="0" err="1">
                <a:solidFill>
                  <a:srgbClr val="9E4C04"/>
                </a:solidFill>
                <a:latin typeface="Menlo" panose="020B0609030804020204" pitchFamily="49" charset="0"/>
              </a:rPr>
              <a:t>poh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sz="2000" dirty="0">
                <a:solidFill>
                  <a:srgbClr val="9D00FF"/>
                </a:solidFill>
                <a:latin typeface="Menlo" panose="020B0609030804020204" pitchFamily="49" charset="0"/>
              </a:rPr>
              <a:t>const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2000" dirty="0">
                <a:solidFill>
                  <a:srgbClr val="107702"/>
                </a:solidFill>
                <a:latin typeface="Menlo" panose="020B0609030804020204" pitchFamily="49" charset="0"/>
              </a:rPr>
              <a:t>char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 *</a:t>
            </a:r>
            <a:r>
              <a:rPr lang="en-US" sz="2000" dirty="0">
                <a:solidFill>
                  <a:srgbClr val="9E4C04"/>
                </a:solidFill>
                <a:latin typeface="Menlo" panose="020B0609030804020204" pitchFamily="49" charset="0"/>
              </a:rPr>
              <a:t>label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sz="2000" dirty="0" err="1">
                <a:solidFill>
                  <a:srgbClr val="2D961E"/>
                </a:solidFill>
                <a:latin typeface="Menlo" panose="020B0609030804020204" pitchFamily="49" charset="0"/>
              </a:rPr>
              <a:t>daos_prop_t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 *</a:t>
            </a:r>
            <a:r>
              <a:rPr lang="en-US" sz="2000" dirty="0" err="1">
                <a:solidFill>
                  <a:srgbClr val="C1651C"/>
                </a:solidFill>
                <a:latin typeface="Menlo" panose="020B0609030804020204" pitchFamily="49" charset="0"/>
              </a:rPr>
              <a:t>cont_prop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sz="2000" dirty="0" err="1">
                <a:solidFill>
                  <a:srgbClr val="2D961E"/>
                </a:solidFill>
                <a:latin typeface="Menlo" panose="020B0609030804020204" pitchFamily="49" charset="0"/>
              </a:rPr>
              <a:t>uuid_t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 *</a:t>
            </a:r>
            <a:r>
              <a:rPr lang="en-US" sz="2000" dirty="0">
                <a:solidFill>
                  <a:srgbClr val="C1651C"/>
                </a:solidFill>
                <a:latin typeface="Menlo" panose="020B0609030804020204" pitchFamily="49" charset="0"/>
              </a:rPr>
              <a:t>uuid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,  </a:t>
            </a:r>
            <a:r>
              <a:rPr lang="en-US" sz="2000" dirty="0" err="1">
                <a:solidFill>
                  <a:srgbClr val="2D961E"/>
                </a:solidFill>
                <a:latin typeface="Menlo" panose="020B0609030804020204" pitchFamily="49" charset="0"/>
              </a:rPr>
              <a:t>daos_event_t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 *</a:t>
            </a:r>
            <a:r>
              <a:rPr lang="en-US" sz="2000" dirty="0" err="1">
                <a:solidFill>
                  <a:srgbClr val="C1651C"/>
                </a:solidFill>
                <a:latin typeface="Menlo" panose="020B0609030804020204" pitchFamily="49" charset="0"/>
              </a:rPr>
              <a:t>ev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  <a:endParaRPr lang="en-US" sz="2000" dirty="0"/>
          </a:p>
          <a:p>
            <a:pPr hangingPunct="1"/>
            <a:r>
              <a:rPr lang="en-US" sz="2000" dirty="0">
                <a:solidFill>
                  <a:srgbClr val="2D961E"/>
                </a:solidFill>
                <a:latin typeface="Menlo" panose="020B0609030804020204" pitchFamily="49" charset="0"/>
              </a:rPr>
              <a:t>int </a:t>
            </a:r>
            <a:r>
              <a:rPr lang="en-US" sz="2000" dirty="0" err="1">
                <a:solidFill>
                  <a:srgbClr val="4A00FF"/>
                </a:solidFill>
                <a:latin typeface="Menlo" panose="020B0609030804020204" pitchFamily="49" charset="0"/>
              </a:rPr>
              <a:t>daos_cont_destroy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sz="2000" dirty="0" err="1">
                <a:solidFill>
                  <a:srgbClr val="2D961E"/>
                </a:solidFill>
                <a:latin typeface="Menlo" panose="020B0609030804020204" pitchFamily="49" charset="0"/>
              </a:rPr>
              <a:t>daos_handle_t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2000" dirty="0" err="1">
                <a:solidFill>
                  <a:srgbClr val="C1651C"/>
                </a:solidFill>
                <a:latin typeface="Menlo" panose="020B0609030804020204" pitchFamily="49" charset="0"/>
              </a:rPr>
              <a:t>poh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sz="2000" dirty="0">
                <a:solidFill>
                  <a:srgbClr val="C200FF"/>
                </a:solidFill>
                <a:latin typeface="Menlo" panose="020B0609030804020204" pitchFamily="49" charset="0"/>
              </a:rPr>
              <a:t>const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2000" dirty="0">
                <a:solidFill>
                  <a:srgbClr val="2D961E"/>
                </a:solidFill>
                <a:latin typeface="Menlo" panose="020B0609030804020204" pitchFamily="49" charset="0"/>
              </a:rPr>
              <a:t>char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 *</a:t>
            </a:r>
            <a:r>
              <a:rPr lang="en-US" sz="2000" dirty="0" err="1">
                <a:solidFill>
                  <a:srgbClr val="C1651C"/>
                </a:solidFill>
                <a:latin typeface="Menlo" panose="020B0609030804020204" pitchFamily="49" charset="0"/>
              </a:rPr>
              <a:t>cont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sz="2000" dirty="0">
                <a:solidFill>
                  <a:srgbClr val="2D961E"/>
                </a:solidFill>
                <a:latin typeface="Menlo" panose="020B060903080402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sz="2000" dirty="0">
                <a:solidFill>
                  <a:srgbClr val="C1651C"/>
                </a:solidFill>
                <a:latin typeface="Menlo" panose="020B0609030804020204" pitchFamily="49" charset="0"/>
              </a:rPr>
              <a:t>force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-US" sz="2000" dirty="0" err="1">
                <a:solidFill>
                  <a:srgbClr val="2D961E"/>
                </a:solidFill>
                <a:latin typeface="Menlo" panose="020B0609030804020204" pitchFamily="49" charset="0"/>
              </a:rPr>
              <a:t>daos_event_t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 *</a:t>
            </a:r>
            <a:r>
              <a:rPr lang="en-US" sz="2000" dirty="0" err="1">
                <a:solidFill>
                  <a:srgbClr val="C1651C"/>
                </a:solidFill>
                <a:latin typeface="Menlo" panose="020B0609030804020204" pitchFamily="49" charset="0"/>
              </a:rPr>
              <a:t>ev</a:t>
            </a:r>
            <a:r>
              <a:rPr lang="en-US" sz="20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  <a:endParaRPr lang="en-US" sz="2000" dirty="0">
              <a:solidFill>
                <a:srgbClr val="2D961E"/>
              </a:solidFill>
              <a:latin typeface="Menlo" panose="020B0609030804020204" pitchFamily="49" charset="0"/>
            </a:endParaRPr>
          </a:p>
          <a:p>
            <a:pPr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5937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FBDE0-E9E8-A849-8409-993E33E45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Program Flow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D4239C-9610-A84A-AA28-60A4B723AB34}"/>
              </a:ext>
            </a:extLst>
          </p:cNvPr>
          <p:cNvSpPr txBox="1"/>
          <p:nvPr/>
        </p:nvSpPr>
        <p:spPr>
          <a:xfrm>
            <a:off x="626283" y="1145408"/>
            <a:ext cx="10939434" cy="5141092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 anchorCtr="0">
            <a:noAutofit/>
          </a:bodyPr>
          <a:lstStyle/>
          <a:p>
            <a:pPr>
              <a:lnSpc>
                <a:spcPct val="0"/>
              </a:lnSpc>
            </a:pPr>
            <a:r>
              <a:rPr lang="en-US" sz="1400" dirty="0">
                <a:solidFill>
                  <a:srgbClr val="696795"/>
                </a:solidFill>
                <a:latin typeface="Courier" pitchFamily="2" charset="0"/>
              </a:rPr>
              <a:t>#include</a:t>
            </a:r>
            <a:r>
              <a:rPr lang="en-US" sz="1400" dirty="0">
                <a:latin typeface="Courier" pitchFamily="2" charset="0"/>
              </a:rPr>
              <a:t> </a:t>
            </a:r>
            <a:r>
              <a:rPr lang="en-US" sz="1400" dirty="0">
                <a:solidFill>
                  <a:srgbClr val="9D206F"/>
                </a:solidFill>
                <a:latin typeface="Courier" pitchFamily="2" charset="0"/>
              </a:rPr>
              <a:t>&lt;</a:t>
            </a:r>
            <a:r>
              <a:rPr lang="en-US" sz="1400" dirty="0" err="1">
                <a:solidFill>
                  <a:srgbClr val="9D206F"/>
                </a:solidFill>
                <a:latin typeface="Courier" pitchFamily="2" charset="0"/>
              </a:rPr>
              <a:t>daos.h</a:t>
            </a:r>
            <a:r>
              <a:rPr lang="en-US" sz="1400" dirty="0">
                <a:solidFill>
                  <a:srgbClr val="9D206F"/>
                </a:solidFill>
                <a:latin typeface="Courier" pitchFamily="2" charset="0"/>
              </a:rPr>
              <a:t>&gt;</a:t>
            </a:r>
            <a:endParaRPr lang="en-US" sz="1400" dirty="0">
              <a:latin typeface="Courier" pitchFamily="2" charset="0"/>
            </a:endParaRPr>
          </a:p>
          <a:p>
            <a:pPr>
              <a:lnSpc>
                <a:spcPct val="0"/>
              </a:lnSpc>
            </a:pPr>
            <a:r>
              <a:rPr lang="en-US" sz="1400" dirty="0">
                <a:solidFill>
                  <a:srgbClr val="2D961E"/>
                </a:solidFill>
                <a:latin typeface="Courier" pitchFamily="2" charset="0"/>
              </a:rPr>
              <a:t>int </a:t>
            </a:r>
            <a:r>
              <a:rPr lang="en-US" sz="1400" dirty="0">
                <a:solidFill>
                  <a:srgbClr val="4A00FF"/>
                </a:solidFill>
                <a:latin typeface="Courier" pitchFamily="2" charset="0"/>
              </a:rPr>
              <a:t>main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>
                <a:solidFill>
                  <a:srgbClr val="2D961E"/>
                </a:solidFill>
                <a:latin typeface="Courier" pitchFamily="2" charset="0"/>
              </a:rPr>
              <a:t>int</a:t>
            </a:r>
            <a:r>
              <a:rPr lang="en-US" sz="1400" dirty="0">
                <a:latin typeface="Courier" pitchFamily="2" charset="0"/>
              </a:rPr>
              <a:t> </a:t>
            </a:r>
            <a:r>
              <a:rPr lang="en-US" sz="1400" dirty="0" err="1">
                <a:solidFill>
                  <a:srgbClr val="C1651C"/>
                </a:solidFill>
                <a:latin typeface="Courier" pitchFamily="2" charset="0"/>
              </a:rPr>
              <a:t>argc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2D961E"/>
                </a:solidFill>
                <a:latin typeface="Courier" pitchFamily="2" charset="0"/>
              </a:rPr>
              <a:t>char</a:t>
            </a:r>
            <a:r>
              <a:rPr lang="en-US" sz="1400" dirty="0">
                <a:latin typeface="Courier" pitchFamily="2" charset="0"/>
              </a:rPr>
              <a:t> **</a:t>
            </a:r>
            <a:r>
              <a:rPr lang="en-US" sz="1400" dirty="0" err="1">
                <a:solidFill>
                  <a:srgbClr val="C1651C"/>
                </a:solidFill>
                <a:latin typeface="Courier" pitchFamily="2" charset="0"/>
              </a:rPr>
              <a:t>argv</a:t>
            </a:r>
            <a:r>
              <a:rPr lang="en-US" sz="1400" dirty="0">
                <a:latin typeface="Courier" pitchFamily="2" charset="0"/>
              </a:rPr>
              <a:t>)</a:t>
            </a:r>
          </a:p>
          <a:p>
            <a:pPr>
              <a:lnSpc>
                <a:spcPct val="0"/>
              </a:lnSpc>
            </a:pPr>
            <a:r>
              <a:rPr lang="en-US" sz="1400" dirty="0">
                <a:latin typeface="Courier" pitchFamily="2" charset="0"/>
              </a:rPr>
              <a:t>{</a:t>
            </a:r>
          </a:p>
          <a:p>
            <a:pPr>
              <a:lnSpc>
                <a:spcPct val="0"/>
              </a:lnSpc>
            </a:pPr>
            <a:r>
              <a:rPr lang="en-US" sz="1400" dirty="0">
                <a:latin typeface="Courier" pitchFamily="2" charset="0"/>
              </a:rPr>
              <a:t>        </a:t>
            </a:r>
            <a:r>
              <a:rPr lang="en-US" sz="1400" dirty="0" err="1">
                <a:solidFill>
                  <a:srgbClr val="2D961E"/>
                </a:solidFill>
                <a:latin typeface="Courier" pitchFamily="2" charset="0"/>
              </a:rPr>
              <a:t>daos_handle_t</a:t>
            </a:r>
            <a:r>
              <a:rPr lang="en-US" sz="1400" dirty="0">
                <a:latin typeface="Courier" pitchFamily="2" charset="0"/>
              </a:rPr>
              <a:t>   </a:t>
            </a:r>
            <a:r>
              <a:rPr lang="en-US" sz="1400" dirty="0" err="1">
                <a:solidFill>
                  <a:srgbClr val="C1651C"/>
                </a:solidFill>
                <a:latin typeface="Courier" pitchFamily="2" charset="0"/>
              </a:rPr>
              <a:t>poh</a:t>
            </a:r>
            <a:r>
              <a:rPr lang="en-US" sz="1400" dirty="0">
                <a:solidFill>
                  <a:srgbClr val="C1651C"/>
                </a:solidFill>
                <a:latin typeface="Courier" pitchFamily="2" charset="0"/>
              </a:rPr>
              <a:t>, </a:t>
            </a:r>
            <a:r>
              <a:rPr lang="en-US" sz="1400" dirty="0" err="1">
                <a:solidFill>
                  <a:srgbClr val="C1651C"/>
                </a:solidFill>
                <a:latin typeface="Courier" pitchFamily="2" charset="0"/>
              </a:rPr>
              <a:t>coh</a:t>
            </a:r>
            <a:r>
              <a:rPr lang="en-US" sz="1400" dirty="0">
                <a:latin typeface="Courier" pitchFamily="2" charset="0"/>
              </a:rPr>
              <a:t>;</a:t>
            </a:r>
            <a:endParaRPr lang="en-US" sz="1400" dirty="0">
              <a:solidFill>
                <a:srgbClr val="2D961E"/>
              </a:solidFill>
              <a:latin typeface="Courier" pitchFamily="2" charset="0"/>
            </a:endParaRPr>
          </a:p>
          <a:p>
            <a:pPr>
              <a:lnSpc>
                <a:spcPct val="0"/>
              </a:lnSpc>
            </a:pPr>
            <a:r>
              <a:rPr lang="en-US" sz="1400" dirty="0">
                <a:latin typeface="Courier" pitchFamily="2" charset="0"/>
              </a:rPr>
              <a:t>                                                                                                                                         </a:t>
            </a:r>
          </a:p>
          <a:p>
            <a:pPr>
              <a:lnSpc>
                <a:spcPct val="0"/>
              </a:lnSpc>
            </a:pPr>
            <a:r>
              <a:rPr lang="en-US" sz="1400" dirty="0">
                <a:latin typeface="Courier" pitchFamily="2" charset="0"/>
              </a:rPr>
              <a:t>        </a:t>
            </a:r>
            <a:r>
              <a:rPr lang="en-US" sz="1400" dirty="0" err="1">
                <a:latin typeface="Courier" pitchFamily="2" charset="0"/>
              </a:rPr>
              <a:t>daos_init</a:t>
            </a:r>
            <a:r>
              <a:rPr lang="en-US" sz="1400" dirty="0">
                <a:latin typeface="Courier" pitchFamily="2" charset="0"/>
              </a:rPr>
              <a:t>();</a:t>
            </a:r>
            <a:br>
              <a:rPr lang="en-US" sz="1400" dirty="0">
                <a:latin typeface="Courier" pitchFamily="2" charset="0"/>
              </a:rPr>
            </a:br>
            <a:endParaRPr lang="en-US" sz="1400" dirty="0">
              <a:latin typeface="Courier" pitchFamily="2" charset="0"/>
            </a:endParaRPr>
          </a:p>
          <a:p>
            <a:pPr>
              <a:lnSpc>
                <a:spcPct val="0"/>
              </a:lnSpc>
            </a:pPr>
            <a:r>
              <a:rPr lang="en-US" sz="1400" dirty="0">
                <a:latin typeface="Courier" pitchFamily="2" charset="0"/>
              </a:rPr>
              <a:t>        </a:t>
            </a:r>
            <a:r>
              <a:rPr lang="en-US" sz="1400" dirty="0" err="1">
                <a:latin typeface="Courier" pitchFamily="2" charset="0"/>
              </a:rPr>
              <a:t>daos_pool_connect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>
                <a:solidFill>
                  <a:srgbClr val="9D206F"/>
                </a:solidFill>
                <a:latin typeface="Courier" pitchFamily="2" charset="0"/>
              </a:rPr>
              <a:t>"</a:t>
            </a:r>
            <a:r>
              <a:rPr lang="en-US" sz="1400" dirty="0" err="1">
                <a:solidFill>
                  <a:srgbClr val="9D206F"/>
                </a:solidFill>
                <a:latin typeface="Courier" pitchFamily="2" charset="0"/>
              </a:rPr>
              <a:t>mypool</a:t>
            </a:r>
            <a:r>
              <a:rPr lang="en-US" sz="1400" dirty="0">
                <a:solidFill>
                  <a:srgbClr val="9D206F"/>
                </a:solidFill>
                <a:latin typeface="Courier" pitchFamily="2" charset="0"/>
              </a:rPr>
              <a:t>"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, DAOS_PC_RW, &amp;</a:t>
            </a:r>
            <a:r>
              <a:rPr lang="en-US" sz="1400" dirty="0" err="1">
                <a:latin typeface="Courier" pitchFamily="2" charset="0"/>
              </a:rPr>
              <a:t>poh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);</a:t>
            </a:r>
          </a:p>
          <a:p>
            <a:pPr>
              <a:lnSpc>
                <a:spcPct val="0"/>
              </a:lnSpc>
            </a:pPr>
            <a:r>
              <a:rPr lang="en-US" sz="1400" dirty="0">
                <a:latin typeface="Courier" pitchFamily="2" charset="0"/>
              </a:rPr>
              <a:t>        </a:t>
            </a:r>
            <a:r>
              <a:rPr lang="en-US" sz="1400" dirty="0" err="1">
                <a:latin typeface="Courier" pitchFamily="2" charset="0"/>
              </a:rPr>
              <a:t>daos_cont_create_with_label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 err="1">
                <a:latin typeface="Courier" pitchFamily="2" charset="0"/>
              </a:rPr>
              <a:t>poh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9D206F"/>
                </a:solidFill>
                <a:latin typeface="Courier" pitchFamily="2" charset="0"/>
              </a:rPr>
              <a:t>"</a:t>
            </a:r>
            <a:r>
              <a:rPr lang="en-US" sz="1400" dirty="0" err="1">
                <a:solidFill>
                  <a:srgbClr val="9D206F"/>
                </a:solidFill>
                <a:latin typeface="Courier" pitchFamily="2" charset="0"/>
              </a:rPr>
              <a:t>mycont</a:t>
            </a:r>
            <a:r>
              <a:rPr lang="en-US" sz="1400" dirty="0">
                <a:solidFill>
                  <a:srgbClr val="9D206F"/>
                </a:solidFill>
                <a:latin typeface="Courier" pitchFamily="2" charset="0"/>
              </a:rPr>
              <a:t>"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);</a:t>
            </a:r>
          </a:p>
          <a:p>
            <a:pPr>
              <a:lnSpc>
                <a:spcPct val="0"/>
              </a:lnSpc>
            </a:pPr>
            <a:r>
              <a:rPr lang="en-US" sz="1400" dirty="0">
                <a:latin typeface="Courier" pitchFamily="2" charset="0"/>
              </a:rPr>
              <a:t>        </a:t>
            </a:r>
            <a:r>
              <a:rPr lang="en-US" sz="1400" dirty="0" err="1">
                <a:latin typeface="Courier" pitchFamily="2" charset="0"/>
              </a:rPr>
              <a:t>daos_cont_open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 err="1">
                <a:latin typeface="Courier" pitchFamily="2" charset="0"/>
              </a:rPr>
              <a:t>poh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9D206F"/>
                </a:solidFill>
                <a:latin typeface="Courier" pitchFamily="2" charset="0"/>
              </a:rPr>
              <a:t>"</a:t>
            </a:r>
            <a:r>
              <a:rPr lang="en-US" sz="1400" dirty="0" err="1">
                <a:solidFill>
                  <a:srgbClr val="9D206F"/>
                </a:solidFill>
                <a:latin typeface="Courier" pitchFamily="2" charset="0"/>
              </a:rPr>
              <a:t>mycont</a:t>
            </a:r>
            <a:r>
              <a:rPr lang="en-US" sz="1400" dirty="0">
                <a:solidFill>
                  <a:srgbClr val="9D206F"/>
                </a:solidFill>
                <a:latin typeface="Courier" pitchFamily="2" charset="0"/>
              </a:rPr>
              <a:t>"</a:t>
            </a:r>
            <a:r>
              <a:rPr lang="en-US" sz="1400" dirty="0">
                <a:latin typeface="Courier" pitchFamily="2" charset="0"/>
              </a:rPr>
              <a:t>, DAOS_COO_RW, &amp;</a:t>
            </a:r>
            <a:r>
              <a:rPr lang="en-US" sz="1400" dirty="0" err="1">
                <a:latin typeface="Courier" pitchFamily="2" charset="0"/>
              </a:rPr>
              <a:t>coh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);</a:t>
            </a:r>
            <a:br>
              <a:rPr lang="en-US" sz="1400" dirty="0">
                <a:latin typeface="Courier" pitchFamily="2" charset="0"/>
              </a:rPr>
            </a:br>
            <a:endParaRPr lang="en-US" sz="1400" dirty="0">
              <a:latin typeface="Courier" pitchFamily="2" charset="0"/>
            </a:endParaRPr>
          </a:p>
          <a:p>
            <a:pPr>
              <a:lnSpc>
                <a:spcPct val="0"/>
              </a:lnSpc>
            </a:pPr>
            <a:endParaRPr lang="en-US" sz="1400" dirty="0">
              <a:latin typeface="Courier" pitchFamily="2" charset="0"/>
            </a:endParaRPr>
          </a:p>
          <a:p>
            <a:pPr>
              <a:lnSpc>
                <a:spcPct val="0"/>
              </a:lnSpc>
            </a:pPr>
            <a:r>
              <a:rPr lang="en-US" sz="1400" dirty="0">
                <a:latin typeface="Courier" pitchFamily="2" charset="0"/>
              </a:rPr>
              <a:t>        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/** do things */</a:t>
            </a:r>
            <a:br>
              <a:rPr lang="en-US" sz="1400" dirty="0">
                <a:latin typeface="Courier" pitchFamily="2" charset="0"/>
              </a:rPr>
            </a:br>
            <a:endParaRPr lang="en-US" sz="1400" dirty="0">
              <a:latin typeface="Courier" pitchFamily="2" charset="0"/>
            </a:endParaRPr>
          </a:p>
          <a:p>
            <a:pPr>
              <a:lnSpc>
                <a:spcPct val="0"/>
              </a:lnSpc>
            </a:pPr>
            <a:endParaRPr lang="en-US" sz="1400" dirty="0">
              <a:latin typeface="Courier" pitchFamily="2" charset="0"/>
            </a:endParaRPr>
          </a:p>
          <a:p>
            <a:pPr>
              <a:lnSpc>
                <a:spcPct val="0"/>
              </a:lnSpc>
            </a:pPr>
            <a:r>
              <a:rPr lang="en-US" sz="1400" dirty="0">
                <a:latin typeface="Courier" pitchFamily="2" charset="0"/>
              </a:rPr>
              <a:t>        </a:t>
            </a:r>
            <a:r>
              <a:rPr lang="en-US" sz="1400" dirty="0" err="1">
                <a:latin typeface="Courier" pitchFamily="2" charset="0"/>
              </a:rPr>
              <a:t>daos_cont_close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 err="1">
                <a:latin typeface="Courier" pitchFamily="2" charset="0"/>
              </a:rPr>
              <a:t>coh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);</a:t>
            </a:r>
          </a:p>
          <a:p>
            <a:pPr>
              <a:lnSpc>
                <a:spcPct val="0"/>
              </a:lnSpc>
            </a:pPr>
            <a:r>
              <a:rPr lang="en-US" sz="1400" dirty="0">
                <a:latin typeface="Courier" pitchFamily="2" charset="0"/>
              </a:rPr>
              <a:t>        </a:t>
            </a:r>
            <a:r>
              <a:rPr lang="en-US" sz="1400" dirty="0" err="1">
                <a:latin typeface="Courier" pitchFamily="2" charset="0"/>
              </a:rPr>
              <a:t>daos_pool_disconnect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 err="1">
                <a:latin typeface="Courier" pitchFamily="2" charset="0"/>
              </a:rPr>
              <a:t>poh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);</a:t>
            </a:r>
          </a:p>
          <a:p>
            <a:pPr>
              <a:lnSpc>
                <a:spcPct val="0"/>
              </a:lnSpc>
            </a:pPr>
            <a:r>
              <a:rPr lang="en-US" sz="1400" dirty="0">
                <a:latin typeface="Courier" pitchFamily="2" charset="0"/>
              </a:rPr>
              <a:t>        </a:t>
            </a:r>
            <a:r>
              <a:rPr lang="en-US" sz="1400" dirty="0" err="1">
                <a:latin typeface="Courier" pitchFamily="2" charset="0"/>
              </a:rPr>
              <a:t>daos_fini</a:t>
            </a:r>
            <a:r>
              <a:rPr lang="en-US" sz="1400" dirty="0">
                <a:latin typeface="Courier" pitchFamily="2" charset="0"/>
              </a:rPr>
              <a:t>();</a:t>
            </a:r>
            <a:br>
              <a:rPr lang="en-US" sz="1400" dirty="0">
                <a:latin typeface="Courier" pitchFamily="2" charset="0"/>
              </a:rPr>
            </a:br>
            <a:endParaRPr lang="en-US" sz="1400" dirty="0">
              <a:latin typeface="Courier" pitchFamily="2" charset="0"/>
            </a:endParaRPr>
          </a:p>
          <a:p>
            <a:pPr>
              <a:lnSpc>
                <a:spcPct val="0"/>
              </a:lnSpc>
            </a:pPr>
            <a:r>
              <a:rPr lang="en-US" sz="1400" dirty="0">
                <a:latin typeface="Courier" pitchFamily="2" charset="0"/>
              </a:rPr>
              <a:t>        </a:t>
            </a:r>
            <a:r>
              <a:rPr lang="en-US" sz="1400" dirty="0">
                <a:solidFill>
                  <a:srgbClr val="C200FF"/>
                </a:solidFill>
                <a:latin typeface="Courier" pitchFamily="2" charset="0"/>
              </a:rPr>
              <a:t>return</a:t>
            </a:r>
            <a:r>
              <a:rPr lang="en-US" sz="1400" dirty="0">
                <a:latin typeface="Courier" pitchFamily="2" charset="0"/>
              </a:rPr>
              <a:t> 0;</a:t>
            </a:r>
          </a:p>
          <a:p>
            <a:pPr>
              <a:lnSpc>
                <a:spcPct val="0"/>
              </a:lnSpc>
            </a:pPr>
            <a:r>
              <a:rPr lang="en-US" sz="1400" dirty="0">
                <a:latin typeface="Courier" pitchFamily="2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12896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2C53C-0CDD-F044-9AC7-B9DE3A4A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from KV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EFBFA-737B-6841-9C43-38387D7EE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kv2.c</a:t>
            </a:r>
          </a:p>
          <a:p>
            <a:pPr lvl="1"/>
            <a:r>
              <a:rPr lang="en-US" dirty="0"/>
              <a:t>Program to insert and read some keys with variable size buffer values.</a:t>
            </a:r>
          </a:p>
          <a:p>
            <a:pPr lvl="1"/>
            <a:r>
              <a:rPr lang="en-US" dirty="0"/>
              <a:t>Run with ./</a:t>
            </a:r>
            <a:r>
              <a:rPr lang="en-US" dirty="0" err="1"/>
              <a:t>a.out</a:t>
            </a:r>
            <a:r>
              <a:rPr lang="en-US" dirty="0"/>
              <a:t> </a:t>
            </a:r>
            <a:r>
              <a:rPr lang="en-US" dirty="0" err="1"/>
              <a:t>pool_name</a:t>
            </a:r>
            <a:endParaRPr lang="en-US" dirty="0"/>
          </a:p>
          <a:p>
            <a:r>
              <a:rPr lang="en-US" dirty="0"/>
              <a:t>Will only insert the keys.</a:t>
            </a:r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/>
              <a:t>Modify to query the size of the key values and get each value.</a:t>
            </a:r>
          </a:p>
          <a:p>
            <a:r>
              <a:rPr lang="en-US" dirty="0"/>
              <a:t>Answer in kv2_answer.c</a:t>
            </a:r>
          </a:p>
        </p:txBody>
      </p:sp>
    </p:spTree>
    <p:extLst>
      <p:ext uri="{BB962C8B-B14F-4D97-AF65-F5344CB8AC3E}">
        <p14:creationId xmlns:p14="http://schemas.microsoft.com/office/powerpoint/2010/main" val="665135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F260B-56F4-4044-B517-EE8E2CD02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 put/get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C33B5-14A4-5949-AA2A-841A74EF2E2E}"/>
              </a:ext>
            </a:extLst>
          </p:cNvPr>
          <p:cNvSpPr txBox="1"/>
          <p:nvPr/>
        </p:nvSpPr>
        <p:spPr>
          <a:xfrm>
            <a:off x="626283" y="1145408"/>
            <a:ext cx="10939434" cy="5141092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 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/** </a:t>
            </a:r>
            <a:r>
              <a:rPr lang="en-US" sz="1400" dirty="0" err="1">
                <a:solidFill>
                  <a:srgbClr val="CB2418"/>
                </a:solidFill>
                <a:latin typeface="Courier" pitchFamily="2" charset="0"/>
              </a:rPr>
              <a:t>init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, connect, </a:t>
            </a:r>
            <a:r>
              <a:rPr lang="en-US" sz="1400" dirty="0" err="1">
                <a:solidFill>
                  <a:srgbClr val="CB2418"/>
                </a:solidFill>
                <a:latin typeface="Courier" pitchFamily="2" charset="0"/>
              </a:rPr>
              <a:t>cont_open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 */</a:t>
            </a:r>
            <a:br>
              <a:rPr lang="en-US" sz="1400" dirty="0">
                <a:latin typeface="Courier" pitchFamily="2" charset="0"/>
              </a:rPr>
            </a:br>
            <a:endParaRPr lang="en-US" sz="1400" dirty="0">
              <a:latin typeface="Courier" pitchFamily="2" charset="0"/>
            </a:endParaRP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 </a:t>
            </a:r>
            <a:r>
              <a:rPr lang="en-US" sz="1400" dirty="0" err="1">
                <a:latin typeface="Courier" pitchFamily="2" charset="0"/>
              </a:rPr>
              <a:t>oid.hi</a:t>
            </a:r>
            <a:r>
              <a:rPr lang="en-US" sz="1400" dirty="0">
                <a:latin typeface="Courier" pitchFamily="2" charset="0"/>
              </a:rPr>
              <a:t> = 0;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 </a:t>
            </a:r>
            <a:r>
              <a:rPr lang="en-US" sz="1400" dirty="0" err="1">
                <a:latin typeface="Courier" pitchFamily="2" charset="0"/>
              </a:rPr>
              <a:t>oid.lo</a:t>
            </a:r>
            <a:r>
              <a:rPr lang="en-US" sz="1400" dirty="0">
                <a:latin typeface="Courier" pitchFamily="2" charset="0"/>
              </a:rPr>
              <a:t> = 1;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 </a:t>
            </a:r>
            <a:r>
              <a:rPr lang="en-US" sz="1400" dirty="0" err="1">
                <a:latin typeface="Courier" pitchFamily="2" charset="0"/>
              </a:rPr>
              <a:t>daos_obj_generate_oid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 err="1">
                <a:latin typeface="Courier" pitchFamily="2" charset="0"/>
              </a:rPr>
              <a:t>coh</a:t>
            </a:r>
            <a:r>
              <a:rPr lang="en-US" sz="1400" dirty="0">
                <a:latin typeface="Courier" pitchFamily="2" charset="0"/>
              </a:rPr>
              <a:t>, &amp;</a:t>
            </a:r>
            <a:r>
              <a:rPr lang="en-US" sz="1400" dirty="0" err="1">
                <a:latin typeface="Courier" pitchFamily="2" charset="0"/>
              </a:rPr>
              <a:t>oid</a:t>
            </a:r>
            <a:r>
              <a:rPr lang="en-US" sz="1400" dirty="0">
                <a:latin typeface="Courier" pitchFamily="2" charset="0"/>
              </a:rPr>
              <a:t>, DAOS_OF_KV_FLAT, 0, 0, 0);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 </a:t>
            </a:r>
            <a:r>
              <a:rPr lang="en-US" sz="1400" dirty="0" err="1">
                <a:latin typeface="Courier" pitchFamily="2" charset="0"/>
              </a:rPr>
              <a:t>daos_kv_open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 err="1">
                <a:latin typeface="Courier" pitchFamily="2" charset="0"/>
              </a:rPr>
              <a:t>coh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 err="1">
                <a:latin typeface="Courier" pitchFamily="2" charset="0"/>
              </a:rPr>
              <a:t>oid</a:t>
            </a:r>
            <a:r>
              <a:rPr lang="en-US" sz="1400" dirty="0">
                <a:latin typeface="Courier" pitchFamily="2" charset="0"/>
              </a:rPr>
              <a:t>, DAOS_OO_RW, &amp;</a:t>
            </a:r>
            <a:r>
              <a:rPr lang="en-US" sz="1400" dirty="0" err="1">
                <a:latin typeface="Courier" pitchFamily="2" charset="0"/>
              </a:rPr>
              <a:t>kv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);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br>
              <a:rPr lang="en-US" sz="1400" dirty="0">
                <a:latin typeface="Courier" pitchFamily="2" charset="0"/>
              </a:rPr>
            </a:br>
            <a:endParaRPr lang="en-US" sz="1400" dirty="0">
              <a:latin typeface="Courier" pitchFamily="2" charset="0"/>
            </a:endParaRP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 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/** set </a:t>
            </a:r>
            <a:r>
              <a:rPr lang="en-US" sz="1400" dirty="0" err="1">
                <a:solidFill>
                  <a:srgbClr val="CB2418"/>
                </a:solidFill>
                <a:latin typeface="Courier" pitchFamily="2" charset="0"/>
              </a:rPr>
              <a:t>val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 buffer and size */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 </a:t>
            </a:r>
            <a:r>
              <a:rPr lang="en-US" sz="1400" dirty="0" err="1">
                <a:latin typeface="Courier" pitchFamily="2" charset="0"/>
              </a:rPr>
              <a:t>daos_kv_put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 err="1">
                <a:latin typeface="Courier" pitchFamily="2" charset="0"/>
              </a:rPr>
              <a:t>kv</a:t>
            </a:r>
            <a:r>
              <a:rPr lang="en-US" sz="1400" dirty="0">
                <a:latin typeface="Courier" pitchFamily="2" charset="0"/>
              </a:rPr>
              <a:t>, DAOS_TX_NONE, 0, </a:t>
            </a:r>
            <a:r>
              <a:rPr lang="en-US" sz="1400" dirty="0">
                <a:solidFill>
                  <a:srgbClr val="9D206F"/>
                </a:solidFill>
                <a:latin typeface="Courier" pitchFamily="2" charset="0"/>
              </a:rPr>
              <a:t>"key1"</a:t>
            </a:r>
            <a:r>
              <a:rPr lang="en-US" sz="1400" dirty="0">
                <a:latin typeface="Courier" pitchFamily="2" charset="0"/>
              </a:rPr>
              <a:t>, val_len1, val_buf1,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);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 </a:t>
            </a:r>
            <a:r>
              <a:rPr lang="en-US" sz="1400" dirty="0" err="1">
                <a:latin typeface="Courier" pitchFamily="2" charset="0"/>
              </a:rPr>
              <a:t>daos_kv_put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 err="1">
                <a:latin typeface="Courier" pitchFamily="2" charset="0"/>
              </a:rPr>
              <a:t>kv</a:t>
            </a:r>
            <a:r>
              <a:rPr lang="en-US" sz="1400" dirty="0">
                <a:latin typeface="Courier" pitchFamily="2" charset="0"/>
              </a:rPr>
              <a:t>, DAOS_TX_NONE, 0, </a:t>
            </a:r>
            <a:r>
              <a:rPr lang="en-US" sz="1400" dirty="0">
                <a:solidFill>
                  <a:srgbClr val="9D206F"/>
                </a:solidFill>
                <a:latin typeface="Courier" pitchFamily="2" charset="0"/>
              </a:rPr>
              <a:t>"key2"</a:t>
            </a:r>
            <a:r>
              <a:rPr lang="en-US" sz="1400" dirty="0">
                <a:latin typeface="Courier" pitchFamily="2" charset="0"/>
              </a:rPr>
              <a:t>, val_len2, val_buf2,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);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endParaRPr lang="en-US" sz="1400" dirty="0">
              <a:latin typeface="Courier" pitchFamily="2" charset="0"/>
            </a:endParaRP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 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/** to fetch, can query the size first if not known */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 </a:t>
            </a:r>
            <a:r>
              <a:rPr lang="en-US" sz="1400" dirty="0" err="1">
                <a:latin typeface="Courier" pitchFamily="2" charset="0"/>
              </a:rPr>
              <a:t>daos_kv_get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 err="1">
                <a:latin typeface="Courier" pitchFamily="2" charset="0"/>
              </a:rPr>
              <a:t>kv</a:t>
            </a:r>
            <a:r>
              <a:rPr lang="en-US" sz="1400" dirty="0">
                <a:latin typeface="Courier" pitchFamily="2" charset="0"/>
              </a:rPr>
              <a:t>, DAOS_TX_NONE, 0, </a:t>
            </a:r>
            <a:r>
              <a:rPr lang="en-US" sz="1400" dirty="0">
                <a:solidFill>
                  <a:srgbClr val="9D206F"/>
                </a:solidFill>
                <a:latin typeface="Courier" pitchFamily="2" charset="0"/>
              </a:rPr>
              <a:t>"key1"</a:t>
            </a:r>
            <a:r>
              <a:rPr lang="en-US" sz="1400" dirty="0">
                <a:latin typeface="Courier" pitchFamily="2" charset="0"/>
              </a:rPr>
              <a:t>, &amp;size,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);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 </a:t>
            </a:r>
            <a:r>
              <a:rPr lang="en-US" sz="1400" dirty="0" err="1">
                <a:latin typeface="Courier" pitchFamily="2" charset="0"/>
              </a:rPr>
              <a:t>get_buf</a:t>
            </a:r>
            <a:r>
              <a:rPr lang="en-US" sz="1400" dirty="0">
                <a:latin typeface="Courier" pitchFamily="2" charset="0"/>
              </a:rPr>
              <a:t> = malloc (size);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 </a:t>
            </a:r>
            <a:r>
              <a:rPr lang="en-US" sz="1400" dirty="0" err="1">
                <a:latin typeface="Courier" pitchFamily="2" charset="0"/>
              </a:rPr>
              <a:t>daos_kv_get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 err="1">
                <a:latin typeface="Courier" pitchFamily="2" charset="0"/>
              </a:rPr>
              <a:t>kv</a:t>
            </a:r>
            <a:r>
              <a:rPr lang="en-US" sz="1400" dirty="0">
                <a:latin typeface="Courier" pitchFamily="2" charset="0"/>
              </a:rPr>
              <a:t>, DAOS_TX_NONE, 0, </a:t>
            </a:r>
            <a:r>
              <a:rPr lang="en-US" sz="1400" dirty="0">
                <a:solidFill>
                  <a:srgbClr val="9D206F"/>
                </a:solidFill>
                <a:latin typeface="Courier" pitchFamily="2" charset="0"/>
              </a:rPr>
              <a:t>"key2"</a:t>
            </a:r>
            <a:r>
              <a:rPr lang="en-US" sz="1400" dirty="0">
                <a:latin typeface="Courier" pitchFamily="2" charset="0"/>
              </a:rPr>
              <a:t>, &amp;size, </a:t>
            </a:r>
            <a:r>
              <a:rPr lang="en-US" sz="1400" dirty="0" err="1">
                <a:latin typeface="Courier" pitchFamily="2" charset="0"/>
              </a:rPr>
              <a:t>get_buf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);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    </a:t>
            </a:r>
            <a:r>
              <a:rPr lang="en-US" sz="1400" dirty="0" err="1">
                <a:latin typeface="Courier" pitchFamily="2" charset="0"/>
              </a:rPr>
              <a:t>daos_kv_close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 err="1">
                <a:latin typeface="Courier" pitchFamily="2" charset="0"/>
              </a:rPr>
              <a:t>kv</a:t>
            </a:r>
            <a:r>
              <a:rPr lang="en-US" sz="1400" dirty="0">
                <a:latin typeface="Courier" pitchFamily="2" charset="0"/>
              </a:rPr>
              <a:t>, NULL);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    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 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/** free buffer, </a:t>
            </a:r>
            <a:r>
              <a:rPr lang="en-US" sz="1400" dirty="0" err="1">
                <a:solidFill>
                  <a:srgbClr val="CB2418"/>
                </a:solidFill>
                <a:latin typeface="Courier" pitchFamily="2" charset="0"/>
              </a:rPr>
              <a:t>cont_close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, disconnect, finalize */</a:t>
            </a:r>
            <a:br>
              <a:rPr lang="en-US" sz="1400" dirty="0">
                <a:latin typeface="Courier" pitchFamily="2" charset="0"/>
              </a:rPr>
            </a:br>
            <a:endParaRPr lang="en-US" sz="14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30386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2C53C-0CDD-F044-9AC7-B9DE3A4A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Enumerating Keys from KV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EFBFA-737B-6841-9C43-38387D7EE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kv3.c</a:t>
            </a:r>
          </a:p>
          <a:p>
            <a:pPr lvl="1"/>
            <a:r>
              <a:rPr lang="en-US" dirty="0"/>
              <a:t>Program to insert and enumerate 20 keys.</a:t>
            </a:r>
          </a:p>
          <a:p>
            <a:pPr lvl="1"/>
            <a:r>
              <a:rPr lang="en-US" dirty="0"/>
              <a:t>Run with ./</a:t>
            </a:r>
            <a:r>
              <a:rPr lang="en-US" dirty="0" err="1"/>
              <a:t>a.out</a:t>
            </a:r>
            <a:r>
              <a:rPr lang="en-US" dirty="0"/>
              <a:t> </a:t>
            </a:r>
            <a:r>
              <a:rPr lang="en-US" dirty="0" err="1"/>
              <a:t>pool_name</a:t>
            </a:r>
            <a:endParaRPr lang="en-US" dirty="0"/>
          </a:p>
          <a:p>
            <a:r>
              <a:rPr lang="en-US" dirty="0"/>
              <a:t>Will only insert the keys</a:t>
            </a:r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/>
              <a:t>Modify to enumerate all keys in </a:t>
            </a:r>
            <a:r>
              <a:rPr lang="en-US" dirty="0" err="1"/>
              <a:t>list_key</a:t>
            </a:r>
            <a:r>
              <a:rPr lang="en-US" dirty="0"/>
              <a:t>()</a:t>
            </a:r>
          </a:p>
          <a:p>
            <a:r>
              <a:rPr lang="en-US" dirty="0"/>
              <a:t>Answer in kv3_answer.c</a:t>
            </a:r>
          </a:p>
        </p:txBody>
      </p:sp>
    </p:spTree>
    <p:extLst>
      <p:ext uri="{BB962C8B-B14F-4D97-AF65-F5344CB8AC3E}">
        <p14:creationId xmlns:p14="http://schemas.microsoft.com/office/powerpoint/2010/main" val="296563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F260B-56F4-4044-B517-EE8E2CD02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 list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C33B5-14A4-5949-AA2A-841A74EF2E2E}"/>
              </a:ext>
            </a:extLst>
          </p:cNvPr>
          <p:cNvSpPr txBox="1"/>
          <p:nvPr/>
        </p:nvSpPr>
        <p:spPr>
          <a:xfrm>
            <a:off x="125770" y="1222410"/>
            <a:ext cx="5764892" cy="5141092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/** enumerate keys in the KV */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</a:t>
            </a:r>
            <a:r>
              <a:rPr lang="en-US" sz="1400" dirty="0" err="1">
                <a:solidFill>
                  <a:srgbClr val="2D961E"/>
                </a:solidFill>
                <a:latin typeface="Courier" pitchFamily="2" charset="0"/>
              </a:rPr>
              <a:t>daos_anchor_t</a:t>
            </a:r>
            <a:r>
              <a:rPr lang="en-US" sz="1400" dirty="0">
                <a:latin typeface="Courier" pitchFamily="2" charset="0"/>
              </a:rPr>
              <a:t>   </a:t>
            </a:r>
            <a:r>
              <a:rPr lang="en-US" sz="1400" dirty="0">
                <a:solidFill>
                  <a:srgbClr val="C1651C"/>
                </a:solidFill>
                <a:latin typeface="Courier" pitchFamily="2" charset="0"/>
              </a:rPr>
              <a:t>anchor</a:t>
            </a:r>
            <a:r>
              <a:rPr lang="en-US" sz="1400" dirty="0">
                <a:latin typeface="Courier" pitchFamily="2" charset="0"/>
              </a:rPr>
              <a:t> = {0};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solidFill>
                  <a:srgbClr val="107702"/>
                </a:solidFill>
                <a:latin typeface="Courier" pitchFamily="2" charset="0"/>
              </a:rPr>
              <a:t> </a:t>
            </a:r>
            <a:r>
              <a:rPr lang="en-US" sz="1400" dirty="0" err="1">
                <a:solidFill>
                  <a:srgbClr val="107702"/>
                </a:solidFill>
                <a:latin typeface="Courier" pitchFamily="2" charset="0"/>
              </a:rPr>
              <a:t>d_sg_list_t</a:t>
            </a:r>
            <a:r>
              <a:rPr lang="en-US" sz="1400" dirty="0">
                <a:latin typeface="Courier" pitchFamily="2" charset="0"/>
              </a:rPr>
              <a:t>     </a:t>
            </a:r>
            <a:r>
              <a:rPr lang="en-US" sz="1400" dirty="0" err="1">
                <a:solidFill>
                  <a:srgbClr val="9E4C04"/>
                </a:solidFill>
                <a:latin typeface="Courier" pitchFamily="2" charset="0"/>
              </a:rPr>
              <a:t>sgl</a:t>
            </a:r>
            <a:r>
              <a:rPr lang="en-US" sz="1400" dirty="0">
                <a:latin typeface="Courier" pitchFamily="2" charset="0"/>
              </a:rPr>
              <a:t>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solidFill>
                  <a:srgbClr val="2D961E"/>
                </a:solidFill>
                <a:latin typeface="Courier" pitchFamily="2" charset="0"/>
              </a:rPr>
              <a:t> </a:t>
            </a:r>
            <a:r>
              <a:rPr lang="en-US" sz="1400" dirty="0" err="1">
                <a:solidFill>
                  <a:srgbClr val="2D961E"/>
                </a:solidFill>
                <a:latin typeface="Courier" pitchFamily="2" charset="0"/>
              </a:rPr>
              <a:t>d_iov_t</a:t>
            </a:r>
            <a:r>
              <a:rPr lang="en-US" sz="1400" dirty="0">
                <a:latin typeface="Courier" pitchFamily="2" charset="0"/>
              </a:rPr>
              <a:t>         </a:t>
            </a:r>
            <a:r>
              <a:rPr lang="en-US" sz="1400" dirty="0" err="1">
                <a:solidFill>
                  <a:srgbClr val="C1651C"/>
                </a:solidFill>
                <a:latin typeface="Courier" pitchFamily="2" charset="0"/>
              </a:rPr>
              <a:t>sg_iov</a:t>
            </a:r>
            <a:r>
              <a:rPr lang="en-US" sz="1400" dirty="0">
                <a:latin typeface="Courier" pitchFamily="2" charset="0"/>
              </a:rPr>
              <a:t>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endParaRPr lang="en-US" sz="1400" dirty="0">
              <a:latin typeface="Courier" pitchFamily="2" charset="0"/>
            </a:endParaRP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 /** size of buffer to hold as many keys in memory */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</a:t>
            </a:r>
            <a:r>
              <a:rPr lang="en-US" sz="1400" dirty="0" err="1">
                <a:latin typeface="Courier" pitchFamily="2" charset="0"/>
              </a:rPr>
              <a:t>buf</a:t>
            </a:r>
            <a:r>
              <a:rPr lang="en-US" sz="1400" dirty="0">
                <a:latin typeface="Courier" pitchFamily="2" charset="0"/>
              </a:rPr>
              <a:t> = malloc(ENUM_DESC_BUF);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</a:t>
            </a:r>
            <a:r>
              <a:rPr lang="en-US" sz="1400" dirty="0" err="1">
                <a:latin typeface="Courier" pitchFamily="2" charset="0"/>
              </a:rPr>
              <a:t>d_iov_set</a:t>
            </a:r>
            <a:r>
              <a:rPr lang="en-US" sz="1400" dirty="0">
                <a:latin typeface="Courier" pitchFamily="2" charset="0"/>
              </a:rPr>
              <a:t>(&amp;</a:t>
            </a:r>
            <a:r>
              <a:rPr lang="en-US" sz="1400" dirty="0" err="1">
                <a:latin typeface="Courier" pitchFamily="2" charset="0"/>
              </a:rPr>
              <a:t>sg_iov</a:t>
            </a:r>
            <a:r>
              <a:rPr lang="en-US" sz="1400" dirty="0">
                <a:latin typeface="Courier" pitchFamily="2" charset="0"/>
              </a:rPr>
              <a:t>, </a:t>
            </a:r>
            <a:r>
              <a:rPr lang="en-US" sz="1400" dirty="0" err="1">
                <a:latin typeface="Courier" pitchFamily="2" charset="0"/>
              </a:rPr>
              <a:t>buf</a:t>
            </a:r>
            <a:r>
              <a:rPr lang="en-US" sz="1400" dirty="0">
                <a:latin typeface="Courier" pitchFamily="2" charset="0"/>
              </a:rPr>
              <a:t>, ENUM_DESC_BUF);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</a:t>
            </a:r>
            <a:r>
              <a:rPr lang="en-US" sz="1400" dirty="0" err="1">
                <a:latin typeface="Courier" pitchFamily="2" charset="0"/>
              </a:rPr>
              <a:t>sgl.sg_nr</a:t>
            </a:r>
            <a:r>
              <a:rPr lang="en-US" sz="1400" dirty="0">
                <a:latin typeface="Courier" pitchFamily="2" charset="0"/>
              </a:rPr>
              <a:t>               = 1;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</a:t>
            </a:r>
            <a:r>
              <a:rPr lang="en-US" sz="1400" dirty="0" err="1">
                <a:latin typeface="Courier" pitchFamily="2" charset="0"/>
              </a:rPr>
              <a:t>sgl.sg_nr_out</a:t>
            </a:r>
            <a:r>
              <a:rPr lang="en-US" sz="1400" dirty="0">
                <a:latin typeface="Courier" pitchFamily="2" charset="0"/>
              </a:rPr>
              <a:t>           = 0;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</a:t>
            </a:r>
            <a:r>
              <a:rPr lang="en-US" sz="1400" dirty="0" err="1">
                <a:latin typeface="Courier" pitchFamily="2" charset="0"/>
              </a:rPr>
              <a:t>sgl.sg_iovs</a:t>
            </a:r>
            <a:r>
              <a:rPr lang="en-US" sz="1400" dirty="0">
                <a:latin typeface="Courier" pitchFamily="2" charset="0"/>
              </a:rPr>
              <a:t>             = &amp;</a:t>
            </a:r>
            <a:r>
              <a:rPr lang="en-US" sz="1400" dirty="0" err="1">
                <a:latin typeface="Courier" pitchFamily="2" charset="0"/>
              </a:rPr>
              <a:t>sg_iov</a:t>
            </a:r>
            <a:r>
              <a:rPr lang="en-US" sz="1400" dirty="0">
                <a:latin typeface="Courier" pitchFamily="2" charset="0"/>
              </a:rPr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A7479C-1FF9-0746-A5E0-F44108BD3A8B}"/>
              </a:ext>
            </a:extLst>
          </p:cNvPr>
          <p:cNvSpPr txBox="1"/>
          <p:nvPr/>
        </p:nvSpPr>
        <p:spPr>
          <a:xfrm>
            <a:off x="5890662" y="1222410"/>
            <a:ext cx="6175569" cy="5141092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 </a:t>
            </a:r>
            <a:r>
              <a:rPr lang="en-US" sz="1400" dirty="0" err="1">
                <a:solidFill>
                  <a:srgbClr val="2D961E"/>
                </a:solidFill>
                <a:latin typeface="Courier" pitchFamily="2" charset="0"/>
              </a:rPr>
              <a:t>daos_key_desc_t</a:t>
            </a:r>
            <a:r>
              <a:rPr lang="en-US" sz="1400" dirty="0">
                <a:latin typeface="Courier" pitchFamily="2" charset="0"/>
              </a:rPr>
              <a:t> </a:t>
            </a:r>
            <a:r>
              <a:rPr lang="en-US" sz="1400" dirty="0" err="1">
                <a:solidFill>
                  <a:srgbClr val="C1651C"/>
                </a:solidFill>
                <a:latin typeface="Courier" pitchFamily="2" charset="0"/>
              </a:rPr>
              <a:t>kds</a:t>
            </a:r>
            <a:r>
              <a:rPr lang="en-US" sz="1400" dirty="0">
                <a:latin typeface="Courier" pitchFamily="2" charset="0"/>
              </a:rPr>
              <a:t>[ENUM_DESC_NR];</a:t>
            </a:r>
            <a:br>
              <a:rPr lang="en-US" sz="1400" dirty="0">
                <a:latin typeface="Courier" pitchFamily="2" charset="0"/>
              </a:rPr>
            </a:br>
            <a:endParaRPr lang="en-US" sz="1400" dirty="0">
              <a:latin typeface="Courier" pitchFamily="2" charset="0"/>
            </a:endParaRP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</a:t>
            </a:r>
            <a:r>
              <a:rPr lang="en-US" sz="1400" dirty="0">
                <a:solidFill>
                  <a:srgbClr val="C200FF"/>
                </a:solidFill>
                <a:latin typeface="Courier" pitchFamily="2" charset="0"/>
              </a:rPr>
              <a:t>while</a:t>
            </a:r>
            <a:r>
              <a:rPr lang="en-US" sz="1400" dirty="0">
                <a:latin typeface="Courier" pitchFamily="2" charset="0"/>
              </a:rPr>
              <a:t> (!</a:t>
            </a:r>
            <a:r>
              <a:rPr lang="en-US" sz="1400" dirty="0" err="1">
                <a:latin typeface="Courier" pitchFamily="2" charset="0"/>
              </a:rPr>
              <a:t>daos_anchor_is_eof</a:t>
            </a:r>
            <a:r>
              <a:rPr lang="en-US" sz="1400" dirty="0">
                <a:latin typeface="Courier" pitchFamily="2" charset="0"/>
              </a:rPr>
              <a:t>(&amp;anchor)) {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 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/** how many keys to attempt to fetch in one call */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 </a:t>
            </a:r>
            <a:r>
              <a:rPr lang="en-US" sz="1400" dirty="0">
                <a:solidFill>
                  <a:srgbClr val="2D961E"/>
                </a:solidFill>
                <a:latin typeface="Courier" pitchFamily="2" charset="0"/>
              </a:rPr>
              <a:t>uint32_t</a:t>
            </a:r>
            <a:r>
              <a:rPr lang="en-US" sz="1400" dirty="0">
                <a:latin typeface="Courier" pitchFamily="2" charset="0"/>
              </a:rPr>
              <a:t>        </a:t>
            </a:r>
            <a:r>
              <a:rPr lang="en-US" sz="1400" dirty="0">
                <a:solidFill>
                  <a:srgbClr val="C1651C"/>
                </a:solidFill>
                <a:latin typeface="Courier" pitchFamily="2" charset="0"/>
              </a:rPr>
              <a:t>nr</a:t>
            </a:r>
            <a:r>
              <a:rPr lang="en-US" sz="1400" dirty="0">
                <a:latin typeface="Courier" pitchFamily="2" charset="0"/>
              </a:rPr>
              <a:t> = ENUM_DESC_NR;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br>
              <a:rPr lang="en-US" sz="1400" dirty="0">
                <a:latin typeface="Courier" pitchFamily="2" charset="0"/>
              </a:rPr>
            </a:br>
            <a:endParaRPr lang="en-US" sz="1400" dirty="0">
              <a:latin typeface="Courier" pitchFamily="2" charset="0"/>
            </a:endParaRP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</a:t>
            </a:r>
            <a:r>
              <a:rPr lang="en-US" sz="1400" dirty="0" err="1">
                <a:latin typeface="Courier" pitchFamily="2" charset="0"/>
              </a:rPr>
              <a:t>memset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 err="1">
                <a:latin typeface="Courier" pitchFamily="2" charset="0"/>
              </a:rPr>
              <a:t>buf</a:t>
            </a:r>
            <a:r>
              <a:rPr lang="en-US" sz="1400" dirty="0">
                <a:latin typeface="Courier" pitchFamily="2" charset="0"/>
              </a:rPr>
              <a:t>, 0, ENUM_DESC_BUF);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</a:t>
            </a:r>
            <a:r>
              <a:rPr lang="en-US" sz="1400" dirty="0" err="1">
                <a:latin typeface="Courier" pitchFamily="2" charset="0"/>
              </a:rPr>
              <a:t>daos_kv_list</a:t>
            </a:r>
            <a:r>
              <a:rPr lang="en-US" sz="1400" dirty="0">
                <a:latin typeface="Courier" pitchFamily="2" charset="0"/>
              </a:rPr>
              <a:t>(</a:t>
            </a:r>
            <a:r>
              <a:rPr lang="en-US" sz="1400" dirty="0" err="1">
                <a:latin typeface="Courier" pitchFamily="2" charset="0"/>
              </a:rPr>
              <a:t>kv</a:t>
            </a:r>
            <a:r>
              <a:rPr lang="en-US" sz="1400" dirty="0">
                <a:latin typeface="Courier" pitchFamily="2" charset="0"/>
              </a:rPr>
              <a:t>, DAOS_TX_NONE, &amp;nr, </a:t>
            </a:r>
            <a:r>
              <a:rPr lang="en-US" sz="1400" dirty="0" err="1">
                <a:latin typeface="Courier" pitchFamily="2" charset="0"/>
              </a:rPr>
              <a:t>kds</a:t>
            </a:r>
            <a:r>
              <a:rPr lang="en-US" sz="1400" dirty="0">
                <a:latin typeface="Courier" pitchFamily="2" charset="0"/>
              </a:rPr>
              <a:t>, &amp;</a:t>
            </a:r>
            <a:r>
              <a:rPr lang="en-US" sz="1400" dirty="0" err="1">
                <a:latin typeface="Courier" pitchFamily="2" charset="0"/>
              </a:rPr>
              <a:t>sgl</a:t>
            </a:r>
            <a:r>
              <a:rPr lang="en-US" sz="1400" dirty="0">
                <a:latin typeface="Courier" pitchFamily="2" charset="0"/>
              </a:rPr>
              <a:t>,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	    &amp;anchor, </a:t>
            </a:r>
            <a:r>
              <a:rPr lang="en-US" sz="1400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sz="1400" dirty="0">
                <a:latin typeface="Courier" pitchFamily="2" charset="0"/>
              </a:rPr>
              <a:t>);</a:t>
            </a:r>
            <a:br>
              <a:rPr lang="en-US" sz="1400" dirty="0">
                <a:latin typeface="Courier" pitchFamily="2" charset="0"/>
              </a:rPr>
            </a:br>
            <a:endParaRPr lang="en-US" sz="1400" dirty="0">
              <a:latin typeface="Courier" pitchFamily="2" charset="0"/>
            </a:endParaRP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</a:t>
            </a:r>
            <a:r>
              <a:rPr lang="en-US" sz="1400" dirty="0">
                <a:solidFill>
                  <a:srgbClr val="C200FF"/>
                </a:solidFill>
                <a:latin typeface="Courier" pitchFamily="2" charset="0"/>
              </a:rPr>
              <a:t>if</a:t>
            </a:r>
            <a:r>
              <a:rPr lang="en-US" sz="1400" dirty="0">
                <a:latin typeface="Courier" pitchFamily="2" charset="0"/>
              </a:rPr>
              <a:t> (nr == 0)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  </a:t>
            </a:r>
            <a:r>
              <a:rPr lang="en-US" sz="1400" dirty="0">
                <a:solidFill>
                  <a:srgbClr val="C200FF"/>
                </a:solidFill>
                <a:latin typeface="Courier" pitchFamily="2" charset="0"/>
              </a:rPr>
              <a:t>continue</a:t>
            </a:r>
            <a:r>
              <a:rPr lang="en-US" sz="1400" dirty="0">
                <a:latin typeface="Courier" pitchFamily="2" charset="0"/>
              </a:rPr>
              <a:t>;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/** </a:t>
            </a:r>
            <a:r>
              <a:rPr lang="en-US" sz="1400" dirty="0" err="1">
                <a:solidFill>
                  <a:srgbClr val="CB2418"/>
                </a:solidFill>
                <a:latin typeface="Courier" pitchFamily="2" charset="0"/>
              </a:rPr>
              <a:t>buf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 now container nr keys */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  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/* </a:t>
            </a:r>
            <a:r>
              <a:rPr lang="en-US" sz="1400" dirty="0" err="1">
                <a:solidFill>
                  <a:srgbClr val="CB2418"/>
                </a:solidFill>
                <a:latin typeface="Courier" pitchFamily="2" charset="0"/>
              </a:rPr>
              <a:t>kds</a:t>
            </a:r>
            <a:r>
              <a:rPr lang="en-US" sz="1400" dirty="0">
                <a:solidFill>
                  <a:srgbClr val="CB2418"/>
                </a:solidFill>
                <a:latin typeface="Courier" pitchFamily="2" charset="0"/>
              </a:rPr>
              <a:t> arrays has length of each key */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r>
              <a:rPr lang="en-US" sz="1400" dirty="0">
                <a:latin typeface="Courier" pitchFamily="2" charset="0"/>
              </a:rPr>
              <a:t> }</a:t>
            </a:r>
          </a:p>
          <a:p>
            <a:pPr>
              <a:lnSpc>
                <a:spcPct val="100000"/>
              </a:lnSpc>
              <a:spcBef>
                <a:spcPts val="450"/>
              </a:spcBef>
            </a:pPr>
            <a:endParaRPr lang="en-US" sz="14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2546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2C53C-0CDD-F044-9AC7-B9DE3A4A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of Integers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EFBFA-737B-6841-9C43-38387D7EE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array1.c</a:t>
            </a:r>
          </a:p>
          <a:p>
            <a:pPr lvl="1"/>
            <a:r>
              <a:rPr lang="en-US" dirty="0"/>
              <a:t>Program to create an integer array and write/read using the Array API.</a:t>
            </a:r>
          </a:p>
          <a:p>
            <a:pPr lvl="1"/>
            <a:r>
              <a:rPr lang="en-US" dirty="0"/>
              <a:t>Run with ./</a:t>
            </a:r>
            <a:r>
              <a:rPr lang="en-US" dirty="0" err="1"/>
              <a:t>a.out</a:t>
            </a:r>
            <a:r>
              <a:rPr lang="en-US" dirty="0"/>
              <a:t> </a:t>
            </a:r>
            <a:r>
              <a:rPr lang="en-US" dirty="0" err="1"/>
              <a:t>pool_name</a:t>
            </a:r>
            <a:endParaRPr lang="en-US" dirty="0"/>
          </a:p>
          <a:p>
            <a:r>
              <a:rPr lang="en-US" dirty="0"/>
              <a:t>Will fail as array is not created</a:t>
            </a:r>
            <a:endParaRPr lang="en-US" sz="14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/>
              <a:t>Modify and add the TODO items</a:t>
            </a:r>
          </a:p>
          <a:p>
            <a:pPr lvl="1"/>
            <a:r>
              <a:rPr lang="en-US" dirty="0"/>
              <a:t>Create the array</a:t>
            </a:r>
          </a:p>
          <a:p>
            <a:pPr lvl="1"/>
            <a:r>
              <a:rPr lang="en-US" dirty="0"/>
              <a:t>Set the Array IOD</a:t>
            </a:r>
          </a:p>
          <a:p>
            <a:pPr lvl="1"/>
            <a:r>
              <a:rPr lang="en-US" dirty="0"/>
              <a:t>Write the populated buffer of 100 integers</a:t>
            </a:r>
          </a:p>
          <a:p>
            <a:pPr lvl="1"/>
            <a:r>
              <a:rPr lang="en-US" dirty="0"/>
              <a:t>Read those integers</a:t>
            </a:r>
          </a:p>
          <a:p>
            <a:r>
              <a:rPr lang="en-US" dirty="0"/>
              <a:t>Answer in array1_answer.c</a:t>
            </a:r>
          </a:p>
        </p:txBody>
      </p:sp>
    </p:spTree>
    <p:extLst>
      <p:ext uri="{BB962C8B-B14F-4D97-AF65-F5344CB8AC3E}">
        <p14:creationId xmlns:p14="http://schemas.microsoft.com/office/powerpoint/2010/main" val="3770413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DF75-A629-5941-B5A1-C763523F7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DAOS Array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53949-61F4-A247-A7FF-850CA252247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1">
              <a:lumMod val="85000"/>
            </a:schemeClr>
          </a:solidFill>
        </p:spPr>
        <p:txBody>
          <a:bodyPr>
            <a:normAutofit fontScale="55000" lnSpcReduction="20000"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dirty="0">
                <a:solidFill>
                  <a:srgbClr val="CB2418"/>
                </a:solidFill>
                <a:latin typeface="Courier" pitchFamily="2" charset="0"/>
              </a:rPr>
              <a:t>/** create array - if array exists just open it */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daos_array_create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coh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oid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DAOS_TX_NONE, 1, 1048576, &amp;array, </a:t>
            </a:r>
            <a:r>
              <a:rPr lang="en-US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br>
              <a:rPr lang="en-US" dirty="0">
                <a:solidFill>
                  <a:srgbClr val="000000"/>
                </a:solidFill>
                <a:latin typeface="Courier" pitchFamily="2" charset="0"/>
              </a:rPr>
            </a:b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2D961E"/>
                </a:solidFill>
                <a:latin typeface="Courier" pitchFamily="2" charset="0"/>
              </a:rPr>
              <a:t>daos_array_iod_t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</a:t>
            </a:r>
            <a:r>
              <a:rPr lang="en-US" dirty="0" err="1">
                <a:solidFill>
                  <a:srgbClr val="C1651C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;</a:t>
            </a:r>
            <a:endParaRPr lang="en-US" dirty="0">
              <a:solidFill>
                <a:srgbClr val="2D961E"/>
              </a:solidFill>
              <a:latin typeface="Courier" pitchFamily="2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2D961E"/>
                </a:solidFill>
                <a:latin typeface="Courier" pitchFamily="2" charset="0"/>
              </a:rPr>
              <a:t>d_sg_list_t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    </a:t>
            </a:r>
            <a:r>
              <a:rPr lang="en-US" dirty="0" err="1">
                <a:solidFill>
                  <a:srgbClr val="C1651C"/>
                </a:solidFill>
                <a:latin typeface="Courier" pitchFamily="2" charset="0"/>
              </a:rPr>
              <a:t>sgl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;</a:t>
            </a:r>
            <a:endParaRPr lang="en-US" dirty="0">
              <a:solidFill>
                <a:srgbClr val="2D961E"/>
              </a:solidFill>
              <a:latin typeface="Courier" pitchFamily="2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2D961E"/>
                </a:solidFill>
                <a:latin typeface="Courier" pitchFamily="2" charset="0"/>
              </a:rPr>
              <a:t>daos_range_t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    </a:t>
            </a:r>
            <a:r>
              <a:rPr lang="en-US" dirty="0" err="1">
                <a:solidFill>
                  <a:srgbClr val="C1651C"/>
                </a:solidFill>
                <a:latin typeface="Courier" pitchFamily="2" charset="0"/>
              </a:rPr>
              <a:t>rg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;</a:t>
            </a:r>
            <a:endParaRPr lang="en-US" dirty="0">
              <a:solidFill>
                <a:srgbClr val="2D961E"/>
              </a:solidFill>
              <a:latin typeface="Courier" pitchFamily="2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2D961E"/>
                </a:solidFill>
                <a:latin typeface="Courier" pitchFamily="2" charset="0"/>
              </a:rPr>
              <a:t>d_iov_t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        </a:t>
            </a:r>
            <a:r>
              <a:rPr lang="en-US" dirty="0" err="1">
                <a:solidFill>
                  <a:srgbClr val="C1651C"/>
                </a:solidFill>
                <a:latin typeface="Courier" pitchFamily="2" charset="0"/>
              </a:rPr>
              <a:t>iov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br>
              <a:rPr lang="en-US" dirty="0">
                <a:solidFill>
                  <a:srgbClr val="000000"/>
                </a:solidFill>
                <a:latin typeface="Courier" pitchFamily="2" charset="0"/>
              </a:rPr>
            </a:b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solidFill>
                  <a:srgbClr val="CB2418"/>
                </a:solidFill>
                <a:latin typeface="Courier" pitchFamily="2" charset="0"/>
              </a:rPr>
              <a:t>/** set array location */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iod.arr_nr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1; </a:t>
            </a:r>
            <a:r>
              <a:rPr lang="en-US" dirty="0">
                <a:solidFill>
                  <a:srgbClr val="CB2418"/>
                </a:solidFill>
                <a:latin typeface="Courier" pitchFamily="2" charset="0"/>
              </a:rPr>
              <a:t>/** number of ranges / array </a:t>
            </a:r>
            <a:r>
              <a:rPr lang="en-US" dirty="0" err="1">
                <a:solidFill>
                  <a:srgbClr val="CB2418"/>
                </a:solidFill>
                <a:latin typeface="Courier" pitchFamily="2" charset="0"/>
              </a:rPr>
              <a:t>iovec</a:t>
            </a:r>
            <a:r>
              <a:rPr lang="en-US" dirty="0">
                <a:solidFill>
                  <a:srgbClr val="CB2418"/>
                </a:solidFill>
                <a:latin typeface="Courier" pitchFamily="2" charset="0"/>
              </a:rPr>
              <a:t> */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rg.rg_len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BUFLEN; </a:t>
            </a:r>
            <a:r>
              <a:rPr lang="en-US" dirty="0">
                <a:solidFill>
                  <a:srgbClr val="CB2418"/>
                </a:solidFill>
                <a:latin typeface="Courier" pitchFamily="2" charset="0"/>
              </a:rPr>
              <a:t>/** length */</a:t>
            </a: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rg.rg_idx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rank * BUFLEN; </a:t>
            </a:r>
            <a:r>
              <a:rPr lang="en-US" dirty="0">
                <a:solidFill>
                  <a:srgbClr val="CB2418"/>
                </a:solidFill>
                <a:latin typeface="Courier" pitchFamily="2" charset="0"/>
              </a:rPr>
              <a:t>/** offset */</a:t>
            </a: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iod.arr_rgs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rg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br>
              <a:rPr lang="en-US" dirty="0">
                <a:solidFill>
                  <a:srgbClr val="000000"/>
                </a:solidFill>
                <a:latin typeface="Courier" pitchFamily="2" charset="0"/>
              </a:rPr>
            </a:b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solidFill>
                  <a:srgbClr val="CB2418"/>
                </a:solidFill>
                <a:latin typeface="Courier" pitchFamily="2" charset="0"/>
              </a:rPr>
              <a:t>/** set memory location, each rank writing BUFLEN */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sgl.sg_nr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1;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d_iov_set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iov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buf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BUFLEN);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sgl.sg_iovs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iov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br>
              <a:rPr lang="en-US" dirty="0">
                <a:solidFill>
                  <a:srgbClr val="000000"/>
                </a:solidFill>
                <a:latin typeface="Courier" pitchFamily="2" charset="0"/>
              </a:rPr>
            </a:b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daos_array_write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(array, DAOS_TX_NONE,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daos_array_read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(array, DAOS_TX_NONE,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daos_array_close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(array, </a:t>
            </a:r>
            <a:r>
              <a:rPr lang="en-US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1794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2C53C-0CDD-F044-9AC7-B9DE3A4A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KV with Array and Single Value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EFBFA-737B-6841-9C43-38387D7EE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mkv1.c</a:t>
            </a:r>
          </a:p>
          <a:p>
            <a:pPr lvl="1"/>
            <a:r>
              <a:rPr lang="en-US" dirty="0"/>
              <a:t>Program to create a multi-level KV with 1 dkey that has 2 akeys:</a:t>
            </a:r>
          </a:p>
          <a:p>
            <a:pPr lvl="2"/>
            <a:r>
              <a:rPr lang="en-US" dirty="0"/>
              <a:t>1 SV akey</a:t>
            </a:r>
          </a:p>
          <a:p>
            <a:pPr lvl="2"/>
            <a:r>
              <a:rPr lang="en-US" dirty="0"/>
              <a:t>1 Array value of 100 integers</a:t>
            </a:r>
          </a:p>
          <a:p>
            <a:pPr lvl="1"/>
            <a:r>
              <a:rPr lang="en-US" dirty="0"/>
              <a:t>Run with ./</a:t>
            </a:r>
            <a:r>
              <a:rPr lang="en-US" dirty="0" err="1"/>
              <a:t>a.out</a:t>
            </a:r>
            <a:r>
              <a:rPr lang="en-US" dirty="0"/>
              <a:t> </a:t>
            </a:r>
            <a:r>
              <a:rPr lang="en-US" dirty="0" err="1"/>
              <a:t>pool_name</a:t>
            </a:r>
            <a:endParaRPr lang="en-US" dirty="0"/>
          </a:p>
          <a:p>
            <a:r>
              <a:rPr lang="en-US" dirty="0"/>
              <a:t>Modify and add the TODO items</a:t>
            </a:r>
          </a:p>
          <a:p>
            <a:pPr lvl="1"/>
            <a:r>
              <a:rPr lang="en-US" dirty="0"/>
              <a:t>Update 1 dkey with 2 akeys: set IODs for the update operation</a:t>
            </a:r>
          </a:p>
          <a:p>
            <a:pPr lvl="1"/>
            <a:r>
              <a:rPr lang="en-US" dirty="0"/>
              <a:t>Fetch each akey individually: set IOD for each update operation</a:t>
            </a:r>
          </a:p>
          <a:p>
            <a:r>
              <a:rPr lang="en-US" dirty="0"/>
              <a:t>Answer in mkv1_answer.c</a:t>
            </a:r>
          </a:p>
        </p:txBody>
      </p:sp>
    </p:spTree>
    <p:extLst>
      <p:ext uri="{BB962C8B-B14F-4D97-AF65-F5344CB8AC3E}">
        <p14:creationId xmlns:p14="http://schemas.microsoft.com/office/powerpoint/2010/main" val="3535671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DF75-A629-5941-B5A1-C763523F7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DAOS Object Update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53949-61F4-A247-A7FF-850CA2522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915" y="1270535"/>
            <a:ext cx="10972801" cy="4977867"/>
          </a:xfrm>
          <a:solidFill>
            <a:schemeClr val="bg1">
              <a:lumMod val="85000"/>
            </a:schemeClr>
          </a:solidFill>
        </p:spPr>
        <p:txBody>
          <a:bodyPr>
            <a:normAutofit fontScale="55000" lnSpcReduction="20000"/>
          </a:bodyPr>
          <a:lstStyle/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daos_obj_open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coh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oid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DAOS_OO_RW, &amp;oh, </a:t>
            </a:r>
            <a:r>
              <a:rPr lang="en-US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);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d_iov_set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(&amp;dkey, </a:t>
            </a:r>
            <a:r>
              <a:rPr lang="en-US" dirty="0">
                <a:solidFill>
                  <a:srgbClr val="9D206F"/>
                </a:solidFill>
                <a:latin typeface="Courier" pitchFamily="2" charset="0"/>
              </a:rPr>
              <a:t>"dkey1"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strlen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</a:t>
            </a:r>
            <a:r>
              <a:rPr lang="en-US" dirty="0">
                <a:solidFill>
                  <a:srgbClr val="9D206F"/>
                </a:solidFill>
                <a:latin typeface="Courier" pitchFamily="2" charset="0"/>
              </a:rPr>
              <a:t>"dkey1"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));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d_iov_set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sg_iov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buf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BUFLEN);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[0].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sg_nr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1; 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[0].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sg_iovs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sg_iov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[1].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sg_nr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1;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[1].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sg_iovs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sg_iov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d_iov_set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[0].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iod_name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>
                <a:solidFill>
                  <a:srgbClr val="9D206F"/>
                </a:solidFill>
                <a:latin typeface="Courier" pitchFamily="2" charset="0"/>
              </a:rPr>
              <a:t>"akey1"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strlen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</a:t>
            </a:r>
            <a:r>
              <a:rPr lang="en-US" dirty="0">
                <a:solidFill>
                  <a:srgbClr val="9D206F"/>
                </a:solidFill>
                <a:latin typeface="Courier" pitchFamily="2" charset="0"/>
              </a:rPr>
              <a:t>"akey1"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));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d_iov_set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[1].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iod_name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>
                <a:solidFill>
                  <a:srgbClr val="9D206F"/>
                </a:solidFill>
                <a:latin typeface="Courier" pitchFamily="2" charset="0"/>
              </a:rPr>
              <a:t>"akey2"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strlen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</a:t>
            </a:r>
            <a:r>
              <a:rPr lang="en-US" dirty="0">
                <a:solidFill>
                  <a:srgbClr val="9D206F"/>
                </a:solidFill>
                <a:latin typeface="Courier" pitchFamily="2" charset="0"/>
              </a:rPr>
              <a:t>"akey2"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));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[0].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iod_nr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1;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[0].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iod_size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BUFLEN;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[0].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iod_recxs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</a:t>
            </a:r>
            <a:r>
              <a:rPr lang="en-US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[0].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iod_type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DAOS_IOD_SINGLE;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[1].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iod_nr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1;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[1].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iod_size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1;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recx.rx_nr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BUFLEN;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recx.rx_idx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0;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[1].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iod_recxs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recx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[1].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iod_type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DAOS_IOD_ARRAY;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daos_obj_update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(oh, DAOS_TX_NONE, 0, &amp;dkey, 2,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);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endParaRPr lang="en-US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83413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DF75-A629-5941-B5A1-C763523F7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DAOS Object Fetch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53949-61F4-A247-A7FF-850CA2522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915" y="1270535"/>
            <a:ext cx="10972801" cy="4977867"/>
          </a:xfrm>
          <a:solidFill>
            <a:schemeClr val="bg1">
              <a:lumMod val="85000"/>
            </a:schemeClr>
          </a:solidFill>
        </p:spPr>
        <p:txBody>
          <a:bodyPr>
            <a:normAutofit fontScale="55000" lnSpcReduction="20000"/>
          </a:bodyPr>
          <a:lstStyle/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daos_obj_open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coh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oid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DAOS_OO_RW, &amp;oh, </a:t>
            </a:r>
            <a:r>
              <a:rPr lang="en-US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);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d_iov_set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(&amp;dkey, </a:t>
            </a:r>
            <a:r>
              <a:rPr lang="en-US" dirty="0">
                <a:solidFill>
                  <a:srgbClr val="9D206F"/>
                </a:solidFill>
                <a:latin typeface="Courier" pitchFamily="2" charset="0"/>
              </a:rPr>
              <a:t>"dkey1"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strlen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</a:t>
            </a:r>
            <a:r>
              <a:rPr lang="en-US" dirty="0">
                <a:solidFill>
                  <a:srgbClr val="9D206F"/>
                </a:solidFill>
                <a:latin typeface="Courier" pitchFamily="2" charset="0"/>
              </a:rPr>
              <a:t>"dkey1"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));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d_iov_set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sg_iov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buf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BUFLEN);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[0].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sg_nr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1; 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[0].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sg_iovs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sg_iov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[1].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sg_nr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1;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[1].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sg_iovs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sg_iov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d_iov_set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[0].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iod_name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>
                <a:solidFill>
                  <a:srgbClr val="9D206F"/>
                </a:solidFill>
                <a:latin typeface="Courier" pitchFamily="2" charset="0"/>
              </a:rPr>
              <a:t>"akey1"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strlen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</a:t>
            </a:r>
            <a:r>
              <a:rPr lang="en-US" dirty="0">
                <a:solidFill>
                  <a:srgbClr val="9D206F"/>
                </a:solidFill>
                <a:latin typeface="Courier" pitchFamily="2" charset="0"/>
              </a:rPr>
              <a:t>"akey1"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));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d_iov_set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[1].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iod_name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>
                <a:solidFill>
                  <a:srgbClr val="9D206F"/>
                </a:solidFill>
                <a:latin typeface="Courier" pitchFamily="2" charset="0"/>
              </a:rPr>
              <a:t>"akey2"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strlen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</a:t>
            </a:r>
            <a:r>
              <a:rPr lang="en-US" dirty="0">
                <a:solidFill>
                  <a:srgbClr val="9D206F"/>
                </a:solidFill>
                <a:latin typeface="Courier" pitchFamily="2" charset="0"/>
              </a:rPr>
              <a:t>"akey2"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));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[0].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iod_nr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1;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[0].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iod_size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BUFLEN; </a:t>
            </a:r>
            <a:r>
              <a:rPr lang="en-US" b="1" dirty="0">
                <a:solidFill>
                  <a:srgbClr val="FF0000"/>
                </a:solidFill>
                <a:latin typeface="Courier" pitchFamily="2" charset="0"/>
              </a:rPr>
              <a:t>/** if size is not known, use DAOS_REC_ANY and NULL </a:t>
            </a:r>
            <a:r>
              <a:rPr lang="en-US" b="1" dirty="0" err="1">
                <a:solidFill>
                  <a:srgbClr val="FF0000"/>
                </a:solidFill>
                <a:latin typeface="Courier" pitchFamily="2" charset="0"/>
              </a:rPr>
              <a:t>sgl</a:t>
            </a:r>
            <a:r>
              <a:rPr lang="en-US" b="1" dirty="0">
                <a:solidFill>
                  <a:srgbClr val="FF0000"/>
                </a:solidFill>
                <a:latin typeface="Courier" pitchFamily="2" charset="0"/>
              </a:rPr>
              <a:t> */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[0].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iod_recxs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</a:t>
            </a:r>
            <a:r>
              <a:rPr lang="en-US" dirty="0">
                <a:solidFill>
                  <a:srgbClr val="2C9290"/>
                </a:solidFill>
                <a:latin typeface="Courier" pitchFamily="2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[0].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iod_type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DAOS_IOD_SINGLE;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[1].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iod_nr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1;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[1].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iod_size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1; </a:t>
            </a:r>
            <a:r>
              <a:rPr lang="en-US" b="1" dirty="0">
                <a:solidFill>
                  <a:srgbClr val="FF0000"/>
                </a:solidFill>
                <a:latin typeface="Courier" pitchFamily="2" charset="0"/>
              </a:rPr>
              <a:t>/** if size is not known, use DAOS_REC_ANY and NULL </a:t>
            </a:r>
            <a:r>
              <a:rPr lang="en-US" b="1" dirty="0" err="1">
                <a:solidFill>
                  <a:srgbClr val="FF0000"/>
                </a:solidFill>
                <a:latin typeface="Courier" pitchFamily="2" charset="0"/>
              </a:rPr>
              <a:t>sgl</a:t>
            </a:r>
            <a:r>
              <a:rPr lang="en-US" b="1" dirty="0">
                <a:solidFill>
                  <a:srgbClr val="FF0000"/>
                </a:solidFill>
                <a:latin typeface="Courier" pitchFamily="2" charset="0"/>
              </a:rPr>
              <a:t> */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recx.rx_nr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BUFLEN;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recx.rx_idx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0;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[1].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iod_recxs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recx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[1].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iod_type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 = DAOS_IOD_ARRAY;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endParaRPr lang="en-US" dirty="0">
              <a:solidFill>
                <a:srgbClr val="000000"/>
              </a:solidFill>
              <a:latin typeface="Courier" pitchFamily="2" charset="0"/>
            </a:endParaRP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daos_obj_fetch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(oh, DAOS_TX_NONE, 0, &amp;dkey, 2,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iod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&amp;</a:t>
            </a:r>
            <a:r>
              <a:rPr lang="en-US" dirty="0" err="1">
                <a:solidFill>
                  <a:srgbClr val="000000"/>
                </a:solidFill>
                <a:latin typeface="Courier" pitchFamily="2" charset="0"/>
              </a:rPr>
              <a:t>sgl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, </a:t>
            </a:r>
            <a:r>
              <a:rPr lang="en-US" dirty="0">
                <a:solidFill>
                  <a:srgbClr val="2C9290"/>
                </a:solidFill>
                <a:latin typeface="Courier" pitchFamily="2" charset="0"/>
              </a:rPr>
              <a:t>NULL, NULL</a:t>
            </a:r>
            <a:r>
              <a:rPr lang="en-US" dirty="0">
                <a:solidFill>
                  <a:srgbClr val="000000"/>
                </a:solidFill>
                <a:latin typeface="Courier" pitchFamily="2" charset="0"/>
              </a:rPr>
              <a:t>);</a:t>
            </a:r>
          </a:p>
          <a:p>
            <a:pPr marL="0" indent="0">
              <a:lnSpc>
                <a:spcPct val="70000"/>
              </a:lnSpc>
              <a:spcBef>
                <a:spcPts val="600"/>
              </a:spcBef>
              <a:buNone/>
            </a:pPr>
            <a:endParaRPr lang="en-US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04454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18EA1-12A3-49C6-8F1A-2DF3B4012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07AEE46-1B8A-4999-AF08-D8022B04B9E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92915" y="1901064"/>
            <a:ext cx="9461244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defTabSz="914400" rtl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E01E5A"/>
                </a:solidFill>
                <a:effectLst/>
                <a:latin typeface="Monaco"/>
              </a:rPr>
              <a:t>git clone </a:t>
            </a:r>
            <a:r>
              <a:rPr lang="en-US" altLang="en-US" dirty="0">
                <a:solidFill>
                  <a:srgbClr val="E01E5A"/>
                </a:solidFill>
                <a:latin typeface="Monaco"/>
                <a:hlinkClick r:id="rId2"/>
              </a:rPr>
              <a:t>https://github.com/adrianjhpc/ObjectStoreTutorial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E01E5A"/>
                </a:solidFill>
                <a:effectLst/>
                <a:latin typeface="Monaco"/>
                <a:hlinkClick r:id="rId2"/>
              </a:rPr>
              <a:t>.git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E01E5A"/>
                </a:solidFill>
                <a:effectLst/>
                <a:latin typeface="Monaco"/>
              </a:rPr>
              <a:t>srun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E01E5A"/>
                </a:solidFill>
                <a:effectLst/>
                <a:latin typeface="Monaco"/>
              </a:rPr>
              <a:t> -N 1 --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E01E5A"/>
                </a:solidFill>
                <a:effectLst/>
                <a:latin typeface="Monaco"/>
              </a:rPr>
              <a:t>nvram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E01E5A"/>
                </a:solidFill>
                <a:effectLst/>
                <a:latin typeface="Monaco"/>
              </a:rPr>
              <a:t>-options=1LM:1000 --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E01E5A"/>
                </a:solidFill>
                <a:effectLst/>
                <a:latin typeface="Monaco"/>
              </a:rPr>
              <a:t>pty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E01E5A"/>
                </a:solidFill>
                <a:effectLst/>
                <a:latin typeface="Monaco"/>
              </a:rPr>
              <a:t> /bin/bash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E01E5A"/>
                </a:solidFill>
                <a:effectLst/>
                <a:latin typeface="Monaco"/>
              </a:rPr>
              <a:t>cd Exercises/DAOS/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E01E5A"/>
                </a:solidFill>
                <a:effectLst/>
                <a:latin typeface="Monaco"/>
              </a:rPr>
              <a:t>./build.sh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E01E5A"/>
                </a:solidFill>
                <a:effectLst/>
                <a:latin typeface="Monaco"/>
              </a:rPr>
              <a:t>./kv1_answer pool01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E01E5A"/>
                </a:solidFill>
                <a:effectLst/>
                <a:latin typeface="Monaco"/>
              </a:rPr>
              <a:t>./kv2_answer pool01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E01E5A"/>
                </a:solidFill>
                <a:effectLst/>
                <a:latin typeface="Monaco"/>
              </a:rPr>
              <a:t>./kv3_answer pool01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E01E5A"/>
                </a:solidFill>
                <a:effectLst/>
                <a:latin typeface="Monaco"/>
              </a:rPr>
              <a:t>./array1_answer pool01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E01E5A"/>
                </a:solidFill>
                <a:effectLst/>
                <a:latin typeface="Monaco"/>
              </a:rPr>
              <a:t>./mkv1_answer pool01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25141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Custom 1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C2B8FD"/>
      </a:accent1>
      <a:accent2>
        <a:srgbClr val="7573BC"/>
      </a:accent2>
      <a:accent3>
        <a:srgbClr val="B364A8"/>
      </a:accent3>
      <a:accent4>
        <a:srgbClr val="7D5487"/>
      </a:accent4>
      <a:accent5>
        <a:srgbClr val="6C9DEB"/>
      </a:accent5>
      <a:accent6>
        <a:srgbClr val="484E96"/>
      </a:accent6>
      <a:hlink>
        <a:srgbClr val="4375FF"/>
      </a:hlink>
      <a:folHlink>
        <a:srgbClr val="38609E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heme1" id="{47B0149C-CB19-F346-B5A0-AE2E6D7104F8}" vid="{CFD42717-2D65-1A4B-A4ED-C0E0E958830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0</TotalTime>
  <Words>2017</Words>
  <Application>Microsoft Office PowerPoint</Application>
  <PresentationFormat>Widescreen</PresentationFormat>
  <Paragraphs>196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Aptos Display</vt:lpstr>
      <vt:lpstr>Arial</vt:lpstr>
      <vt:lpstr>Courier</vt:lpstr>
      <vt:lpstr>Courier New</vt:lpstr>
      <vt:lpstr>Menlo</vt:lpstr>
      <vt:lpstr>Monaco</vt:lpstr>
      <vt:lpstr>Theme1</vt:lpstr>
      <vt:lpstr>Tutorial on the DAOS API - Exercises</vt:lpstr>
      <vt:lpstr>Running on NEXTGenIO system</vt:lpstr>
      <vt:lpstr>Creating a Container</vt:lpstr>
      <vt:lpstr>Recap Program Flow</vt:lpstr>
      <vt:lpstr>Reading from KV</vt:lpstr>
      <vt:lpstr>KV put/get example</vt:lpstr>
      <vt:lpstr>Enumerating Keys from KV</vt:lpstr>
      <vt:lpstr>KV list example</vt:lpstr>
      <vt:lpstr>Accessing Array of Integers</vt:lpstr>
      <vt:lpstr>DAOS Array example</vt:lpstr>
      <vt:lpstr>Multi-Level KV with Array and Single Value</vt:lpstr>
      <vt:lpstr>DAOS Object Update Example</vt:lpstr>
      <vt:lpstr>DAOS Object Fetch Example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Todd Szymanski</dc:creator>
  <cp:lastModifiedBy>Adrian Jackson</cp:lastModifiedBy>
  <cp:revision>101</cp:revision>
  <dcterms:created xsi:type="dcterms:W3CDTF">2025-02-06T14:38:25Z</dcterms:created>
  <dcterms:modified xsi:type="dcterms:W3CDTF">2025-11-16T20:33:53Z</dcterms:modified>
</cp:coreProperties>
</file>